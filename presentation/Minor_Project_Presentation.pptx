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1064240" cy="4114800"/>
          </a:xfrm>
          <a:prstGeom prst="rect">
            <a:avLst/>
          </a:prstGeom>
          <a:solidFill>
            <a:srgbClr val="051222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C8FF"/>
                </a:solidFill>
                <a:latin typeface="Calibri"/>
              </a:rPr>
              <a:t>Hyperspectral Image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MMFormer vs. R2Mamba: A 2026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2606040"/>
            <a:ext cx="7589520" cy="36576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D6E0"/>
                </a:solidFill>
                <a:latin typeface="Calibri"/>
              </a:rPr>
              <a:t>Evaluating cutting-edge 2026 Vision Transformer vs. State Space Model architectures
under identical few-shot conditions on remote sensing HSI benchmarks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931920"/>
            <a:ext cx="9418320" cy="1097280"/>
          </a:xfrm>
          <a:prstGeom prst="rect">
            <a:avLst/>
          </a:prstGeom>
          <a:solidFill>
            <a:srgbClr val="02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Prince Prajapati (24124085)  ·  Ayush Bansal (24124025)  ·  Abhay Kaushal (24124003)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48056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Guides: Dr. Nitika Nigam  ·  Dr. Jaspal Kaur Saini  |  Department of Information Technology  |  Academic Year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What we will cover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5389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Background &amp; Motivation — What is Hyperspectral Imaging (HSI)?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92808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928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293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Architectural Evolution — CNNs  →  Transformers  →  Mamba / SSMs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68296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6829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0487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Problem Statement &amp; Research Objectives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43784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4378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880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Competing 2026 Models — MMFormer (IEEE TGRS) vs. R2Mamba (IEEE JSTARS)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19272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31927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3558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Phase 1: Pipeline Validation — Baseline CNN &amp; Transformer models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83133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Benchmark Datasets &amp; Experimental Protocol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270248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27024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306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Quantitative Results — OA / AA / Kappa (Mean ± Std, 3 Seeds)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45736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74573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78231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Qualitative Analysis — Classification Maps &amp; Visual Comparison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221224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22122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257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Computational Complexity Analysis — O(N²) vs. O(N)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96712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69671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7332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Background: Hyperspectral Imaging (HSI)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Beyond standard RGB — capturing the full spectral fingerprint of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577840" cy="4937760"/>
          </a:xfrm>
          <a:prstGeom prst="rect">
            <a:avLst/>
          </a:prstGeom>
          <a:solidFill>
            <a:srgbClr val="051222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FF"/>
                </a:solidFill>
                <a:latin typeface="Calibri"/>
              </a:rPr>
              <a:t>What is HSI?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93392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Normal RGB cameras capture only 3 spectral bands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Hyperspectral sensors capture 100–200+ narrow contiguous bands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Each pixel contains a unique spectral 'fingerprint'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Enables material &amp; chemical composition identification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94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500"/>
                </a:solidFill>
                <a:latin typeface="Calibri"/>
              </a:rPr>
              <a:t>Real-World Applications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20624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Agriculture: Crop health, weed &amp; moisture detection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Urban Planning: Asphalt, roofs, concrete classification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Planetary Science: Mars mineral mapping (NASA CRISM)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Mining: Mineral exploration from satellite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5486400" cy="4937760"/>
          </a:xfrm>
          <a:prstGeom prst="rect">
            <a:avLst/>
          </a:prstGeom>
          <a:solidFill>
            <a:srgbClr val="051222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727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500"/>
                </a:solidFill>
                <a:latin typeface="Calibri"/>
              </a:rPr>
              <a:t>HSI vs. RGB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14884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RGB Camera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06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 bands  |  Low spectral resolution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42900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520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D6E0"/>
                </a:solidFill>
                <a:latin typeface="Calibri"/>
              </a:rPr>
              <a:t>Multispectral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8862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4–12 bands  |  Moderate discrimination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70916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  <a:latin typeface="Calibri"/>
              </a:rPr>
              <a:t>Hyperspectral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166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100–200+ bands  |  Full spectral fingerprint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Architectural Evolution in HSI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From local convolutions to global sequence modelling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4937760"/>
          </a:xfrm>
          <a:prstGeom prst="rect">
            <a:avLst/>
          </a:prstGeom>
          <a:solidFill>
            <a:srgbClr val="145A8C"/>
          </a:solidFill>
          <a:ln w="19050">
            <a:solidFill>
              <a:srgbClr val="1E7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920240" cy="384048"/>
          </a:xfrm>
          <a:prstGeom prst="rect">
            <a:avLst/>
          </a:prstGeom>
          <a:solidFill>
            <a:srgbClr val="1E7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2017–2020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CNN 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3D/2D Conv
SSRN · HybridSN
DBDA · pResNet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Local receptive fields
Cannot model long-range
spectral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368" y="3246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8F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3749039" cy="4937760"/>
          </a:xfrm>
          <a:prstGeom prst="rect">
            <a:avLst/>
          </a:prstGeom>
          <a:solidFill>
            <a:srgbClr val="804000"/>
          </a:solidFill>
          <a:ln w="19050">
            <a:solidFill>
              <a:srgbClr val="B3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508760"/>
            <a:ext cx="1920240" cy="384048"/>
          </a:xfrm>
          <a:prstGeom prst="rect">
            <a:avLst/>
          </a:prstGeom>
          <a:solidFill>
            <a:srgbClr val="B3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2021–2024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Transformer 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Self-Attention (SA)
SpectralFormer · MFT
GAHT · MASSFormer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Global context via SA
But O(N²) complexity
Slow on large scenes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246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8FF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1417320"/>
            <a:ext cx="3749039" cy="4937760"/>
          </a:xfrm>
          <a:prstGeom prst="rect">
            <a:avLst/>
          </a:prstGeom>
          <a:solidFill>
            <a:srgbClr val="0A5A2E"/>
          </a:solidFill>
          <a:ln w="19050">
            <a:solidFill>
              <a:srgbClr val="0D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40" y="1508760"/>
            <a:ext cx="1920240" cy="384048"/>
          </a:xfrm>
          <a:prstGeom prst="rect">
            <a:avLst/>
          </a:prstGeom>
          <a:solidFill>
            <a:srgbClr val="0D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2024–2026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Mamba / SSM 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Selective State Space
MambaHSI · R2Mamba
MMFormer · SSMamba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Linear O(N) complexity
Global context + speed
Best of both worlds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Problem Statement &amp; Research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Why compare the two newest 2026 architectures?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A500"/>
                </a:solidFill>
                <a:latin typeface="Calibri"/>
              </a:rPr>
              <a:t>Research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HSI classification demands few-shot generalisation: only 10–30 labeled pixels per class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Transformers dominate but suffer from quadratic O(N²) self-attention — slow on large urban scenes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2026 introduces Macro-Micro Transformers and Route-Reliability Mamba — never head-to-head compared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C8FF"/>
                </a:solidFill>
                <a:latin typeface="Calibri"/>
              </a:rPr>
              <a:t>Research Objectives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#1  Rigorous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Head-to-head comparison of the two newest 2026 architectures under identical experimental conditions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#2  Statistical Robustness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 independent seeded runs per model × dataset — reporting Mean ± Standard Deviation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#3  Efficiency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Compare training latency, convergence stability, and computational complexity O(N²) vs O(N)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The 2026 Models: MMFormer vs. R2Mamba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Transformer-based Macro-Micro attention vs. Selective State Space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77840" cy="5029200"/>
          </a:xfrm>
          <a:prstGeom prst="rect">
            <a:avLst/>
          </a:prstGeom>
          <a:solidFill>
            <a:srgbClr val="051526"/>
          </a:solidFill>
          <a:ln w="25400">
            <a:solidFill>
              <a:srgbClr val="009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577840" cy="502920"/>
          </a:xfrm>
          <a:prstGeom prst="rect">
            <a:avLst/>
          </a:prstGeom>
          <a:solidFill>
            <a:srgbClr val="009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MMFormer  (IEEE TGRS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Architecture: Macro-Micro Vision Transformer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Macro Branch: Global scene semantics across broad spatial tokens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Micro Branch: Fine-grained local spectral-spatial texture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Cross-Attention Fusion: Dynamic exchange between scales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Complexity: Quadratic  O(N²)  self-attention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Published: IEEE TGRS 2026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DOI: 10.1109/TGRS.2026.3696892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577840" cy="5029200"/>
          </a:xfrm>
          <a:prstGeom prst="rect">
            <a:avLst/>
          </a:prstGeom>
          <a:solidFill>
            <a:srgbClr val="041C0E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57784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R2Mamba  (IEEE JSTARS 2026)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574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Architecture: Route-Reliability State Space Model (SSM)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Sequential scanning of spatial-spectral tokens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Reliability Gating: Down-weights noisy/mixed boundary pixels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Linear Complexity:  O(N)  — scales to very large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Converges faster (25–40 epochs vs 40–50 for Transformer)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Published: IEEE JSTARS 2026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DOI: 10.1109/JSTARS.2026.3728152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108960"/>
            <a:ext cx="640080" cy="6400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31089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Calibri"/>
              </a:rPr>
              <a:t>VS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Phase 1: Pipeline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Verifying the end-to-end framework before resource-intensive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500"/>
                </a:solidFill>
                <a:latin typeface="Calibri"/>
              </a:rPr>
              <a:t>Why a Validation Phase?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 b="1">
                <a:solidFill>
                  <a:srgbClr val="00C8FF"/>
                </a:solidFill>
                <a:latin typeface="Calibri"/>
              </a:rPr>
              <a:t>▸ </a:t>
            </a:r>
            <a:r>
              <a:rPr sz="1450">
                <a:solidFill>
                  <a:srgbClr val="FFFFFF"/>
                </a:solidFill>
                <a:latin typeface="Calibri"/>
              </a:rPr>
              <a:t>Before training expensive 2026 SOTA models, we verify every pipeline stage works correctly</a:t>
            </a:r>
          </a:p>
          <a:p>
            <a:pPr>
              <a:spcBef>
                <a:spcPts val="400"/>
              </a:spcBef>
            </a:pPr>
            <a:r>
              <a:rPr sz="1450" b="1">
                <a:solidFill>
                  <a:srgbClr val="00C8FF"/>
                </a:solidFill>
                <a:latin typeface="Calibri"/>
              </a:rPr>
              <a:t>▸ </a:t>
            </a:r>
            <a:r>
              <a:rPr sz="1450">
                <a:solidFill>
                  <a:srgbClr val="FFFFFF"/>
                </a:solidFill>
                <a:latin typeface="Calibri"/>
              </a:rPr>
              <a:t>Confirms HuggingFace auto-download, on-the-fly PCA, patch generation, and classification map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8FF"/>
                </a:solidFill>
                <a:latin typeface="Calibri"/>
              </a:rPr>
              <a:t>Baseline Models Tested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HybridSN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2019  |  IEEE GRSL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3D-2D Conv Hybrid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748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SSRN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2017  |  IEEE TGRS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Spectral-Spatial ResNet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pResNet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2019  |  IEEE TGRS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Pyramidal Residual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3407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DBDA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3407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2020  |  MDPI 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Dual-Branch Dual Attention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92640" y="3383280"/>
            <a:ext cx="2212848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SpectralFormer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2021  |  IEEE TGRS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Spectral Transformer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579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A500"/>
                </a:solidFill>
                <a:latin typeface="Calibri"/>
              </a:rPr>
              <a:t>Result: Full pipeline confirmed — 5 models × 2 seeds × Indian Pines in ~20 min on Kaggle T4 GPU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Datasets &amp; Experimental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Two standard benchmark scenes + reproducible experimental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4937760"/>
          </a:xfrm>
          <a:prstGeom prst="rect">
            <a:avLst/>
          </a:prstGeom>
          <a:solidFill>
            <a:srgbClr val="05152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Indian Pines  (AVIRIS 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Location: Indiana, USA — Agricultural scene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Dimensions: 145 × 145 pixels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Spectral Bands: 200 raw  →  30 (after PCA)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Target Classes: 16 crop types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Challenge: Subtle spectral differences between early-growth crop stages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Split: 10 train / 5 val per class (~9,482 test pixels)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17320"/>
            <a:ext cx="5669280" cy="4937760"/>
          </a:xfrm>
          <a:prstGeom prst="rect">
            <a:avLst/>
          </a:prstGeom>
          <a:solidFill>
            <a:srgbClr val="041C0E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417320"/>
            <a:ext cx="5669280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Pavia University  (ROSIS Sensor)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6596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Location: Pavia, Italy — Dense urban infrastructure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Dimensions: 610 × 340 pixels (207,400 pixels total)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Spectral Bands: 103 raw  →  30 (after PCA)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Target Classes: 9 urban materials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Challenge: High intra-class spectral variability in built surfaces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Split: 30 train / 10 val per class (~40,044 test pixels)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82512"/>
            <a:ext cx="12188952" cy="475488"/>
          </a:xfrm>
          <a:prstGeom prst="rect">
            <a:avLst/>
          </a:prstGeom>
          <a:solidFill>
            <a:srgbClr val="03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641908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A500"/>
                </a:solidFill>
                <a:latin typeface="Calibri"/>
              </a:rPr>
              <a:t>Protocol:  PCA → 30 bands  |  Patch 11×11  |  Adam lr=0.001  |  Batch 64  |  Early Stop (patience=12)  |  3 Seeds [1,2,3]  |  NVIDIA T4 GPU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Results: Indian Pines (16 Classes)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3-seed evaluation  |  10 train / 5 val per class  |  ~9,482 test pixels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MMFormer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A0"/>
                </a:solidFill>
                <a:latin typeface="Calibri"/>
              </a:rPr>
              <a:t>76.41%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3.84%  std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R2Mamba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CC71"/>
                </a:solidFill>
                <a:latin typeface="Calibri"/>
              </a:rPr>
              <a:t>83.89%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1.66% 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+7.48%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R2Mamba wins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Speed Gain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3× Faster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26s vs 75s/run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7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 (%)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AA (%)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Kappa (×100)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Best Run OA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Avg Train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MMFormer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7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1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76.41 ± 3.84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87.10 ± 1.96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73.41 ± 4.28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8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80.81%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9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~75 sec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7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83.89 ± 1.66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7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2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91.29 ± 1.09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81.71 ± 1.87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8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3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85.66%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9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3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~26 sec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Performance Delta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7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1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+7.48%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2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+4.19%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+8.30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8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3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+4.85%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93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~3× Faster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FF"/>
                </a:solidFill>
                <a:latin typeface="Calibri"/>
              </a:rPr>
              <a:t>Key Observations: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outperforms MMFormer by +7.48% in Overall Accuracy on the agricultural scene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is significantly more stable: ±1.66% std vs ±3.84% std (2.3× lower variance)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trains 3× faster per run (26 sec vs 75 sec) — due to O(N) linear complexity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Results: Pavia University (9 Classes)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3-seed evaluation  |  30 train / 10 val per class  |  ~40,044 test pixels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MMFormer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A0"/>
                </a:solidFill>
                <a:latin typeface="Calibri"/>
              </a:rPr>
              <a:t>92.45%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5.98%  std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R2Mamba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CC71"/>
                </a:solidFill>
                <a:latin typeface="Calibri"/>
              </a:rPr>
              <a:t>97.59%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0.60% 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+5.14%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R2Mamba wins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Speed Gain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3.5× Faster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40s vs 140s/run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7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 (%)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AA (%)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Kappa (×100)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Best Run OA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Avg Train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MMFormer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7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1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92.45 ± 5.98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95.90 ± 1.80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90.44 ± 7.36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8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96.80%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9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~140 sec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7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97.59 ± 0.60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7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2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97.95 ± 0.53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96.86 ± 0.77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8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3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98.03%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9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3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~40 sec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Performance Delta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7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1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+5.14%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2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+2.05%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+6.42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8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3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+1.23%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93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~3.5× Faster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FF"/>
                </a:solidFill>
                <a:latin typeface="Calibri"/>
              </a:rPr>
              <a:t>Key Observations: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achieves 98.03% peak OA — among the highest on record for this benchmark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MMFormer shows high variance (±5.98%) due to quadratic attention sensitivity on dense urban boundaries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converges more reliably: only ±0.60% std — nearly 10× more stable than MMFormer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Qualitative Analysis: Classification 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Visual comparison of best-run spatial predictions for both models on both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4173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  <a:latin typeface="Calibri"/>
              </a:rPr>
              <a:t>MMFormer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4173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" y="1920240"/>
            <a:ext cx="914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A500"/>
                </a:solidFill>
                <a:latin typeface="Calibri"/>
              </a:rPr>
              <a:t>Indian Pines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" y="4297680"/>
            <a:ext cx="914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A500"/>
                </a:solidFill>
                <a:latin typeface="Calibri"/>
              </a:rPr>
              <a:t>Pavia University</a:t>
            </a:r>
          </a:p>
        </p:txBody>
      </p:sp>
      <p:pic>
        <p:nvPicPr>
          <p:cNvPr id="11" name="Picture 10" descr="Indian_Pines_MMFormer_best_ru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4937760" cy="2377440"/>
          </a:xfrm>
          <a:prstGeom prst="rect">
            <a:avLst/>
          </a:prstGeom>
        </p:spPr>
      </p:pic>
      <p:pic>
        <p:nvPicPr>
          <p:cNvPr id="12" name="Picture 11" descr="Indian_Pines_R2Mamba_best_ru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4937760" cy="2377440"/>
          </a:xfrm>
          <a:prstGeom prst="rect">
            <a:avLst/>
          </a:prstGeom>
        </p:spPr>
      </p:pic>
      <p:pic>
        <p:nvPicPr>
          <p:cNvPr id="13" name="Picture 12" descr="Pavia_University_MMFormer_best_ru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343400"/>
            <a:ext cx="4937760" cy="2103120"/>
          </a:xfrm>
          <a:prstGeom prst="rect">
            <a:avLst/>
          </a:prstGeom>
        </p:spPr>
      </p:pic>
      <p:pic>
        <p:nvPicPr>
          <p:cNvPr id="14" name="Picture 13" descr="Pavia_University_R2Mamba_best_ru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4343400"/>
            <a:ext cx="4937760" cy="2103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A500"/>
                </a:solidFill>
                <a:latin typeface="Calibri"/>
              </a:rPr>
              <a:t>R2Mamba shows cleaner spatial boundaries, fewer noisy pixels, and better minority-class discrimination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Computational Complexity &amp;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Why linear O(N) Mamba outscales quadratic O(N²) Transformers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Aspect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MMFormer (Transformer)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8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R2Mamba (Mamba / SSM)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Theoretical Complexity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Quadratic  O(N²)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8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Linear  O(N)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Memory Scaling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7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Grows quadratically with tokens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Constant per recurrent step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Convergence Stability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High variance across seeds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8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Low variance, fast convergence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Avg Training Time / Run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7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~75s (IP) / ~140s (PU)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8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3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~26s (IP) / ~40s (PU)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Speed Advantage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8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3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3× – 3.5× Faster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Large Scene Scalability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7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2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Challenging (memory bottleneck)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8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3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Efficient at any scale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500"/>
                </a:solidFill>
                <a:latin typeface="Calibri"/>
              </a:rPr>
              <a:t>Practical Implication: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For large urban scenes (e.g. Houston 2018: 1,202 × 4,768 pixels), the quadratic bottleneck makes MMFormer infeasible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R2Mamba's O(N) selective scanning enables deployment on satellite edge hardware and real-time airborne sensors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Key findings, contributions, and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486400" cy="5029200"/>
          </a:xfrm>
          <a:prstGeom prst="rect">
            <a:avLst/>
          </a:prstGeom>
          <a:solidFill>
            <a:srgbClr val="05152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8FF"/>
                </a:solidFill>
                <a:latin typeface="Calibri"/>
              </a:rPr>
              <a:t>Key Contributions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93392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First rigorous benchmark comparing the two newest 2026 Transformer and Mamba HSI architectures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Demonstrated R2Mamba superiority: +5% – +7.5% higher OA across two standard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Showed 3–3.5× training speed advantage with dramatically lower prediction variance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Fully reproducible: Open-source YAML config, seeded protocol, LaTeX tables and publication maps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Modular pipeline: Readily extensible to any of 56 models across 24 datasets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577840" cy="5029200"/>
          </a:xfrm>
          <a:prstGeom prst="rect">
            <a:avLst/>
          </a:prstGeom>
          <a:solidFill>
            <a:srgbClr val="041C0E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CC71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9339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UAV Datasets: Evaluate on WHU-Hi series (HanChuan, HongHu, LongKou) for drone-based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Multimodal Fusion: Extend R2Mamba to fuse hyperspectral cubes with LiDAR elevation data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Model Compression: Knowledge distillation for edge deployment on satellite hardware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Planetary Science: Apply to Mars CRISM datasets (Holden, NiliFossae, Utopia) already in the framework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More Datasets: Salinas, Houston13/18, Chikusei for broader generalizability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11064240" cy="5212080"/>
          </a:xfrm>
          <a:prstGeom prst="rect">
            <a:avLst/>
          </a:prstGeom>
          <a:solidFill>
            <a:srgbClr val="04101E"/>
          </a:solidFill>
          <a:ln w="254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00C8FF"/>
                </a:solidFill>
                <a:latin typeface="Calibri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011680"/>
            <a:ext cx="758952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9718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CD6E0"/>
                </a:solidFill>
                <a:latin typeface="Calibri"/>
              </a:rPr>
              <a:t>Project Repository: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375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A500"/>
                </a:solidFill>
                <a:latin typeface="Calibri"/>
              </a:rPr>
              <a:t>github.com/lPrincel/HSI-Classification-Minor-Project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023360"/>
            <a:ext cx="8503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MMFormer  (IEEE TGRS 2026)  |  R2Mamba  (IEEE JSTARS 2026)
Indian Pines (NASA AVIRIS)  |  Pavia University (DLR ROSIS)
Framework: arXiv 2609.39871  |  Platform: Kaggle T4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2578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CD6E0"/>
                </a:solidFill>
                <a:latin typeface="Calibri"/>
              </a:rPr>
              <a:t>Prince Prajapati (24124085)  ·  Ayush Bansal (24124025)  ·  Abhay Kaushal (24124003)
Guides: Dr. Nitika Nigam  ·  Dr. Jaspal Kaur Saini  ·  Department of Information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