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914400"/>
            <a:ext cx="11064240" cy="4114800"/>
          </a:xfrm>
          <a:prstGeom prst="rect">
            <a:avLst/>
          </a:prstGeom>
          <a:solidFill>
            <a:srgbClr val="051222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0C8FF"/>
                </a:solidFill>
                <a:latin typeface="Calibri"/>
              </a:rPr>
              <a:t>Hyperspectral Image Classification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Calibri"/>
              </a:rPr>
              <a:t>MMFormer vs. R2Mamba: A 2026 Benchmark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0" y="2606040"/>
            <a:ext cx="7589520" cy="36576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CCD6E0"/>
                </a:solidFill>
                <a:latin typeface="Calibri"/>
              </a:rPr>
              <a:t>Evaluating cutting-edge 2026 Vision Transformer vs. State Space Model architectures
under identical few-shot conditions on remote sensing HSI benchmarks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3931920"/>
            <a:ext cx="9418320" cy="1097280"/>
          </a:xfrm>
          <a:prstGeom prst="rect">
            <a:avLst/>
          </a:prstGeom>
          <a:solidFill>
            <a:srgbClr val="02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4069080"/>
            <a:ext cx="9235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Prince Prajapati (24124085)  ·  Ayush Bansal (24124025)  ·  Abhay Kaushal (24124003)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4480560"/>
            <a:ext cx="9235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D6E0"/>
                </a:solidFill>
                <a:latin typeface="Calibri"/>
              </a:rPr>
              <a:t>Guide: Dr. Nitika Nigam  |  Department of Information Technology  |  Academic Year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5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8FF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D6E0"/>
                </a:solidFill>
                <a:latin typeface="Calibri"/>
              </a:rPr>
              <a:t>What we will cover today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502920" cy="384048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17320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453896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  <a:latin typeface="Calibri"/>
              </a:rPr>
              <a:t>Background &amp; Motivation — What is Hyperspectral Imaging (HSI)?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892808"/>
            <a:ext cx="502920" cy="384048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892808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929384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  <a:latin typeface="Calibri"/>
              </a:rPr>
              <a:t>Architectural Evolution — CNNs  →  Transformers  →  Mamba / SSMs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68296"/>
            <a:ext cx="502920" cy="384048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368296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404872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  <a:latin typeface="Calibri"/>
              </a:rPr>
              <a:t>Problem Statement &amp; Research Objectives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843784"/>
            <a:ext cx="502920" cy="384048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843784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88036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  <a:latin typeface="Calibri"/>
              </a:rPr>
              <a:t>Competing 2026 Models — MMFormer (IEEE TGRS) vs. R2Mamba (IEEE JSTARS)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319272"/>
            <a:ext cx="502920" cy="384048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3319272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355848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  <a:latin typeface="Calibri"/>
              </a:rPr>
              <a:t>Phase 1: Pipeline Validation — Baseline CNN &amp; Transformer models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794760"/>
            <a:ext cx="502920" cy="384048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3794760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831336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  <a:latin typeface="Calibri"/>
              </a:rPr>
              <a:t>Benchmark Datasets &amp; Experimental Protocol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270248"/>
            <a:ext cx="502920" cy="384048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4270248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  <a:latin typeface="Calibri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306824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  <a:latin typeface="Calibri"/>
              </a:rPr>
              <a:t>Quantitative Results — OA / AA / Kappa (Mean ± Std, 3 Seeds)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745736"/>
            <a:ext cx="502920" cy="384048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4745736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  <a:latin typeface="Calibri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" y="4782312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  <a:latin typeface="Calibri"/>
              </a:rPr>
              <a:t>Qualitative Analysis — Classification Maps &amp; Visual Comparison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5221224"/>
            <a:ext cx="502920" cy="384048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5221224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  <a:latin typeface="Calibri"/>
              </a:rP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52578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  <a:latin typeface="Calibri"/>
              </a:rPr>
              <a:t>Computational Complexity Analysis — O(N²) vs. O(N)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5696712"/>
            <a:ext cx="502920" cy="384048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5696712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  <a:latin typeface="Calibri"/>
              </a:rP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5733288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5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8FF"/>
                </a:solidFill>
                <a:latin typeface="Calibri"/>
              </a:rPr>
              <a:t>Background: Hyperspectral Imaging (HSI)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D6E0"/>
                </a:solidFill>
                <a:latin typeface="Calibri"/>
              </a:rPr>
              <a:t>Beyond standard RGB — capturing the full spectral fingerprint of materials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63040"/>
            <a:ext cx="5577840" cy="4937760"/>
          </a:xfrm>
          <a:prstGeom prst="rect">
            <a:avLst/>
          </a:prstGeom>
          <a:solidFill>
            <a:srgbClr val="051222"/>
          </a:solidFill>
          <a:ln w="1270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C8FF"/>
                </a:solidFill>
                <a:latin typeface="Calibri"/>
              </a:rPr>
              <a:t>What is HSI?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993392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 b="1">
                <a:solidFill>
                  <a:srgbClr val="00C8FF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Normal RGB cameras capture only 3 spectral bands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00C8FF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Hyperspectral sensors capture 100–200+ narrow contiguous bands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00C8FF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Each pixel contains a unique spectral 'fingerprint'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00C8FF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Enables material &amp; chemical composition identification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7947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A500"/>
                </a:solidFill>
                <a:latin typeface="Calibri"/>
              </a:rPr>
              <a:t>Real-World Applications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206240"/>
            <a:ext cx="5303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 b="1">
                <a:solidFill>
                  <a:srgbClr val="00C8FF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Agriculture: Crop health, weed &amp; moisture detection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00C8FF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Urban Planning: Asphalt, roofs, concrete classification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00C8FF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Planetary Science: Mars mineral mapping (NASA CRISM)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00C8FF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Mining: Mineral exploration from satellite data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463040"/>
            <a:ext cx="5486400" cy="4937760"/>
          </a:xfrm>
          <a:prstGeom prst="rect">
            <a:avLst/>
          </a:prstGeom>
          <a:solidFill>
            <a:srgbClr val="051222"/>
          </a:solidFill>
          <a:ln w="127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572768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A500"/>
                </a:solidFill>
                <a:latin typeface="Calibri"/>
              </a:rPr>
              <a:t>HSI vs. RGB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46520" y="2148840"/>
            <a:ext cx="5120640" cy="1097280"/>
          </a:xfrm>
          <a:prstGeom prst="rect">
            <a:avLst/>
          </a:prstGeom>
          <a:solidFill>
            <a:srgbClr val="082236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240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RGB Camera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60604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0"/>
                </a:solidFill>
                <a:latin typeface="Calibri"/>
              </a:rPr>
              <a:t>3 bands  |  Low spectral resolution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6520" y="3429000"/>
            <a:ext cx="5120640" cy="1097280"/>
          </a:xfrm>
          <a:prstGeom prst="rect">
            <a:avLst/>
          </a:prstGeom>
          <a:solidFill>
            <a:srgbClr val="082236"/>
          </a:solidFill>
          <a:ln w="1524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35204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CD6E0"/>
                </a:solidFill>
                <a:latin typeface="Calibri"/>
              </a:rPr>
              <a:t>Multispectral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8862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0"/>
                </a:solidFill>
                <a:latin typeface="Calibri"/>
              </a:rPr>
              <a:t>4–12 bands  |  Moderate discrimination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46520" y="4709160"/>
            <a:ext cx="5120640" cy="1097280"/>
          </a:xfrm>
          <a:prstGeom prst="rect">
            <a:avLst/>
          </a:prstGeom>
          <a:solidFill>
            <a:srgbClr val="082236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48006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CC71"/>
                </a:solidFill>
                <a:latin typeface="Calibri"/>
              </a:rPr>
              <a:t>Hyperspectral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51663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0"/>
                </a:solidFill>
                <a:latin typeface="Calibri"/>
              </a:rPr>
              <a:t>100–200+ bands  |  Full spectral fingerprint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5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8FF"/>
                </a:solidFill>
                <a:latin typeface="Calibri"/>
              </a:rPr>
              <a:t>Architectural Evolution in HSI Classification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D6E0"/>
                </a:solidFill>
                <a:latin typeface="Calibri"/>
              </a:rPr>
              <a:t>From local convolutions to global sequence modelling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417320"/>
            <a:ext cx="3749039" cy="4937760"/>
          </a:xfrm>
          <a:prstGeom prst="rect">
            <a:avLst/>
          </a:prstGeom>
          <a:solidFill>
            <a:srgbClr val="145A8C"/>
          </a:solidFill>
          <a:ln w="19050">
            <a:solidFill>
              <a:srgbClr val="1E7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08760"/>
            <a:ext cx="1920240" cy="384048"/>
          </a:xfrm>
          <a:prstGeom prst="rect">
            <a:avLst/>
          </a:prstGeom>
          <a:solidFill>
            <a:srgbClr val="1E7A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0876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2017–2020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9339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CNN Era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542032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0"/>
                </a:solidFill>
                <a:latin typeface="Calibri"/>
              </a:rPr>
              <a:t>3D/2D Conv
SSRN · HybridSN
DBDA · pResNet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822191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A500"/>
                </a:solidFill>
                <a:latin typeface="Calibri"/>
              </a:rPr>
              <a:t>⚠ Limitation: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1480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D6E0"/>
                </a:solidFill>
                <a:latin typeface="Calibri"/>
              </a:rPr>
              <a:t>Local receptive fields
Cannot model long-range
spectral dependencies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87368" y="32461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0C8FF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1960" y="1417320"/>
            <a:ext cx="3749039" cy="4937760"/>
          </a:xfrm>
          <a:prstGeom prst="rect">
            <a:avLst/>
          </a:prstGeom>
          <a:solidFill>
            <a:srgbClr val="804000"/>
          </a:solidFill>
          <a:ln w="19050">
            <a:solidFill>
              <a:srgbClr val="B36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120" y="1508760"/>
            <a:ext cx="1920240" cy="384048"/>
          </a:xfrm>
          <a:prstGeom prst="rect">
            <a:avLst/>
          </a:prstGeom>
          <a:solidFill>
            <a:srgbClr val="B3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150876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2021–2024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199339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Transformer Era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542032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0"/>
                </a:solidFill>
                <a:latin typeface="Calibri"/>
              </a:rPr>
              <a:t>Self-Attention (SA)
SpectralFormer · MFT
GAHT · MASSFormer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3822191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A500"/>
                </a:solidFill>
                <a:latin typeface="Calibri"/>
              </a:rPr>
              <a:t>⚠ Limitation: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411480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D6E0"/>
                </a:solidFill>
                <a:latin typeface="Calibri"/>
              </a:rPr>
              <a:t>Global context via SA
But O(N²) complexity
Slow on large scenes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19288" y="32461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0C8FF"/>
                </a:solidFill>
                <a:latin typeface="Calibri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83880" y="1417320"/>
            <a:ext cx="3749039" cy="4937760"/>
          </a:xfrm>
          <a:prstGeom prst="rect">
            <a:avLst/>
          </a:prstGeom>
          <a:solidFill>
            <a:srgbClr val="0A5A2E"/>
          </a:solidFill>
          <a:ln w="19050">
            <a:solidFill>
              <a:srgbClr val="0D7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321040" y="1508760"/>
            <a:ext cx="1920240" cy="384048"/>
          </a:xfrm>
          <a:prstGeom prst="rect">
            <a:avLst/>
          </a:prstGeom>
          <a:solidFill>
            <a:srgbClr val="0D7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1040" y="150876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2024–2026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199339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Mamba / SSM Era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2542032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0"/>
                </a:solidFill>
                <a:latin typeface="Calibri"/>
              </a:rPr>
              <a:t>Selective State Space
MambaHSI · R2Mamba
MMFormer · SSMamba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3822191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A500"/>
                </a:solidFill>
                <a:latin typeface="Calibri"/>
              </a:rPr>
              <a:t>⚠ Limitation: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411480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D6E0"/>
                </a:solidFill>
                <a:latin typeface="Calibri"/>
              </a:rPr>
              <a:t>Linear O(N) complexity
Global context + speed
Best of both worlds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5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8FF"/>
                </a:solidFill>
                <a:latin typeface="Calibri"/>
              </a:rPr>
              <a:t>Problem Statement &amp; Research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D6E0"/>
                </a:solidFill>
                <a:latin typeface="Calibri"/>
              </a:rPr>
              <a:t>Why compare the two newest 2026 architectures?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A500"/>
                </a:solidFill>
                <a:latin typeface="Calibri"/>
              </a:rPr>
              <a:t>Research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 b="1">
                <a:solidFill>
                  <a:srgbClr val="00C8FF"/>
                </a:solidFill>
                <a:latin typeface="Calibri"/>
              </a:rPr>
              <a:t>▸ </a:t>
            </a:r>
            <a:r>
              <a:rPr sz="1500">
                <a:solidFill>
                  <a:srgbClr val="FFFFFF"/>
                </a:solidFill>
                <a:latin typeface="Calibri"/>
              </a:rPr>
              <a:t>HSI classification demands few-shot generalisation: only 10–30 labeled pixels per class</a:t>
            </a:r>
          </a:p>
          <a:p>
            <a:pPr>
              <a:spcBef>
                <a:spcPts val="400"/>
              </a:spcBef>
            </a:pPr>
            <a:r>
              <a:rPr sz="1500" b="1">
                <a:solidFill>
                  <a:srgbClr val="00C8FF"/>
                </a:solidFill>
                <a:latin typeface="Calibri"/>
              </a:rPr>
              <a:t>▸ </a:t>
            </a:r>
            <a:r>
              <a:rPr sz="1500">
                <a:solidFill>
                  <a:srgbClr val="FFFFFF"/>
                </a:solidFill>
                <a:latin typeface="Calibri"/>
              </a:rPr>
              <a:t>Transformers dominate but suffer from quadratic O(N²) self-attention — slow on large urban scenes</a:t>
            </a:r>
          </a:p>
          <a:p>
            <a:pPr>
              <a:spcBef>
                <a:spcPts val="400"/>
              </a:spcBef>
            </a:pPr>
            <a:r>
              <a:rPr sz="1500" b="1">
                <a:solidFill>
                  <a:srgbClr val="00C8FF"/>
                </a:solidFill>
                <a:latin typeface="Calibri"/>
              </a:rPr>
              <a:t>▸ </a:t>
            </a:r>
            <a:r>
              <a:rPr sz="1500">
                <a:solidFill>
                  <a:srgbClr val="FFFFFF"/>
                </a:solidFill>
                <a:latin typeface="Calibri"/>
              </a:rPr>
              <a:t>2026 introduces Macro-Micro Transformers and Route-Reliability Mamba — never head-to-head compared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832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0C8FF"/>
                </a:solidFill>
                <a:latin typeface="Calibri"/>
              </a:rPr>
              <a:t>Research Objectives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886200"/>
            <a:ext cx="3703320" cy="2377440"/>
          </a:xfrm>
          <a:prstGeom prst="rect">
            <a:avLst/>
          </a:prstGeom>
          <a:solidFill>
            <a:srgbClr val="051526"/>
          </a:solidFill>
          <a:ln w="1524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3886200"/>
            <a:ext cx="3703320" cy="43891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913632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2A"/>
                </a:solidFill>
                <a:latin typeface="Calibri"/>
              </a:rPr>
              <a:t>#1  Rigorous Benchmark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407408"/>
            <a:ext cx="3429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0"/>
                </a:solidFill>
                <a:latin typeface="Calibri"/>
              </a:rPr>
              <a:t>Head-to-head comparison of the two newest 2026 architectures under identical experimental conditions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9392" y="3886200"/>
            <a:ext cx="3703320" cy="2377440"/>
          </a:xfrm>
          <a:prstGeom prst="rect">
            <a:avLst/>
          </a:prstGeom>
          <a:solidFill>
            <a:srgbClr val="051526"/>
          </a:solidFill>
          <a:ln w="1524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3886200"/>
            <a:ext cx="3703320" cy="43891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70832" y="3913632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2A"/>
                </a:solidFill>
                <a:latin typeface="Calibri"/>
              </a:rPr>
              <a:t>#2  Statistical Robustness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6552" y="4407408"/>
            <a:ext cx="3429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0"/>
                </a:solidFill>
                <a:latin typeface="Calibri"/>
              </a:rPr>
              <a:t>3 independent seeded runs per model × dataset — reporting Mean ± Standard Deviation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4" y="3886200"/>
            <a:ext cx="3703320" cy="2377440"/>
          </a:xfrm>
          <a:prstGeom prst="rect">
            <a:avLst/>
          </a:prstGeom>
          <a:solidFill>
            <a:srgbClr val="051526"/>
          </a:solidFill>
          <a:ln w="1524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93024" y="3886200"/>
            <a:ext cx="3703320" cy="43891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4464" y="3913632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2A"/>
                </a:solidFill>
                <a:latin typeface="Calibri"/>
              </a:rPr>
              <a:t>#3  Efficiency Analysis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0184" y="4407408"/>
            <a:ext cx="3429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0"/>
                </a:solidFill>
                <a:latin typeface="Calibri"/>
              </a:rPr>
              <a:t>Compare training latency, convergence stability, and computational complexity O(N²) vs O(N)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5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8FF"/>
                </a:solidFill>
                <a:latin typeface="Calibri"/>
              </a:rPr>
              <a:t>The 2026 Models: MMFormer vs. R2Mamba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D6E0"/>
                </a:solidFill>
                <a:latin typeface="Calibri"/>
              </a:rPr>
              <a:t>Transformer-based Macro-Micro attention vs. Selective State Space scanning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5577840" cy="5029200"/>
          </a:xfrm>
          <a:prstGeom prst="rect">
            <a:avLst/>
          </a:prstGeom>
          <a:solidFill>
            <a:srgbClr val="051526"/>
          </a:solidFill>
          <a:ln w="25400">
            <a:solidFill>
              <a:srgbClr val="009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417320"/>
            <a:ext cx="5577840" cy="502920"/>
          </a:xfrm>
          <a:prstGeom prst="rect">
            <a:avLst/>
          </a:prstGeom>
          <a:solidFill>
            <a:srgbClr val="009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46304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1B2A"/>
                </a:solidFill>
                <a:latin typeface="Calibri"/>
              </a:rPr>
              <a:t>MMFormer  (IEEE TGRS 2026)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05740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50" b="1">
                <a:solidFill>
                  <a:srgbClr val="0090C8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Architecture: Macro-Micro Vision Transformer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90C8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Macro Branch: Global scene semantics across broad spatial tokens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90C8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Micro Branch: Fine-grained local spectral-spatial texture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90C8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Cross-Attention Fusion: Dynamic exchange between scales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90C8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Complexity: Quadratic  O(N²)  self-attention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90C8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Published: IEEE TGRS 2026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90C8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DOI: 10.1109/TGRS.2026.3696892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417320"/>
            <a:ext cx="5577840" cy="5029200"/>
          </a:xfrm>
          <a:prstGeom prst="rect">
            <a:avLst/>
          </a:prstGeom>
          <a:solidFill>
            <a:srgbClr val="041C0E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417320"/>
            <a:ext cx="5577840" cy="50292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46304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1B2A"/>
                </a:solidFill>
                <a:latin typeface="Calibri"/>
              </a:rPr>
              <a:t>R2Mamba  (IEEE JSTARS 2026)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05740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50" b="1">
                <a:solidFill>
                  <a:srgbClr val="2ECC71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Architecture: Route-Reliability State Space Model (SSM)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2ECC71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Sequential scanning of spatial-spectral tokens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2ECC71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Reliability Gating: Down-weights noisy/mixed boundary pixels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2ECC71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Linear Complexity:  O(N)  — scales to very large scenes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2ECC71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Converges faster (25–40 epochs vs 40–50 for Transformer)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2ECC71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Published: IEEE JSTARS 2026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2ECC71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DOI: 10.1109/JSTARS.2026.3728152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77840" y="3108960"/>
            <a:ext cx="640080" cy="64008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77840" y="310896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1B2A"/>
                </a:solidFill>
                <a:latin typeface="Calibri"/>
              </a:rPr>
              <a:t>VS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5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8FF"/>
                </a:solidFill>
                <a:latin typeface="Calibri"/>
              </a:rPr>
              <a:t>Phase 1: Pipeline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D6E0"/>
                </a:solidFill>
                <a:latin typeface="Calibri"/>
              </a:rPr>
              <a:t>Verifying the end-to-end framework before resource-intensive experiments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A500"/>
                </a:solidFill>
                <a:latin typeface="Calibri"/>
              </a:rPr>
              <a:t>Why a Validation Phase?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50" b="1">
                <a:solidFill>
                  <a:srgbClr val="00C8FF"/>
                </a:solidFill>
                <a:latin typeface="Calibri"/>
              </a:rPr>
              <a:t>▸ </a:t>
            </a:r>
            <a:r>
              <a:rPr sz="1450">
                <a:solidFill>
                  <a:srgbClr val="FFFFFF"/>
                </a:solidFill>
                <a:latin typeface="Calibri"/>
              </a:rPr>
              <a:t>Before training expensive 2026 SOTA models, we verify every pipeline stage works correctly</a:t>
            </a:r>
          </a:p>
          <a:p>
            <a:pPr>
              <a:spcBef>
                <a:spcPts val="400"/>
              </a:spcBef>
            </a:pPr>
            <a:r>
              <a:rPr sz="1450" b="1">
                <a:solidFill>
                  <a:srgbClr val="00C8FF"/>
                </a:solidFill>
                <a:latin typeface="Calibri"/>
              </a:rPr>
              <a:t>▸ </a:t>
            </a:r>
            <a:r>
              <a:rPr sz="1450">
                <a:solidFill>
                  <a:srgbClr val="FFFFFF"/>
                </a:solidFill>
                <a:latin typeface="Calibri"/>
              </a:rPr>
              <a:t>Confirms HuggingFace auto-download, on-the-fly PCA, patch generation, and classification map export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803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C8FF"/>
                </a:solidFill>
                <a:latin typeface="Calibri"/>
              </a:rPr>
              <a:t>Baseline Models Tested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383280"/>
            <a:ext cx="2212848" cy="2651760"/>
          </a:xfrm>
          <a:prstGeom prst="rect">
            <a:avLst/>
          </a:prstGeom>
          <a:solidFill>
            <a:srgbClr val="051526"/>
          </a:solidFill>
          <a:ln w="1270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3383280"/>
            <a:ext cx="2212848" cy="384048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3410712"/>
            <a:ext cx="206654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2A"/>
                </a:solidFill>
                <a:latin typeface="Calibri"/>
              </a:rPr>
              <a:t>HybridSN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40480"/>
            <a:ext cx="206654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  <a:latin typeface="Calibri"/>
              </a:rPr>
              <a:t>2019  |  IEEE GRSL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4206240"/>
            <a:ext cx="206654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3D-2D Conv Hybrid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4800600"/>
            <a:ext cx="20665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C71"/>
                </a:solidFill>
                <a:latin typeface="Calibri"/>
              </a:rPr>
              <a:t>✓ Passed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97480" y="3383280"/>
            <a:ext cx="2212848" cy="2651760"/>
          </a:xfrm>
          <a:prstGeom prst="rect">
            <a:avLst/>
          </a:prstGeom>
          <a:solidFill>
            <a:srgbClr val="051526"/>
          </a:solidFill>
          <a:ln w="1270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697480" y="3383280"/>
            <a:ext cx="2212848" cy="384048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70632" y="3410712"/>
            <a:ext cx="206654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2A"/>
                </a:solidFill>
                <a:latin typeface="Calibri"/>
              </a:rPr>
              <a:t>SSRN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70632" y="3840480"/>
            <a:ext cx="206654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  <a:latin typeface="Calibri"/>
              </a:rPr>
              <a:t>2017  |  IEEE TGRS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70632" y="4206240"/>
            <a:ext cx="206654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Spectral-Spatial ResNet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70632" y="4800600"/>
            <a:ext cx="20665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C71"/>
                </a:solidFill>
                <a:latin typeface="Calibri"/>
              </a:rPr>
              <a:t>✓ Passed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0" y="3383280"/>
            <a:ext cx="2212848" cy="2651760"/>
          </a:xfrm>
          <a:prstGeom prst="rect">
            <a:avLst/>
          </a:prstGeom>
          <a:solidFill>
            <a:srgbClr val="051526"/>
          </a:solidFill>
          <a:ln w="1270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0" y="3383280"/>
            <a:ext cx="2212848" cy="384048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02352" y="3410712"/>
            <a:ext cx="206654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2A"/>
                </a:solidFill>
                <a:latin typeface="Calibri"/>
              </a:rPr>
              <a:t>pResNet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02352" y="3840480"/>
            <a:ext cx="206654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  <a:latin typeface="Calibri"/>
              </a:rPr>
              <a:t>2019  |  IEEE TGRS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02352" y="4206240"/>
            <a:ext cx="206654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Pyramidal Residual 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2352" y="4800600"/>
            <a:ext cx="20665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C71"/>
                </a:solidFill>
                <a:latin typeface="Calibri"/>
              </a:rPr>
              <a:t>✓ Passed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60920" y="3383280"/>
            <a:ext cx="2212848" cy="2651760"/>
          </a:xfrm>
          <a:prstGeom prst="rect">
            <a:avLst/>
          </a:prstGeom>
          <a:solidFill>
            <a:srgbClr val="051526"/>
          </a:solidFill>
          <a:ln w="1270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60920" y="3383280"/>
            <a:ext cx="2212848" cy="384048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34072" y="3410712"/>
            <a:ext cx="206654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2A"/>
                </a:solidFill>
                <a:latin typeface="Calibri"/>
              </a:rPr>
              <a:t>DBDA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34072" y="3840480"/>
            <a:ext cx="206654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  <a:latin typeface="Calibri"/>
              </a:rPr>
              <a:t>2020  |  MDPI 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34072" y="4206240"/>
            <a:ext cx="206654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Dual-Branch Dual Attention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34072" y="4800600"/>
            <a:ext cx="20665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C71"/>
                </a:solidFill>
                <a:latin typeface="Calibri"/>
              </a:rPr>
              <a:t>✓ Passed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92640" y="3383280"/>
            <a:ext cx="2212848" cy="2651760"/>
          </a:xfrm>
          <a:prstGeom prst="rect">
            <a:avLst/>
          </a:prstGeom>
          <a:solidFill>
            <a:srgbClr val="051526"/>
          </a:solidFill>
          <a:ln w="1270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692640" y="3383280"/>
            <a:ext cx="2212848" cy="384048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65792" y="3410712"/>
            <a:ext cx="206654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2A"/>
                </a:solidFill>
                <a:latin typeface="Calibri"/>
              </a:rPr>
              <a:t>SpectralFormer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65792" y="3840480"/>
            <a:ext cx="206654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  <a:latin typeface="Calibri"/>
              </a:rPr>
              <a:t>2021  |  IEEE TGRS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65792" y="4206240"/>
            <a:ext cx="206654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Spectral Transformer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65792" y="4800600"/>
            <a:ext cx="20665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C71"/>
                </a:solidFill>
                <a:latin typeface="Calibri"/>
              </a:rPr>
              <a:t>✓ Passed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2179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A500"/>
                </a:solidFill>
                <a:latin typeface="Calibri"/>
              </a:rPr>
              <a:t>Result: Full pipeline confirmed — 5 models × 2 seeds × Indian Pines in ~20 min on Kaggle T4 GPU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5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8FF"/>
                </a:solidFill>
                <a:latin typeface="Calibri"/>
              </a:rPr>
              <a:t>Datasets &amp; Experimental Protocol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D6E0"/>
                </a:solidFill>
                <a:latin typeface="Calibri"/>
              </a:rPr>
              <a:t>Two standard benchmark scenes + reproducible experimental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5394960" cy="4937760"/>
          </a:xfrm>
          <a:prstGeom prst="rect">
            <a:avLst/>
          </a:prstGeom>
          <a:solidFill>
            <a:srgbClr val="051526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417320"/>
            <a:ext cx="5394960" cy="457200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46304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2A"/>
                </a:solidFill>
                <a:latin typeface="Calibri"/>
              </a:rPr>
              <a:t>Indian Pines  (AVIRIS Sensor)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6596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50" b="1">
                <a:solidFill>
                  <a:srgbClr val="00C8FF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Location: Indiana, USA — Agricultural scene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C8FF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Dimensions: 145 × 145 pixels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C8FF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Spectral Bands: 200 raw  →  30 (after PCA)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C8FF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Target Classes: 16 crop types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C8FF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Challenge: Subtle spectral differences between early-growth crop stages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C8FF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Split: 10 train / 5 val per class (~9,482 test pixels)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1417320"/>
            <a:ext cx="5669280" cy="4937760"/>
          </a:xfrm>
          <a:prstGeom prst="rect">
            <a:avLst/>
          </a:prstGeom>
          <a:solidFill>
            <a:srgbClr val="041C0E"/>
          </a:solidFill>
          <a:ln w="1905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80760" y="1417320"/>
            <a:ext cx="5669280" cy="4572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146304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2A"/>
                </a:solidFill>
                <a:latin typeface="Calibri"/>
              </a:rPr>
              <a:t>Pavia University  (ROSIS Sensor)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965960"/>
            <a:ext cx="5394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50" b="1">
                <a:solidFill>
                  <a:srgbClr val="00C8FF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Location: Pavia, Italy — Dense urban infrastructure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C8FF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Dimensions: 610 × 340 pixels (207,400 pixels total)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C8FF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Spectral Bands: 103 raw  →  30 (after PCA)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C8FF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Target Classes: 9 urban materials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C8FF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Challenge: High intra-class spectral variability in built surfaces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C8FF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Split: 30 train / 10 val per class (~40,044 test pixels)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382512"/>
            <a:ext cx="12188952" cy="475488"/>
          </a:xfrm>
          <a:prstGeom prst="rect">
            <a:avLst/>
          </a:prstGeom>
          <a:solidFill>
            <a:srgbClr val="030D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6419088"/>
            <a:ext cx="11612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A500"/>
                </a:solidFill>
                <a:latin typeface="Calibri"/>
              </a:rPr>
              <a:t>Protocol:  PCA → 30 bands  |  Patch 11×11  |  Adam lr=0.001  |  Batch 64  |  Early Stop (patience=12)  |  3 Seeds [1,2,3]  |  NVIDIA T4 GPU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5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8FF"/>
                </a:solidFill>
                <a:latin typeface="Calibri"/>
              </a:rPr>
              <a:t>Results: Indian Pines (16 Classes)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D6E0"/>
                </a:solidFill>
                <a:latin typeface="Calibri"/>
              </a:rPr>
              <a:t>3-seed evaluation  |  10 train / 5 val per class  |  ~9,482 test pixels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2651760" cy="1371600"/>
          </a:xfrm>
          <a:prstGeom prst="rect">
            <a:avLst/>
          </a:prstGeom>
          <a:solidFill>
            <a:srgbClr val="082236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527048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D6E0"/>
                </a:solidFill>
                <a:latin typeface="Calibri"/>
              </a:rPr>
              <a:t>OA — MMFormer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828800"/>
            <a:ext cx="250545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070A0"/>
                </a:solidFill>
                <a:latin typeface="Calibri"/>
              </a:rPr>
              <a:t>76.41%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237744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A500"/>
                </a:solidFill>
                <a:latin typeface="Calibri"/>
              </a:rPr>
              <a:t>± 3.84%  std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1417320"/>
            <a:ext cx="2651760" cy="1371600"/>
          </a:xfrm>
          <a:prstGeom prst="rect">
            <a:avLst/>
          </a:prstGeom>
          <a:solidFill>
            <a:srgbClr val="082236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55848" y="1527048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D6E0"/>
                </a:solidFill>
                <a:latin typeface="Calibri"/>
              </a:rPr>
              <a:t>OA — R2Mamba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9272" y="1828800"/>
            <a:ext cx="250545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2ECC71"/>
                </a:solidFill>
                <a:latin typeface="Calibri"/>
              </a:rPr>
              <a:t>83.89%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19272" y="237744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A500"/>
                </a:solidFill>
                <a:latin typeface="Calibri"/>
              </a:rPr>
              <a:t>± 1.66%  std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417320"/>
            <a:ext cx="2651760" cy="1371600"/>
          </a:xfrm>
          <a:prstGeom prst="rect">
            <a:avLst/>
          </a:prstGeom>
          <a:solidFill>
            <a:srgbClr val="082236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27048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D6E0"/>
                </a:solidFill>
                <a:latin typeface="Calibri"/>
              </a:rPr>
              <a:t>OA  Gain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9632" y="1828800"/>
            <a:ext cx="250545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A500"/>
                </a:solidFill>
                <a:latin typeface="Calibri"/>
              </a:rPr>
              <a:t>+7.48%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9632" y="237744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A500"/>
                </a:solidFill>
                <a:latin typeface="Calibri"/>
              </a:rPr>
              <a:t>R2Mamba wins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6840" y="1417320"/>
            <a:ext cx="2651760" cy="1371600"/>
          </a:xfrm>
          <a:prstGeom prst="rect">
            <a:avLst/>
          </a:prstGeom>
          <a:solidFill>
            <a:srgbClr val="082236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16568" y="1527048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D6E0"/>
                </a:solidFill>
                <a:latin typeface="Calibri"/>
              </a:rPr>
              <a:t>Speed Gain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9992" y="1828800"/>
            <a:ext cx="250545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A500"/>
                </a:solidFill>
                <a:latin typeface="Calibri"/>
              </a:rPr>
              <a:t>3× Faster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9992" y="237744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A500"/>
                </a:solidFill>
                <a:latin typeface="Calibri"/>
              </a:rPr>
              <a:t>26s vs 75s/run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017520"/>
            <a:ext cx="1905000" cy="537210"/>
          </a:xfrm>
          <a:prstGeom prst="rect">
            <a:avLst/>
          </a:prstGeom>
          <a:solidFill>
            <a:srgbClr val="006080"/>
          </a:solidFill>
          <a:ln w="1270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3072384"/>
            <a:ext cx="181356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70760" y="3017520"/>
            <a:ext cx="1905000" cy="537210"/>
          </a:xfrm>
          <a:prstGeom prst="rect">
            <a:avLst/>
          </a:prstGeom>
          <a:solidFill>
            <a:srgbClr val="006080"/>
          </a:solidFill>
          <a:ln w="1270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16480" y="3072384"/>
            <a:ext cx="181356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OA (%)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75760" y="3017520"/>
            <a:ext cx="1905000" cy="537210"/>
          </a:xfrm>
          <a:prstGeom prst="rect">
            <a:avLst/>
          </a:prstGeom>
          <a:solidFill>
            <a:srgbClr val="006080"/>
          </a:solidFill>
          <a:ln w="1270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21480" y="3072384"/>
            <a:ext cx="181356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AA (%)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80760" y="3017520"/>
            <a:ext cx="1905000" cy="537210"/>
          </a:xfrm>
          <a:prstGeom prst="rect">
            <a:avLst/>
          </a:prstGeom>
          <a:solidFill>
            <a:srgbClr val="006080"/>
          </a:solidFill>
          <a:ln w="1270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26480" y="3072384"/>
            <a:ext cx="181356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Kappa (×100)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85760" y="3017520"/>
            <a:ext cx="1905000" cy="537210"/>
          </a:xfrm>
          <a:prstGeom prst="rect">
            <a:avLst/>
          </a:prstGeom>
          <a:solidFill>
            <a:srgbClr val="006080"/>
          </a:solidFill>
          <a:ln w="1270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31480" y="3072384"/>
            <a:ext cx="181356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Best Run OA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90760" y="3017520"/>
            <a:ext cx="1905000" cy="537210"/>
          </a:xfrm>
          <a:prstGeom prst="rect">
            <a:avLst/>
          </a:prstGeom>
          <a:solidFill>
            <a:srgbClr val="006080"/>
          </a:solidFill>
          <a:ln w="1270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36480" y="3072384"/>
            <a:ext cx="181356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Avg Train Time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5473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360045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MMFormer (2026)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70760" y="355473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316480" y="360045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76.41 ± 3.84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75760" y="355473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21480" y="360045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87.10 ± 1.96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80760" y="355473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26480" y="360045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73.41 ± 4.28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985760" y="355473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31480" y="360045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80.81%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90760" y="355473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936480" y="360045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~75 sec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4091940"/>
            <a:ext cx="1905000" cy="537210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3766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ECC71"/>
                </a:solidFill>
                <a:latin typeface="Calibri"/>
              </a:rPr>
              <a:t>R2Mamba (2026)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270760" y="4091940"/>
            <a:ext cx="1905000" cy="537210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316480" y="413766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83.89 ± 1.66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75760" y="4091940"/>
            <a:ext cx="1905000" cy="537210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21480" y="413766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91.29 ± 1.09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080760" y="4091940"/>
            <a:ext cx="1905000" cy="537210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26480" y="413766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81.71 ± 1.87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985760" y="4091940"/>
            <a:ext cx="1905000" cy="537210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031480" y="413766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85.66%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890760" y="4091940"/>
            <a:ext cx="1905000" cy="537210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936480" y="413766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~26 sec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462915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467487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Performance Delta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270760" y="462915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316480" y="467487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A500"/>
                </a:solidFill>
                <a:latin typeface="Calibri"/>
              </a:rPr>
              <a:t>+7.48%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75760" y="462915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21480" y="467487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A500"/>
                </a:solidFill>
                <a:latin typeface="Calibri"/>
              </a:rPr>
              <a:t>+4.19%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080760" y="462915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126480" y="467487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A500"/>
                </a:solidFill>
                <a:latin typeface="Calibri"/>
              </a:rPr>
              <a:t>+8.30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985760" y="462915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031480" y="467487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A500"/>
                </a:solidFill>
                <a:latin typeface="Calibri"/>
              </a:rPr>
              <a:t>+4.85%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890760" y="462915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936480" y="467487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~3× Faster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57200" y="530352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C8FF"/>
                </a:solidFill>
                <a:latin typeface="Calibri"/>
              </a:rPr>
              <a:t>Key Observations: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 b="1">
                <a:solidFill>
                  <a:srgbClr val="00C8FF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R2Mamba outperforms MMFormer by +7.48% in Overall Accuracy on the agricultural scene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00C8FF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R2Mamba is significantly more stable: ±1.66% std vs ±3.84% std (2.3× lower variance)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00C8FF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R2Mamba trains 3× faster per run (26 sec vs 75 sec) — due to O(N) linear complexity</a:t>
            </a:r>
          </a:p>
        </p:txBody>
      </p:sp>
      <p:sp>
        <p:nvSpPr>
          <p:cNvPr id="73" name="Rectangle 7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5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8FF"/>
                </a:solidFill>
                <a:latin typeface="Calibri"/>
              </a:rPr>
              <a:t>Results: Pavia University (9 Classes)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D6E0"/>
                </a:solidFill>
                <a:latin typeface="Calibri"/>
              </a:rPr>
              <a:t>3-seed evaluation  |  30 train / 10 val per class  |  ~40,044 test pixels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2651760" cy="1371600"/>
          </a:xfrm>
          <a:prstGeom prst="rect">
            <a:avLst/>
          </a:prstGeom>
          <a:solidFill>
            <a:srgbClr val="082236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527048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D6E0"/>
                </a:solidFill>
                <a:latin typeface="Calibri"/>
              </a:rPr>
              <a:t>OA — MMFormer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828800"/>
            <a:ext cx="250545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070A0"/>
                </a:solidFill>
                <a:latin typeface="Calibri"/>
              </a:rPr>
              <a:t>92.45%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237744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A500"/>
                </a:solidFill>
                <a:latin typeface="Calibri"/>
              </a:rPr>
              <a:t>± 5.98%  std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1417320"/>
            <a:ext cx="2651760" cy="1371600"/>
          </a:xfrm>
          <a:prstGeom prst="rect">
            <a:avLst/>
          </a:prstGeom>
          <a:solidFill>
            <a:srgbClr val="082236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55848" y="1527048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D6E0"/>
                </a:solidFill>
                <a:latin typeface="Calibri"/>
              </a:rPr>
              <a:t>OA — R2Mamba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9272" y="1828800"/>
            <a:ext cx="250545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2ECC71"/>
                </a:solidFill>
                <a:latin typeface="Calibri"/>
              </a:rPr>
              <a:t>97.59%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19272" y="237744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A500"/>
                </a:solidFill>
                <a:latin typeface="Calibri"/>
              </a:rPr>
              <a:t>± 0.60%  std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417320"/>
            <a:ext cx="2651760" cy="1371600"/>
          </a:xfrm>
          <a:prstGeom prst="rect">
            <a:avLst/>
          </a:prstGeom>
          <a:solidFill>
            <a:srgbClr val="082236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27048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D6E0"/>
                </a:solidFill>
                <a:latin typeface="Calibri"/>
              </a:rPr>
              <a:t>OA  Gain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9632" y="1828800"/>
            <a:ext cx="250545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A500"/>
                </a:solidFill>
                <a:latin typeface="Calibri"/>
              </a:rPr>
              <a:t>+5.14%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9632" y="237744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A500"/>
                </a:solidFill>
                <a:latin typeface="Calibri"/>
              </a:rPr>
              <a:t>R2Mamba wins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6840" y="1417320"/>
            <a:ext cx="2651760" cy="1371600"/>
          </a:xfrm>
          <a:prstGeom prst="rect">
            <a:avLst/>
          </a:prstGeom>
          <a:solidFill>
            <a:srgbClr val="082236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16568" y="1527048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D6E0"/>
                </a:solidFill>
                <a:latin typeface="Calibri"/>
              </a:rPr>
              <a:t>Speed Gain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9992" y="1828800"/>
            <a:ext cx="250545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A500"/>
                </a:solidFill>
                <a:latin typeface="Calibri"/>
              </a:rPr>
              <a:t>3.5× Faster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9992" y="237744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A500"/>
                </a:solidFill>
                <a:latin typeface="Calibri"/>
              </a:rPr>
              <a:t>40s vs 140s/run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017520"/>
            <a:ext cx="1905000" cy="537210"/>
          </a:xfrm>
          <a:prstGeom prst="rect">
            <a:avLst/>
          </a:prstGeom>
          <a:solidFill>
            <a:srgbClr val="006080"/>
          </a:solidFill>
          <a:ln w="1270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3072384"/>
            <a:ext cx="181356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70760" y="3017520"/>
            <a:ext cx="1905000" cy="537210"/>
          </a:xfrm>
          <a:prstGeom prst="rect">
            <a:avLst/>
          </a:prstGeom>
          <a:solidFill>
            <a:srgbClr val="006080"/>
          </a:solidFill>
          <a:ln w="1270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16480" y="3072384"/>
            <a:ext cx="181356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OA (%)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75760" y="3017520"/>
            <a:ext cx="1905000" cy="537210"/>
          </a:xfrm>
          <a:prstGeom prst="rect">
            <a:avLst/>
          </a:prstGeom>
          <a:solidFill>
            <a:srgbClr val="006080"/>
          </a:solidFill>
          <a:ln w="1270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21480" y="3072384"/>
            <a:ext cx="181356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AA (%)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80760" y="3017520"/>
            <a:ext cx="1905000" cy="537210"/>
          </a:xfrm>
          <a:prstGeom prst="rect">
            <a:avLst/>
          </a:prstGeom>
          <a:solidFill>
            <a:srgbClr val="006080"/>
          </a:solidFill>
          <a:ln w="1270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26480" y="3072384"/>
            <a:ext cx="181356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Kappa (×100)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85760" y="3017520"/>
            <a:ext cx="1905000" cy="537210"/>
          </a:xfrm>
          <a:prstGeom prst="rect">
            <a:avLst/>
          </a:prstGeom>
          <a:solidFill>
            <a:srgbClr val="006080"/>
          </a:solidFill>
          <a:ln w="1270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31480" y="3072384"/>
            <a:ext cx="181356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Best Run OA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90760" y="3017520"/>
            <a:ext cx="1905000" cy="537210"/>
          </a:xfrm>
          <a:prstGeom prst="rect">
            <a:avLst/>
          </a:prstGeom>
          <a:solidFill>
            <a:srgbClr val="006080"/>
          </a:solidFill>
          <a:ln w="1270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36480" y="3072384"/>
            <a:ext cx="181356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Avg Train Time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5473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360045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MMFormer (2026)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70760" y="355473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316480" y="360045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92.45 ± 5.98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75760" y="355473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21480" y="360045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95.90 ± 1.80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80760" y="355473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26480" y="360045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90.44 ± 7.36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985760" y="355473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31480" y="360045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96.80%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90760" y="355473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936480" y="360045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~140 sec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4091940"/>
            <a:ext cx="1905000" cy="537210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3766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ECC71"/>
                </a:solidFill>
                <a:latin typeface="Calibri"/>
              </a:rPr>
              <a:t>R2Mamba (2026)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270760" y="4091940"/>
            <a:ext cx="1905000" cy="537210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316480" y="413766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97.59 ± 0.60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75760" y="4091940"/>
            <a:ext cx="1905000" cy="537210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21480" y="413766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97.95 ± 0.53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080760" y="4091940"/>
            <a:ext cx="1905000" cy="537210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26480" y="413766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96.86 ± 0.77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985760" y="4091940"/>
            <a:ext cx="1905000" cy="537210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031480" y="413766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98.03%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890760" y="4091940"/>
            <a:ext cx="1905000" cy="537210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936480" y="413766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~40 sec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462915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467487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Performance Delta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270760" y="462915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316480" y="467487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A500"/>
                </a:solidFill>
                <a:latin typeface="Calibri"/>
              </a:rPr>
              <a:t>+5.14%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75760" y="462915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21480" y="467487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A500"/>
                </a:solidFill>
                <a:latin typeface="Calibri"/>
              </a:rPr>
              <a:t>+2.05%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080760" y="462915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126480" y="467487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A500"/>
                </a:solidFill>
                <a:latin typeface="Calibri"/>
              </a:rPr>
              <a:t>+6.42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985760" y="462915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031480" y="467487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A500"/>
                </a:solidFill>
                <a:latin typeface="Calibri"/>
              </a:rPr>
              <a:t>+1.23%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890760" y="462915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936480" y="467487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~3.5× Faster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57200" y="530352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C8FF"/>
                </a:solidFill>
                <a:latin typeface="Calibri"/>
              </a:rPr>
              <a:t>Key Observations: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 b="1">
                <a:solidFill>
                  <a:srgbClr val="00C8FF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R2Mamba achieves 98.03% peak OA — among the highest on record for this benchmark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00C8FF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MMFormer shows high variance (±5.98%) due to quadratic attention sensitivity on dense urban boundaries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00C8FF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R2Mamba converges more reliably: only ±0.60% std — nearly 10× more stable than MMFormer</a:t>
            </a:r>
          </a:p>
        </p:txBody>
      </p:sp>
      <p:sp>
        <p:nvSpPr>
          <p:cNvPr id="73" name="Rectangle 7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5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8FF"/>
                </a:solidFill>
                <a:latin typeface="Calibri"/>
              </a:rPr>
              <a:t>Qualitative Analysis: Classification Maps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D6E0"/>
                </a:solidFill>
                <a:latin typeface="Calibri"/>
              </a:rPr>
              <a:t>Visual comparison of best-run spatial predictions for both models on both datasets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417320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0C8FF"/>
                </a:solidFill>
                <a:latin typeface="Calibri"/>
              </a:rPr>
              <a:t>MMFormer (2026)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80" y="1417320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ECC71"/>
                </a:solidFill>
                <a:latin typeface="Calibri"/>
              </a:rPr>
              <a:t>R2Mamba (2026)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" y="1920240"/>
            <a:ext cx="914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A500"/>
                </a:solidFill>
                <a:latin typeface="Calibri"/>
              </a:rPr>
              <a:t>Indian Pines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" y="4297680"/>
            <a:ext cx="914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A500"/>
                </a:solidFill>
                <a:latin typeface="Calibri"/>
              </a:rPr>
              <a:t>Pavia University</a:t>
            </a:r>
          </a:p>
        </p:txBody>
      </p:sp>
      <p:pic>
        <p:nvPicPr>
          <p:cNvPr id="11" name="Picture 10" descr="Indian_Pines_MMFormer_best_run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828800"/>
            <a:ext cx="4937760" cy="2377440"/>
          </a:xfrm>
          <a:prstGeom prst="rect">
            <a:avLst/>
          </a:prstGeom>
        </p:spPr>
      </p:pic>
      <p:pic>
        <p:nvPicPr>
          <p:cNvPr id="12" name="Picture 11" descr="Indian_Pines_R2Mamba_best_run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828800"/>
            <a:ext cx="4937760" cy="2377440"/>
          </a:xfrm>
          <a:prstGeom prst="rect">
            <a:avLst/>
          </a:prstGeom>
        </p:spPr>
      </p:pic>
      <p:pic>
        <p:nvPicPr>
          <p:cNvPr id="13" name="Picture 12" descr="Pavia_University_MMFormer_best_run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4343400"/>
            <a:ext cx="4937760" cy="2103120"/>
          </a:xfrm>
          <a:prstGeom prst="rect">
            <a:avLst/>
          </a:prstGeom>
        </p:spPr>
      </p:pic>
      <p:pic>
        <p:nvPicPr>
          <p:cNvPr id="14" name="Picture 13" descr="Pavia_University_R2Mamba_best_run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4343400"/>
            <a:ext cx="4937760" cy="21031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65760" y="649224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FFA500"/>
                </a:solidFill>
                <a:latin typeface="Calibri"/>
              </a:rPr>
              <a:t>R2Mamba shows cleaner spatial boundaries, fewer noisy pixels, and better minority-class discrimination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5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8FF"/>
                </a:solidFill>
                <a:latin typeface="Calibri"/>
              </a:rPr>
              <a:t>Computational Complexity &amp;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D6E0"/>
                </a:solidFill>
                <a:latin typeface="Calibri"/>
              </a:rPr>
              <a:t>Why linear O(N) Mamba outscales quadratic O(N²) Transformers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3810000" cy="529045"/>
          </a:xfrm>
          <a:prstGeom prst="rect">
            <a:avLst/>
          </a:prstGeom>
          <a:solidFill>
            <a:srgbClr val="006080"/>
          </a:solidFill>
          <a:ln w="1270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472184"/>
            <a:ext cx="3718560" cy="4376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Aspect</a:t>
            </a:r>
          </a:p>
        </p:txBody>
      </p:sp>
      <p:sp>
        <p:nvSpPr>
          <p:cNvPr id="9" name="Rectangle 8"/>
          <p:cNvSpPr/>
          <p:nvPr/>
        </p:nvSpPr>
        <p:spPr>
          <a:xfrm>
            <a:off x="4175760" y="1417320"/>
            <a:ext cx="3810000" cy="529045"/>
          </a:xfrm>
          <a:prstGeom prst="rect">
            <a:avLst/>
          </a:prstGeom>
          <a:solidFill>
            <a:srgbClr val="006080"/>
          </a:solidFill>
          <a:ln w="1270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21480" y="1472184"/>
            <a:ext cx="3718560" cy="4376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MMFormer (Transformer)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85760" y="1417320"/>
            <a:ext cx="3810000" cy="529045"/>
          </a:xfrm>
          <a:prstGeom prst="rect">
            <a:avLst/>
          </a:prstGeom>
          <a:solidFill>
            <a:srgbClr val="006080"/>
          </a:solidFill>
          <a:ln w="1270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31480" y="1472184"/>
            <a:ext cx="3718560" cy="4376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R2Mamba (Mamba / SSM)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946365"/>
            <a:ext cx="3810000" cy="529045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1992085"/>
            <a:ext cx="3718560" cy="45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Theoretical Complexity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75760" y="1946365"/>
            <a:ext cx="3810000" cy="529045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21480" y="1992085"/>
            <a:ext cx="3718560" cy="45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Quadratic  O(N²)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85760" y="1946365"/>
            <a:ext cx="3810000" cy="529045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31480" y="1992085"/>
            <a:ext cx="3718560" cy="45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Linear  O(N)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475410"/>
            <a:ext cx="3810000" cy="529045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2521130"/>
            <a:ext cx="3718560" cy="45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Memory Scaling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75760" y="2475410"/>
            <a:ext cx="3810000" cy="529045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21480" y="2521130"/>
            <a:ext cx="3718560" cy="45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Grows quadratically with tokens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85760" y="2475410"/>
            <a:ext cx="3810000" cy="529045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31480" y="2521130"/>
            <a:ext cx="3718560" cy="45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Constant per recurrent step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004455"/>
            <a:ext cx="3810000" cy="529045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3050175"/>
            <a:ext cx="3718560" cy="45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Convergence Stability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75760" y="3004455"/>
            <a:ext cx="3810000" cy="529045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21480" y="3050175"/>
            <a:ext cx="3718560" cy="45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High variance across seeds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85760" y="3004455"/>
            <a:ext cx="3810000" cy="529045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31480" y="3050175"/>
            <a:ext cx="3718560" cy="45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Low variance, fast convergence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533500"/>
            <a:ext cx="3810000" cy="529045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3579220"/>
            <a:ext cx="3718560" cy="45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Avg Training Time / Run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75760" y="3533500"/>
            <a:ext cx="3810000" cy="529045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21480" y="3579220"/>
            <a:ext cx="3718560" cy="45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~75s (IP) / ~140s (PU)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85760" y="3533500"/>
            <a:ext cx="3810000" cy="529045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31480" y="3579220"/>
            <a:ext cx="3718560" cy="45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~26s (IP) / ~40s (PU)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062545"/>
            <a:ext cx="3810000" cy="529045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4108265"/>
            <a:ext cx="3718560" cy="45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Speed Advantage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75760" y="4062545"/>
            <a:ext cx="3810000" cy="529045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21480" y="4108265"/>
            <a:ext cx="3718560" cy="45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Baseline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985760" y="4062545"/>
            <a:ext cx="3810000" cy="529045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31480" y="4108265"/>
            <a:ext cx="3718560" cy="45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3× – 3.5× Faster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4591590"/>
            <a:ext cx="3810000" cy="529045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4637310"/>
            <a:ext cx="3718560" cy="45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Large Scene Scalability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75760" y="4591590"/>
            <a:ext cx="3810000" cy="529045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21480" y="4637310"/>
            <a:ext cx="3718560" cy="45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Challenging (memory bottleneck)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985760" y="4591590"/>
            <a:ext cx="3810000" cy="529045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31480" y="4637310"/>
            <a:ext cx="3718560" cy="45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Efficient at any scale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530352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A500"/>
                </a:solidFill>
                <a:latin typeface="Calibri"/>
              </a:rPr>
              <a:t>Practical Implication: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 b="1">
                <a:solidFill>
                  <a:srgbClr val="00C8FF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For large urban scenes (e.g. Houston 2018: 1,202 × 4,768 pixels), the quadratic bottleneck makes MMFormer infeasible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00C8FF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R2Mamba's O(N) selective scanning enables deployment on satellite edge hardware and real-time airborne sensors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5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8FF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D6E0"/>
                </a:solidFill>
                <a:latin typeface="Calibri"/>
              </a:rPr>
              <a:t>Key findings, contributions, and 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5486400" cy="5029200"/>
          </a:xfrm>
          <a:prstGeom prst="rect">
            <a:avLst/>
          </a:prstGeom>
          <a:solidFill>
            <a:srgbClr val="051526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5087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C8FF"/>
                </a:solidFill>
                <a:latin typeface="Calibri"/>
              </a:rPr>
              <a:t>Key Contributions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993392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50" b="1">
                <a:solidFill>
                  <a:srgbClr val="00C8FF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First rigorous benchmark comparing the two newest 2026 Transformer and Mamba HSI architectures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C8FF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Demonstrated R2Mamba superiority: +5% – +7.5% higher OA across two standard scenes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C8FF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Showed 3–3.5× training speed advantage with dramatically lower prediction variance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C8FF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Fully reproducible: Open-source YAML config, seeded protocol, LaTeX tables and publication maps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C8FF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Modular pipeline: Readily extensible to any of 56 models across 24 datasets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417320"/>
            <a:ext cx="5577840" cy="5029200"/>
          </a:xfrm>
          <a:prstGeom prst="rect">
            <a:avLst/>
          </a:prstGeom>
          <a:solidFill>
            <a:srgbClr val="041C0E"/>
          </a:solidFill>
          <a:ln w="1905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5087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ECC71"/>
                </a:solidFill>
                <a:latin typeface="Calibri"/>
              </a:rPr>
              <a:t>Future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993392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50" b="1">
                <a:solidFill>
                  <a:srgbClr val="2ECC71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UAV Datasets: Evaluate on WHU-Hi series (HanChuan, HongHu, LongKou) for drone-based scenes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2ECC71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Multimodal Fusion: Extend R2Mamba to fuse hyperspectral cubes with LiDAR elevation data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2ECC71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Model Compression: Knowledge distillation for edge deployment on satellite hardware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2ECC71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Planetary Science: Apply to Mars CRISM datasets (Holden, NiliFossae, Utopia) already in the framework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2ECC71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More Datasets: Salinas, Houston13/18, Chikusei for broader generalizability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731520"/>
            <a:ext cx="11064240" cy="5212080"/>
          </a:xfrm>
          <a:prstGeom prst="rect">
            <a:avLst/>
          </a:prstGeom>
          <a:solidFill>
            <a:srgbClr val="04101E"/>
          </a:solidFill>
          <a:ln w="2540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00C8FF"/>
                </a:solidFill>
                <a:latin typeface="Calibri"/>
              </a:rPr>
              <a:t>Thank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2011680"/>
            <a:ext cx="7589520" cy="54864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2971800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CD6E0"/>
                </a:solidFill>
                <a:latin typeface="Calibri"/>
              </a:rPr>
              <a:t>Project Repository: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33756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A500"/>
                </a:solidFill>
                <a:latin typeface="Calibri"/>
              </a:rPr>
              <a:t>github.com/lPrincel/HSI-Classification-Minor-Project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4023360"/>
            <a:ext cx="8503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D6E0"/>
                </a:solidFill>
                <a:latin typeface="Calibri"/>
              </a:rPr>
              <a:t>MMFormer  (IEEE TGRS 2026)  |  R2Mamba  (IEEE JSTARS 2026)
Indian Pines (NASA AVIRIS)  |  Pavia University (DLR ROSIS)
Framework: arXiv 2609.39871  |  Platform: Kaggle T4 GPU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25780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0" i="0">
                <a:solidFill>
                  <a:srgbClr val="CCD6E0"/>
                </a:solidFill>
                <a:latin typeface="Calibri"/>
              </a:rPr>
              <a:t>Prince Prajapati (24124085)  ·  Ayush Bansal (24124025)  ·  Abhay Kaushal (24124003)
Guide: Dr. Nitika Nigam · Department of Information Technology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