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lPrincel/HSI-Classification-Minor-Projec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Hyperspectral Image Classification: MMFormer vs. R2Mamba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Benchmarking 2026 Vision Transformers against Selective State Space Models</a:t>
            </a:r>
            <a:br/>
            <a:br/>
            <a:r>
              <a:rPr/>
              <a:t>Prince Prajapati (Lead), Team Members | Dept. of Computer Science &amp; Engineering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Academic Year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&amp; Agenda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1. Background &amp; Motivation</a:t>
                </a:r>
                <a:r>
                  <a:rPr/>
                  <a:t> — What is Hyperspectral Imaging (HSI)?</a:t>
                </a:r>
              </a:p>
              <a:p>
                <a:pPr lvl="0"/>
                <a:r>
                  <a:rPr b="1"/>
                  <a:t>2. Architectural Evolution</a:t>
                </a:r>
                <a:r>
                  <a:rPr/>
                  <a:t> — CNNs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Transformers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Mamba</a:t>
                </a:r>
              </a:p>
              <a:p>
                <a:pPr lvl="0"/>
                <a:r>
                  <a:rPr b="1"/>
                  <a:t>3. Problem Formulation</a:t>
                </a:r>
                <a:r>
                  <a:rPr/>
                  <a:t> — Why compare 2026 architectures?</a:t>
                </a:r>
              </a:p>
              <a:p>
                <a:pPr lvl="0"/>
                <a:r>
                  <a:rPr b="1"/>
                  <a:t>4. Methodology &amp; Models</a:t>
                </a:r>
                <a:r>
                  <a:rPr/>
                  <a:t> — MMFormer (</a:t>
                </a:r>
                <a:r>
                  <a:rPr i="1"/>
                  <a:t>IEEE TGRS</a:t>
                </a:r>
                <a:r>
                  <a:rPr/>
                  <a:t>) vs. R2Mamba (</a:t>
                </a:r>
                <a:r>
                  <a:rPr i="1"/>
                  <a:t>IEEE JSTARS</a:t>
                </a:r>
                <a:r>
                  <a:rPr/>
                  <a:t>)</a:t>
                </a:r>
              </a:p>
              <a:p>
                <a:pPr lvl="0"/>
                <a:r>
                  <a:rPr b="1"/>
                  <a:t>5. Experimental Setup</a:t>
                </a:r>
                <a:r>
                  <a:rPr/>
                  <a:t> — Datasets, sample budgets, protocol</a:t>
                </a:r>
              </a:p>
              <a:p>
                <a:pPr lvl="0"/>
                <a:r>
                  <a:rPr b="1"/>
                  <a:t>6. Quantitative Results</a:t>
                </a:r>
                <a:r>
                  <a:rPr/>
                  <a:t> — OA, AA, Kappa (Mean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 Std across 3 seeds)</a:t>
                </a:r>
              </a:p>
              <a:p>
                <a:pPr lvl="0"/>
                <a:r>
                  <a:rPr b="1"/>
                  <a:t>7. Qualitative Analysis</a:t>
                </a:r>
                <a:r>
                  <a:rPr/>
                  <a:t> — Full-scene classification maps</a:t>
                </a:r>
              </a:p>
              <a:p>
                <a:pPr lvl="0"/>
                <a:r>
                  <a:rPr b="1"/>
                  <a:t>8. Computational Efficiency</a:t>
                </a:r>
                <a:r>
                  <a:rPr/>
                  <a:t> — Linear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vs Quadratic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0"/>
                <a:r>
                  <a:rPr b="1"/>
                  <a:t>9. Conclusion &amp; Next Steps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Background: Hyperspectral Imaging (HSI)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Beyond Standard RGB:</a:t>
            </a:r>
          </a:p>
          <a:p>
            <a:pPr lvl="1"/>
            <a:r>
              <a:rPr/>
              <a:t>Regular photos capture 3 broad bands (Red, Green, Blue).</a:t>
            </a:r>
          </a:p>
          <a:p>
            <a:pPr lvl="1"/>
            <a:r>
              <a:rPr/>
              <a:t>Hyperspectral sensors capture </a:t>
            </a:r>
            <a:r>
              <a:rPr b="1"/>
              <a:t>100–200+ contiguous narrow spectral bands</a:t>
            </a:r>
            <a:r>
              <a:rPr/>
              <a:t> across visible and infrared spectrums.</a:t>
            </a:r>
          </a:p>
          <a:p>
            <a:pPr lvl="0"/>
            <a:r>
              <a:rPr b="1"/>
              <a:t>The Spectral Signature:</a:t>
            </a:r>
          </a:p>
          <a:p>
            <a:pPr lvl="1"/>
            <a:r>
              <a:rPr/>
              <a:t>Each pixel contains a continuous reflectance curve revealing the physical and chemical composition of materials.</a:t>
            </a:r>
          </a:p>
          <a:p>
            <a:pPr lvl="0"/>
            <a:r>
              <a:rPr b="1"/>
              <a:t>Critical Real-World Applications:</a:t>
            </a:r>
          </a:p>
          <a:p>
            <a:pPr lvl="1"/>
            <a:r>
              <a:rPr b="1"/>
              <a:t>Precision Agriculture:</a:t>
            </a:r>
            <a:r>
              <a:rPr/>
              <a:t> Crop health monitoring, weed identification, soil moisture analysis.</a:t>
            </a:r>
          </a:p>
          <a:p>
            <a:pPr lvl="1"/>
            <a:r>
              <a:rPr b="1"/>
              <a:t>Urban Planning:</a:t>
            </a:r>
            <a:r>
              <a:rPr/>
              <a:t> Distinguishing asphalt, concrete, roofing materials, and water bodies.</a:t>
            </a:r>
          </a:p>
          <a:p>
            <a:pPr lvl="1"/>
            <a:r>
              <a:rPr b="1"/>
              <a:t>Environmental &amp; Planetary:</a:t>
            </a:r>
            <a:r>
              <a:rPr/>
              <a:t> Deforestation tracking, mineral exploration, Mars exploration.</a:t>
            </a:r>
          </a:p>
        </p:txBody>
      </p:sp>
    </p:spTree>
  </p:cSld>
</p:sld>
</file>

<file path=ppt/slides/slide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2. Architectural Evolution in HSI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057400" /><a:gridCol w="2057400" /><a:gridCol w="2057400" /><a:gridCol w="2057400" /></a:tblGrid><a:tr h="0"><a:tc><a:txBody><a:bodyPr /><a:lstStyle /><a:p><a:pPr lvl="0" indent="0" marL="0"><a:buNone /></a:pPr><a:r><a:rPr /><a:t>Era</a:t></a:r></a:p></a:txBody><a:tcPr /></a:tc><a:tc><a:txBody><a:bodyPr /><a:lstStyle /><a:p><a:pPr lvl="0" indent="0" marL="0"><a:buNone /></a:pPr><a:r><a:rPr /><a:t>Paradigm</a:t></a:r></a:p></a:txBody><a:tcPr /></a:tc><a:tc><a:txBody><a:bodyPr /><a:lstStyle /><a:p><a:pPr lvl="0" indent="0" marL="0"><a:buNone /></a:pPr><a:r><a:rPr /><a:t>Representative Models</a:t></a:r></a:p></a:txBody><a:tcPr /></a:tc><a:tc><a:txBody><a:bodyPr /><a:lstStyle /><a:p><a:pPr lvl="0" indent="0" marL="0"><a:buNone /></a:pPr><a:r><a:rPr /><a:t>Core Limitations</a:t></a:r></a:p></a:txBody><a:tcPr /></a:tc></a:tr><a:tr h="0"><a:tc><a:txBody><a:bodyPr /><a:lstStyle /><a:p><a:pPr lvl="0" indent="0" marL="0"><a:buNone /></a:pPr><a:r><a:rPr b="1" /><a:t>2017–2020</a:t></a:r></a:p></a:txBody></a:tc><a:tc><a:txBody><a:bodyPr /><a:lstStyle /><a:p><a:pPr lvl="0" indent="0" marL="0"><a:buNone /></a:pPr><a:r><a:rPr b="1" /><a:t>2D / 3D CNNs</a:t></a:r></a:p></a:txBody></a:tc><a:tc><a:txBody><a:bodyPr /><a:lstStyle /><a:p><a:pPr lvl="0" indent="0" marL="0"><a:buNone /></a:pPr><a:r><a:rPr /><a:t>SSRN, HybridSN, DBDA</a:t></a:r></a:p></a:txBody></a:tc><a:tc><a:txBody><a:bodyPr /><a:lstStyle /><a:p><a:pPr lvl="0" indent="0" marL="0"><a:buNone /></a:pPr><a:r><a:rPr /><a:t>Local receptive fields; struggles to capture long-range spectral relationships</a:t></a:r></a:p></a:txBody></a:tc></a:tr><a:tr h="0"><a:tc><a:txBody><a:bodyPr /><a:lstStyle /><a:p><a:pPr lvl="0" indent="0" marL="0"><a:buNone /></a:pPr><a:r><a:rPr b="1" /><a:t>2021–2024</a:t></a:r></a:p></a:txBody></a:tc><a:tc><a:txBody><a:bodyPr /><a:lstStyle /><a:p><a:pPr lvl="0" indent="0" marL="0"><a:buNone /></a:pPr><a:r><a:rPr b="1" /><a:t>Vision Transformers</a:t></a:r></a:p></a:txBody></a:tc><a:tc><a:txBody><a:bodyPr /><a:lstStyle /><a:p><a:pPr lvl="0" indent="0" marL="0"><a:buNone /></a:pPr><a:r><a:rPr /><a:t>SpectralFormer, MFT, GAHT</a:t></a:r></a:p></a:txBody></a:tc><a:tc><a:txBody><a:bodyPr /><a:lstStyle /><a:p><a:pPr lvl="0" indent="0" marL="0"><a:buNone /></a:pPr><a:r><a:rPr /><a:t>Captures global context via self-attention, but suffers from </a:t></a:r><a:r><a:rPr b="1" /><a:t>quadratic complexity </a:t></a:r><a14:m><m:oMath xmlns:m="http://schemas.openxmlformats.org/officeDocument/2006/math"><m:r><m:t>O</m:t></m:r><m:d><m:dPr><m:begChr m:val="(" /><m:endChr m:val=")" /><m:sepChr m:val="" /><m:grow /></m:dPr><m:e><m:sSup><m:e><m:r><m:t>N</m:t></m:r></m:e><m:sup><m:r><m:t>2</m:t></m:r></m:sup></m:sSup></m:e></m:d></m:oMath></a14:m></a:p></a:txBody></a:tc></a:tr><a:tr h="0"><a:tc><a:txBody><a:bodyPr /><a:lstStyle /><a:p><a:pPr lvl="0" indent="0" marL="0"><a:buNone /></a:pPr><a:r><a:rPr b="1" /><a:t>2024–2026</a:t></a:r></a:p></a:txBody></a:tc><a:tc><a:txBody><a:bodyPr /><a:lstStyle /><a:p><a:pPr lvl="0" indent="0" marL="0"><a:buNone /></a:pPr><a:r><a:rPr b="1" /><a:t>State Space Models (SSMs)</a:t></a:r></a:p></a:txBody></a:tc><a:tc><a:txBody><a:bodyPr /><a:lstStyle /><a:p><a:pPr lvl="0" indent="0" marL="0"><a:buNone /></a:pPr><a:r><a:rPr /><a:t>MambaHSI, </a:t></a:r><a:r><a:rPr b="1" /><a:t>R2Mamba</a:t></a:r></a:p></a:txBody></a:tc><a:tc><a:txBody><a:bodyPr /><a:lstStyle /><a:p><a:pPr lvl="0" indent="0" marL="0"><a:buNone /></a:pPr><a:r><a:rPr /><a:t>Combines global receptive fields with </a:t></a:r><a:r><a:rPr b="1" /><a:t>linear complexity </a:t></a:r><a14:m><m:oMath xmlns:m="http://schemas.openxmlformats.org/officeDocument/2006/math"><m:r><m:t>O</m:t></m:r><m:d><m:dPr><m:begChr m:val="(" /><m:endChr m:val=")" /><m:sepChr m:val="" /><m:grow /></m:dPr><m:e><m:r><m:t>N</m:t></m:r></m:e></m:d></m:oMath></a14:m><a:r><a:rPr /><a:t> via selective memory states</a:t></a:r></a:p></a:txBody></a:tc></a:tr></a:tbl></a:graphicData></a:graphic></p:graphicFrame></p:spTree></p:cSld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Problem Statement &amp; Research 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Research Gap:</a:t>
                </a:r>
              </a:p>
              <a:p>
                <a:pPr lvl="1"/>
                <a:r>
                  <a:rPr/>
                  <a:t>Modern remote sensing requires classifying complex scenes under </a:t>
                </a:r>
                <a:r>
                  <a:rPr b="1"/>
                  <a:t>extremely limited training samples</a:t>
                </a:r>
                <a:r>
                  <a:rPr/>
                  <a:t> (e.g., only 10–30 labeled pixels per class).</a:t>
                </a:r>
              </a:p>
              <a:p>
                <a:pPr lvl="1"/>
                <a:r>
                  <a:rPr/>
                  <a:t>While Transformers have been dominant, 2026 introduces cutting-edge </a:t>
                </a:r>
                <a:r>
                  <a:rPr b="1"/>
                  <a:t>Macro-Micro Transformers</a:t>
                </a:r>
                <a:r>
                  <a:rPr/>
                  <a:t> and </a:t>
                </a:r>
                <a:r>
                  <a:rPr b="1"/>
                  <a:t>Route-Reliability State Space Models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Our Objectives: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Conduct a rigorous, head-to-head empirical benchmark comparing the two newest 2026 models under </a:t>
                </a:r>
                <a:r>
                  <a:rPr b="1"/>
                  <a:t>identical experimental conditions</a:t>
                </a:r>
                <a:r>
                  <a:rPr/>
                  <a:t>.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Implement a statistically robust protocol using </a:t>
                </a:r>
                <a:r>
                  <a:rPr b="1"/>
                  <a:t>3 independent seeded runs</a:t>
                </a:r>
                <a:r>
                  <a:rPr/>
                  <a:t> (reporting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 Standard Deviation).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Analyze both </a:t>
                </a:r>
                <a:r>
                  <a:rPr b="1"/>
                  <a:t>quantitative accuracy</a:t>
                </a:r>
                <a:r>
                  <a:rPr/>
                  <a:t> and </a:t>
                </a:r>
                <a:r>
                  <a:rPr b="1"/>
                  <a:t>computational efficiency</a:t>
                </a:r>
                <a:r>
                  <a:rPr/>
                  <a:t> (training latency, stability).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Competing 2026 Architectures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MMFormer (</a:t>
                </a:r>
                <a:r>
                  <a:rPr b="1" i="1"/>
                  <a:t>IEEE TGRS 2026</a:t>
                </a:r>
                <a:r>
                  <a:rPr b="1"/>
                  <a:t>)</a:t>
                </a:r>
              </a:p>
              <a:p>
                <a:pPr lvl="0"/>
                <a:r>
                  <a:rPr b="1"/>
                  <a:t>Macro-Micro Transformer</a:t>
                </a:r>
                <a:r>
                  <a:rPr/>
                  <a:t> designed specifically for HSI.</a:t>
                </a:r>
              </a:p>
              <a:p>
                <a:pPr lvl="0"/>
                <a:r>
                  <a:rPr b="1"/>
                  <a:t>Macro Branch:</a:t>
                </a:r>
                <a:r>
                  <a:rPr/>
                  <a:t> Learns coarse, global contextual semantics across broad spatial tokens.</a:t>
                </a:r>
              </a:p>
              <a:p>
                <a:pPr lvl="0"/>
                <a:r>
                  <a:rPr b="1"/>
                  <a:t>Micro Branch:</a:t>
                </a:r>
                <a:r>
                  <a:rPr/>
                  <a:t> Focuses on fine-grained spectral-spatial details.</a:t>
                </a:r>
              </a:p>
              <a:p>
                <a:pPr lvl="0"/>
                <a:r>
                  <a:rPr b="1"/>
                  <a:t>Cross-Attention Fusion:</a:t>
                </a:r>
                <a:r>
                  <a:rPr/>
                  <a:t> Interactively exchanges information between macro and micro scales.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R2Mamba (</a:t>
                </a:r>
                <a:r>
                  <a:rPr b="1" i="1"/>
                  <a:t>IEEE JSTARS 2026</a:t>
                </a:r>
                <a:r>
                  <a:rPr b="1"/>
                  <a:t>)</a:t>
                </a:r>
              </a:p>
              <a:p>
                <a:pPr lvl="0"/>
                <a:r>
                  <a:rPr b="1"/>
                  <a:t>Route-Reliability Mamba</a:t>
                </a:r>
                <a:r>
                  <a:rPr/>
                  <a:t> built on Selective State Space Models.</a:t>
                </a:r>
              </a:p>
              <a:p>
                <a:pPr lvl="0"/>
                <a:r>
                  <a:rPr b="1"/>
                  <a:t>Continuous State Transition:</a:t>
                </a:r>
                <a:r>
                  <a:rPr/>
                  <a:t> Scans spatial-spectral tokens sequentially with linear complexity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Route Reliability Gating:</a:t>
                </a:r>
                <a:r>
                  <a:rPr/>
                  <a:t> Automatically assigns reliability weights to scanning paths, downweighting boundary/noisy pixels.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Phase 1: Pipeline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Before executing resource-intensive 2026 models, we validated the end-to-end framework using </a:t>
            </a:r>
            <a:r>
              <a:rPr b="1"/>
              <a:t>5 baseline architectures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HybridSN</a:t>
            </a:r>
            <a:r>
              <a:rPr/>
              <a:t> (3D-2D CNN)</a:t>
            </a:r>
          </a:p>
          <a:p>
            <a:pPr lvl="1"/>
            <a:r>
              <a:rPr>
                <a:latin typeface="Courier"/>
              </a:rPr>
              <a:t>SSRN</a:t>
            </a:r>
            <a:r>
              <a:rPr/>
              <a:t> (Spectral-Spatial ResNet)</a:t>
            </a:r>
          </a:p>
          <a:p>
            <a:pPr lvl="1"/>
            <a:r>
              <a:rPr>
                <a:latin typeface="Courier"/>
              </a:rPr>
              <a:t>pResNet</a:t>
            </a:r>
            <a:r>
              <a:rPr/>
              <a:t> (Pyramidal ResNet)</a:t>
            </a:r>
          </a:p>
          <a:p>
            <a:pPr lvl="1"/>
            <a:r>
              <a:rPr>
                <a:latin typeface="Courier"/>
              </a:rPr>
              <a:t>DBDA</a:t>
            </a:r>
            <a:r>
              <a:rPr/>
              <a:t> (Dual-branch Attention)</a:t>
            </a:r>
          </a:p>
          <a:p>
            <a:pPr lvl="1"/>
            <a:r>
              <a:rPr>
                <a:latin typeface="Courier"/>
              </a:rPr>
              <a:t>SpectralFormer</a:t>
            </a:r>
            <a:r>
              <a:rPr/>
              <a:t> (Baseline Transformer)</a:t>
            </a:r>
          </a:p>
          <a:p>
            <a:pPr lvl="0"/>
            <a:r>
              <a:rPr b="1"/>
              <a:t>Outcome:</a:t>
            </a:r>
          </a:p>
          <a:p>
            <a:pPr lvl="1"/>
            <a:r>
              <a:rPr/>
              <a:t>Verified on-the-fly memory-efficient patch extraction.</a:t>
            </a:r>
          </a:p>
          <a:p>
            <a:pPr lvl="1"/>
            <a:r>
              <a:rPr/>
              <a:t>Confirmed automated HuggingFace dataset caching and PCA preprocessing.</a:t>
            </a:r>
          </a:p>
          <a:p>
            <a:pPr lvl="1"/>
            <a:r>
              <a:rPr/>
              <a:t>Validated early stopping and visualization map generation.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6. Benchmark Datasets &amp; Preprocessing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371600" /><a:gridCol w="1371600" /><a:gridCol w="1371600" /><a:gridCol w="1371600" /><a:gridCol w="1371600" /><a:gridCol w="1371600" /></a:tblGrid><a:tr h="0"><a:tc><a:txBody><a:bodyPr /><a:lstStyle /><a:p><a:pPr lvl="0" indent="0" marL="0"><a:buNone /></a:pPr><a:r><a:rPr /><a:t>Dataset</a:t></a:r></a:p></a:txBody><a:tcPr /></a:tc><a:tc><a:txBody><a:bodyPr /><a:lstStyle /><a:p><a:pPr lvl="0" indent="0" marL="0"><a:buNone /></a:pPr><a:r><a:rPr /><a:t>Sensor</a:t></a:r></a:p></a:txBody><a:tcPr /></a:tc><a:tc><a:txBody><a:bodyPr /><a:lstStyle /><a:p><a:pPr lvl="0" indent="0" marL="0"><a:buNone /></a:pPr><a:r><a:rPr /><a:t>Scene Type</a:t></a:r></a:p></a:txBody><a:tcPr /></a:tc><a:tc><a:txBody><a:bodyPr /><a:lstStyle /><a:p><a:pPr lvl="0" indent="0" marL="0" algn="ctr"><a:buNone /></a:pPr><a:r><a:rPr /><a:t>Spatial Dimensions</a:t></a:r></a:p></a:txBody><a:tcPr /></a:tc><a:tc><a:txBody><a:bodyPr /><a:lstStyle /><a:p><a:pPr lvl="0" indent="0" marL="0" algn="ctr"><a:buNone /></a:pPr><a:r><a:rPr /><a:t>Spectral Bands (Raw </a:t></a:r><a14:m><m:oMath xmlns:m="http://schemas.openxmlformats.org/officeDocument/2006/math"><m:r><m:rPr><m:sty m:val="p" /></m:rPr><m:t>→</m:t></m:r></m:oMath></a14:m><a:r><a:rPr /><a:t> PCA)</a:t></a:r></a:p></a:txBody><a:tcPr /></a:tc><a:tc><a:txBody><a:bodyPr /><a:lstStyle /><a:p><a:pPr lvl="0" indent="0" marL="0" algn="ctr"><a:buNone /></a:pPr><a:r><a:rPr /><a:t>Target Classes</a:t></a:r></a:p></a:txBody><a:tcPr /></a:tc></a:tr><a:tr h="0"><a:tc><a:txBody><a:bodyPr /><a:lstStyle /><a:p><a:pPr lvl="0" indent="0" marL="0"><a:buNone /></a:pPr><a:r><a:rPr b="1" /><a:t>Indian Pines</a:t></a:r></a:p></a:txBody></a:tc><a:tc><a:txBody><a:bodyPr /><a:lstStyle /><a:p><a:pPr lvl="0" indent="0" marL="0"><a:buNone /></a:pPr><a:r><a:rPr /><a:t>NASA AVIRIS</a:t></a:r></a:p></a:txBody></a:tc><a:tc><a:txBody><a:bodyPr /><a:lstStyle /><a:p><a:pPr lvl="0" indent="0" marL="0"><a:buNone /></a:pPr><a:r><a:rPr /><a:t>Agricultural / Rural</a:t></a:r></a:p></a:txBody></a:tc><a:tc><a:txBody><a:bodyPr /><a:lstStyle /><a:p><a:pPr lvl="0" indent="0" marL="0" algn="ctr"><a:buNone /></a:pPr><a14:m><m:oMath xmlns:m="http://schemas.openxmlformats.org/officeDocument/2006/math"><m:r><m:t>145</m:t></m:r><m:r><m:rPr><m:sty m:val="p" /></m:rPr><m:t>×</m:t></m:r><m:r><m:t>145</m:t></m:r></m:oMath></a14:m></a:p></a:txBody></a:tc><a:tc><a:txBody><a:bodyPr /><a:lstStyle /><a:p><a:pPr lvl="0" indent="0" marL="0" algn="ctr"><a:buNone /></a:pPr><a14:m><m:oMath xmlns:m="http://schemas.openxmlformats.org/officeDocument/2006/math"><m:r><m:t>200</m:t></m:r><m:r><m:rPr><m:sty m:val="p" /></m:rPr><m:t>→</m:t></m:r><m:r><m:t>30</m:t></m:r></m:oMath></a14:m></a:p></a:txBody></a:tc><a:tc><a:txBody><a:bodyPr /><a:lstStyle /><a:p><a:pPr lvl="0" indent="0" marL="0" algn="ctr"><a:buNone /></a:pPr><a:r><a:rPr /><a:t>16 Crop Classes</a:t></a:r></a:p></a:txBody></a:tc></a:tr><a:tr h="0"><a:tc><a:txBody><a:bodyPr /><a:lstStyle /><a:p><a:pPr lvl="0" indent="0" marL="0"><a:buNone /></a:pPr><a:r><a:rPr b="1" /><a:t>Pavia University</a:t></a:r></a:p></a:txBody></a:tc><a:tc><a:txBody><a:bodyPr /><a:lstStyle /><a:p><a:pPr lvl="0" indent="0" marL="0"><a:buNone /></a:pPr><a:r><a:rPr /><a:t>DLR ROSIS</a:t></a:r></a:p></a:txBody></a:tc><a:tc><a:txBody><a:bodyPr /><a:lstStyle /><a:p><a:pPr lvl="0" indent="0" marL="0"><a:buNone /></a:pPr><a:r><a:rPr /><a:t>Dense Urban Infrastructure</a:t></a:r></a:p></a:txBody></a:tc><a:tc><a:txBody><a:bodyPr /><a:lstStyle /><a:p><a:pPr lvl="0" indent="0" marL="0" algn="ctr"><a:buNone /></a:pPr><a14:m><m:oMath xmlns:m="http://schemas.openxmlformats.org/officeDocument/2006/math"><m:r><m:t>610</m:t></m:r><m:r><m:rPr><m:sty m:val="p" /></m:rPr><m:t>×</m:t></m:r><m:r><m:t>340</m:t></m:r></m:oMath></a14:m></a:p></a:txBody></a:tc><a:tc><a:txBody><a:bodyPr /><a:lstStyle /><a:p><a:pPr lvl="0" indent="0" marL="0" algn="ctr"><a:buNone /></a:pPr><a14:m><m:oMath xmlns:m="http://schemas.openxmlformats.org/officeDocument/2006/math"><m:r><m:t>103</m:t></m:r><m:r><m:rPr><m:sty m:val="p" /></m:rPr><m:t>→</m:t></m:r><m:r><m:t>30</m:t></m:r></m:oMath></a14:m></a:p></a:txBody></a:tc><a:tc><a:txBody><a:bodyPr /><a:lstStyle /><a:p><a:pPr lvl="0" indent="0" marL="0" algn="ctr"><a:buNone /></a:pPr><a:r><a:rPr /><a:t>9 Urban Classes</a:t></a:r></a:p></a:txBody></a:tc></a:tr></a:tbl></a:graphicData></a:graphic></p:graphicFrame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Preprocessing Pipeline:</a:t>
                </a:r>
              </a:p>
              <a:p>
                <a:pPr lvl="1"/>
                <a:r>
                  <a:rPr b="1"/>
                  <a:t>PCA Reduction:</a:t>
                </a:r>
                <a:r>
                  <a:rPr/>
                  <a:t> Reduced to 30 principal components (captures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&gt;</m:t>
                    </m:r>
                    <m:r>
                      <m:t>99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spectral variance while eliminating noise &amp; redundancy).</a:t>
                </a:r>
              </a:p>
              <a:p>
                <a:pPr lvl="1"/>
                <a:r>
                  <a:rPr b="1"/>
                  <a:t>Spatial Window:</a:t>
                </a:r>
                <a:r>
                  <a:rPr/>
                  <a:t> Fixed </a:t>
                </a:r>
                <a14:m>
                  <m:oMath xmlns:m="http://schemas.openxmlformats.org/officeDocument/2006/math">
                    <m:r>
                      <m:t>11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11</m:t>
                    </m:r>
                  </m:oMath>
                </a14:m>
                <a:r>
                  <a:rPr/>
                  <a:t> patch size centered on each target pixel.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Experimental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Few-Shot Sample Budget:</a:t>
                </a:r>
              </a:p>
              <a:p>
                <a:pPr lvl="1"/>
                <a:r>
                  <a:rPr i="1"/>
                  <a:t>Indian Pines:</a:t>
                </a:r>
                <a:r>
                  <a:rPr/>
                  <a:t> 10 training / 5 validation pixels per class (remaining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9</m:t>
                    </m:r>
                    <m:r>
                      <m:rPr>
                        <m:sty m:val="p"/>
                      </m:rPr>
                      <m:t>,</m:t>
                    </m:r>
                    <m:r>
                      <m:t>482</m:t>
                    </m:r>
                  </m:oMath>
                </a14:m>
                <a:r>
                  <a:rPr/>
                  <a:t> pixels for testing).</a:t>
                </a:r>
              </a:p>
              <a:p>
                <a:pPr lvl="1"/>
                <a:r>
                  <a:rPr i="1"/>
                  <a:t>Pavia University:</a:t>
                </a:r>
                <a:r>
                  <a:rPr/>
                  <a:t> 30 training / 10 validation pixels per class (remaining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40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044</m:t>
                    </m:r>
                  </m:oMath>
                </a14:m>
                <a:r>
                  <a:rPr/>
                  <a:t> pixels for testing).</a:t>
                </a:r>
              </a:p>
              <a:p>
                <a:pPr lvl="0"/>
                <a:r>
                  <a:rPr b="1"/>
                  <a:t>Optimization &amp; Hyperparameters:</a:t>
                </a:r>
              </a:p>
              <a:p>
                <a:pPr lvl="1"/>
                <a:r>
                  <a:rPr/>
                  <a:t>Optimizer: </a:t>
                </a:r>
                <a:r>
                  <a:rPr b="1"/>
                  <a:t>Adam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learning 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0.001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batch size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64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Max Epochs: 80 with </a:t>
                </a:r>
                <a:r>
                  <a:rPr b="1"/>
                  <a:t>Early Stopping Patience = 12</a:t>
                </a:r>
                <a:r>
                  <a:rPr/>
                  <a:t>.</a:t>
                </a:r>
              </a:p>
              <a:p>
                <a:pPr lvl="1"/>
                <a:r>
                  <a:rPr/>
                  <a:t>Hardware: NVIDIA Tesla T4 GPU (accelerated with custom CUDA kernels for Mamba).</a:t>
                </a:r>
              </a:p>
              <a:p>
                <a:pPr lvl="0"/>
                <a:r>
                  <a:rPr b="1"/>
                  <a:t>Statistical Rigor:</a:t>
                </a:r>
              </a:p>
              <a:p>
                <a:pPr lvl="1"/>
                <a:r>
                  <a:rPr/>
                  <a:t>3 independent seeded runs (</a:t>
                </a:r>
                <a:r>
                  <a:rPr>
                    <a:latin typeface="Courier"/>
                  </a:rPr>
                  <a:t>seeds: [1, 2, 3]</a:t>
                </a:r>
                <a:r>
                  <a:rPr/>
                  <a:t>).</a:t>
                </a:r>
              </a:p>
              <a:p>
                <a:pPr lvl="1"/>
                <a:r>
                  <a:rPr/>
                  <a:t>Evaluated on: </a:t>
                </a:r>
                <a:r>
                  <a:rPr b="1"/>
                  <a:t>Overall Accuracy (OA)</a:t>
                </a:r>
                <a:r>
                  <a:rPr/>
                  <a:t>, </a:t>
                </a:r>
                <a:r>
                  <a:rPr b="1"/>
                  <a:t>Average Accuracy (AA)</a:t>
                </a:r>
                <a:r>
                  <a:rPr/>
                  <a:t>, and </a:t>
                </a:r>
                <a:r>
                  <a:rPr b="1"/>
                  <a:t>Kappa Coefficient (</a:t>
                </a:r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  <a:r>
                  <a:rPr b="1"/>
                  <a:t>)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8. Results: Indian Pines Benchmark (16 Classes)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371600" /><a:gridCol w="1371600" /><a:gridCol w="1371600" /><a:gridCol w="1371600" /><a:gridCol w="1371600" /><a:gridCol w="1371600" /></a:tblGrid><a:tr h="0"><a:tc><a:txBody><a:bodyPr /><a:lstStyle /><a:p><a:pPr lvl="0" indent="0" marL="0"><a:buNone /></a:pPr><a:r><a:rPr /><a:t>Model</a:t></a:r></a:p></a:txBody><a:tcPr /></a:tc><a:tc><a:txBody><a:bodyPr /><a:lstStyle /><a:p><a:pPr lvl="0" indent="0" marL="0" algn="ctr"><a:buNone /></a:pPr><a:r><a:rPr /><a:t>OA (%)</a:t></a:r></a:p></a:txBody><a:tcPr /></a:tc><a:tc><a:txBody><a:bodyPr /><a:lstStyle /><a:p><a:pPr lvl="0" indent="0" marL="0" algn="ctr"><a:buNone /></a:pPr><a:r><a:rPr /><a:t>AA (%)</a:t></a:r></a:p></a:txBody><a:tcPr /></a:tc><a:tc><a:txBody><a:bodyPr /><a:lstStyle /><a:p><a:pPr lvl="0" indent="0" marL="0" algn="ctr"><a:buNone /></a:pPr><a:r><a:rPr /><a:t>Kappa (</a:t></a:r><a14:m><m:oMath xmlns:m="http://schemas.openxmlformats.org/officeDocument/2006/math"><m:r><m:rPr><m:sty m:val="p" /></m:rPr><m:t>×</m:t></m:r><m:r><m:t>100</m:t></m:r></m:oMath></a14:m><a:r><a:rPr /><a:t>)</a:t></a:r></a:p></a:txBody><a:tcPr /></a:tc><a:tc><a:txBody><a:bodyPr /><a:lstStyle /><a:p><a:pPr lvl="0" indent="0" marL="0" algn="ctr"><a:buNone /></a:pPr><a:r><a:rPr /><a:t>Best Run OA</a:t></a:r></a:p></a:txBody><a:tcPr /></a:tc><a:tc><a:txBody><a:bodyPr /><a:lstStyle /><a:p><a:pPr lvl="0" indent="0" marL="0" algn="ctr"><a:buNone /></a:pPr><a:r><a:rPr /><a:t>Avg. Train Time</a:t></a:r></a:p></a:txBody><a:tcPr /></a:tc></a:tr><a:tr h="0"><a:tc><a:txBody><a:bodyPr /><a:lstStyle /><a:p><a:pPr lvl="0" indent="0" marL="0"><a:buNone /></a:pPr><a:r><a:rPr b="1" /><a:t>MMFormer</a:t></a:r><a:r><a:rPr /><a:t> </a:t></a:r><a:r><a:rPr i="1" /><a:t>(2026 Transformer)</a:t></a:r></a:p></a:txBody></a:tc><a:tc><a:txBody><a:bodyPr /><a:lstStyle /><a:p><a:pPr lvl="0" indent="0" marL="0" algn="ctr"><a:buNone /></a:pPr><a14:m><m:oMath xmlns:m="http://schemas.openxmlformats.org/officeDocument/2006/math"><m:r><m:t>76.41</m:t></m:r><m:r><m:rPr><m:sty m:val="p" /></m:rPr><m:t>±</m:t></m:r><m:r><m:t>3.84</m:t></m:r></m:oMath></a14:m></a:p></a:txBody></a:tc><a:tc><a:txBody><a:bodyPr /><a:lstStyle /><a:p><a:pPr lvl="0" indent="0" marL="0" algn="ctr"><a:buNone /></a:pPr><a14:m><m:oMath xmlns:m="http://schemas.openxmlformats.org/officeDocument/2006/math"><m:r><m:t>87.10</m:t></m:r><m:r><m:rPr><m:sty m:val="p" /></m:rPr><m:t>±</m:t></m:r><m:r><m:t>1.96</m:t></m:r></m:oMath></a14:m></a:p></a:txBody></a:tc><a:tc><a:txBody><a:bodyPr /><a:lstStyle /><a:p><a:pPr lvl="0" indent="0" marL="0" algn="ctr"><a:buNone /></a:pPr><a14:m><m:oMath xmlns:m="http://schemas.openxmlformats.org/officeDocument/2006/math"><m:r><m:t>73.41</m:t></m:r><m:r><m:rPr><m:sty m:val="p" /></m:rPr><m:t>±</m:t></m:r><m:r><m:t>4.28</m:t></m:r></m:oMath></a14:m></a:p></a:txBody></a:tc><a:tc><a:txBody><a:bodyPr /><a:lstStyle /><a:p><a:pPr lvl="0" indent="0" marL="0" algn="ctr"><a:buNone /></a:pPr><a14:m><m:oMath xmlns:m="http://schemas.openxmlformats.org/officeDocument/2006/math"><m:r><m:t>80.81</m:t></m:r><m:r><m:rPr><m:sty m:val="p" /></m:rPr><m:t>%</m:t></m:r></m:oMath></a14:m></a:p></a:txBody></a:tc><a:tc><a:txBody><a:bodyPr /><a:lstStyle /><a:p><a:pPr lvl="0" indent="0" marL="0" algn="ctr"><a:buNone /></a:pPr><a:r><a:rPr /><a:t>~75s / run</a:t></a:r></a:p></a:txBody></a:tc></a:tr><a:tr h="0"><a:tc><a:txBody><a:bodyPr /><a:lstStyle /><a:p><a:pPr lvl="0" indent="0" marL="0"><a:buNone /></a:pPr><a:r><a:rPr b="1" /><a:t>R2Mamba</a:t></a:r><a:r><a:rPr /><a:t> </a:t></a:r><a:r><a:rPr i="1" /><a:t>(2026 Mamba / SSM)</a:t></a:r></a:p></a:txBody></a:tc><a:tc><a:txBody><a:bodyPr /><a:lstStyle /><a:p><a:pPr lvl="0" indent="0" marL="0" algn="ctr"><a:buNone /></a:pPr><a14:m><m:oMath xmlns:m="http://schemas.openxmlformats.org/officeDocument/2006/math"><m:r><m:rPr><m:sty m:val="b" /></m:rPr><m:t>83.89</m:t></m:r><m:r><m:rPr><m:sty m:val="b" /></m:rPr><m:t>±</m:t></m:r><m:r><m:rPr><m:sty m:val="b" /></m:rPr><m:t>1.66</m:t></m:r></m:oMath></a14:m></a:p></a:txBody></a:tc><a:tc><a:txBody><a:bodyPr /><a:lstStyle /><a:p><a:pPr lvl="0" indent="0" marL="0" algn="ctr"><a:buNone /></a:pPr><a14:m><m:oMath xmlns:m="http://schemas.openxmlformats.org/officeDocument/2006/math"><m:r><m:rPr><m:sty m:val="b" /></m:rPr><m:t>91.29</m:t></m:r><m:r><m:rPr><m:sty m:val="b" /></m:rPr><m:t>±</m:t></m:r><m:r><m:rPr><m:sty m:val="b" /></m:rPr><m:t>1.09</m:t></m:r></m:oMath></a14:m></a:p></a:txBody></a:tc><a:tc><a:txBody><a:bodyPr /><a:lstStyle /><a:p><a:pPr lvl="0" indent="0" marL="0" algn="ctr"><a:buNone /></a:pPr><a14:m><m:oMath xmlns:m="http://schemas.openxmlformats.org/officeDocument/2006/math"><m:r><m:rPr><m:sty m:val="b" /></m:rPr><m:t>81.71</m:t></m:r><m:r><m:rPr><m:sty m:val="b" /></m:rPr><m:t>±</m:t></m:r><m:r><m:rPr><m:sty m:val="b" /></m:rPr><m:t>1.87</m:t></m:r></m:oMath></a14:m></a:p></a:txBody></a:tc><a:tc><a:txBody><a:bodyPr /><a:lstStyle /><a:p><a:pPr lvl="0" indent="0" marL="0" algn="ctr"><a:buNone /></a:pPr><a14:m><m:oMath xmlns:m="http://schemas.openxmlformats.org/officeDocument/2006/math"><m:r><m:rPr><m:sty m:val="b" /></m:rPr><m:t>85.66</m:t></m:r><m:r><m:rPr><m:sty m:val="b" /></m:rPr><m:t>%</m:t></m:r></m:oMath></a14:m></a:p></a:txBody></a:tc><a:tc><a:txBody><a:bodyPr /><a:lstStyle /><a:p><a:pPr lvl="0" indent="0" marL="0" algn="ctr"><a:buNone /></a:pPr><a:r><a:rPr b="1" /><a:t>~26s / run</a:t></a:r></a:p></a:txBody></a:tc></a:tr><a:tr h="0"><a:tc><a:txBody><a:bodyPr /><a:lstStyle /><a:p><a:pPr lvl="0" indent="0" marL="0"><a:buNone /></a:pPr><a:r><a:rPr b="1" /><a:t>Performance Delta</a:t></a:r></a:p></a:txBody></a:tc><a:tc><a:txBody><a:bodyPr /><a:lstStyle /><a:p><a:pPr lvl="0" indent="0" marL="0" algn="ctr"><a:buNone /></a:pPr><a:r><a:rPr b="1" /><a:t>+7.48%</a:t></a:r></a:p></a:txBody></a:tc><a:tc><a:txBody><a:bodyPr /><a:lstStyle /><a:p><a:pPr lvl="0" indent="0" marL="0" algn="ctr"><a:buNone /></a:pPr><a:r><a:rPr b="1" /><a:t>+4.19%</a:t></a:r></a:p></a:txBody></a:tc><a:tc><a:txBody><a:bodyPr /><a:lstStyle /><a:p><a:pPr lvl="0" indent="0" marL="0" algn="ctr"><a:buNone /></a:pPr><a:r><a:rPr b="1" /><a:t>+8.30</a:t></a:r></a:p></a:txBody></a:tc><a:tc><a:txBody><a:bodyPr /><a:lstStyle /><a:p><a:pPr lvl="0" indent="0" marL="0" algn="ctr"><a:buNone /></a:pPr><a:r><a:rPr b="1" /><a:t>+4.85%</a:t></a:r></a:p></a:txBody></a:tc><a:tc><a:txBody><a:bodyPr /><a:lstStyle /><a:p><a:pPr lvl="0" indent="0" marL="0" algn="ctr"><a:buNone /></a:pPr><a:r><a:rPr b="1" /><a:t>~3x Faster</a:t></a:r></a:p></a:txBody></a:tc></a:tr></a:tbl></a:graphicData></a:graphic></p:graphicFrame></p:spTree></p:cSld>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Key Observations:</a:t>
                </a:r>
              </a:p>
              <a:p>
                <a:pPr lvl="1"/>
                <a:r>
                  <a:rPr>
                    <a:latin typeface="Courier"/>
                  </a:rPr>
                  <a:t>R2Mamba</a:t>
                </a:r>
                <a:r>
                  <a:rPr/>
                  <a:t> outperforms </a:t>
                </a:r>
                <a:r>
                  <a:rPr>
                    <a:latin typeface="Courier"/>
                  </a:rPr>
                  <a:t>MMFormer</a:t>
                </a:r>
                <a:r>
                  <a:rPr/>
                  <a:t> by </a:t>
                </a:r>
                <a:r>
                  <a:rPr b="1"/>
                  <a:t>+7.48% in Overall Accuracy</a:t>
                </a:r>
                <a:r>
                  <a:rPr/>
                  <a:t>.</a:t>
                </a:r>
              </a:p>
              <a:p>
                <a:pPr lvl="1"/>
                <a:r>
                  <a:rPr>
                    <a:latin typeface="Courier"/>
                  </a:rPr>
                  <a:t>R2Mamba</a:t>
                </a:r>
                <a:r>
                  <a:rPr/>
                  <a:t> exhibits significantly lower standard deviation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  <m:r>
                      <m:t>1.66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  <m:r>
                      <m:t>3.84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), indicating superior training stability on small agricultural samples.</a:t>
                </a:r>
              </a:p>
            </p:txBody>
          </p:sp>
        </mc:Choice>
      </mc:AlternateContent>
    </p:spTree>
  </p:cSld>
</p:sld>
</file>

<file path=ppt/slides/slide1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9. Results: Pavia University Benchmark (9 Classes)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371600" /><a:gridCol w="1371600" /><a:gridCol w="1371600" /><a:gridCol w="1371600" /><a:gridCol w="1371600" /><a:gridCol w="1371600" /></a:tblGrid><a:tr h="0"><a:tc><a:txBody><a:bodyPr /><a:lstStyle /><a:p><a:pPr lvl="0" indent="0" marL="0"><a:buNone /></a:pPr><a:r><a:rPr /><a:t>Model</a:t></a:r></a:p></a:txBody><a:tcPr /></a:tc><a:tc><a:txBody><a:bodyPr /><a:lstStyle /><a:p><a:pPr lvl="0" indent="0" marL="0" algn="ctr"><a:buNone /></a:pPr><a:r><a:rPr /><a:t>OA (%)</a:t></a:r></a:p></a:txBody><a:tcPr /></a:tc><a:tc><a:txBody><a:bodyPr /><a:lstStyle /><a:p><a:pPr lvl="0" indent="0" marL="0" algn="ctr"><a:buNone /></a:pPr><a:r><a:rPr /><a:t>AA (%)</a:t></a:r></a:p></a:txBody><a:tcPr /></a:tc><a:tc><a:txBody><a:bodyPr /><a:lstStyle /><a:p><a:pPr lvl="0" indent="0" marL="0" algn="ctr"><a:buNone /></a:pPr><a:r><a:rPr /><a:t>Kappa (</a:t></a:r><a14:m><m:oMath xmlns:m="http://schemas.openxmlformats.org/officeDocument/2006/math"><m:r><m:rPr><m:sty m:val="p" /></m:rPr><m:t>×</m:t></m:r><m:r><m:t>100</m:t></m:r></m:oMath></a14:m><a:r><a:rPr /><a:t>)</a:t></a:r></a:p></a:txBody><a:tcPr /></a:tc><a:tc><a:txBody><a:bodyPr /><a:lstStyle /><a:p><a:pPr lvl="0" indent="0" marL="0" algn="ctr"><a:buNone /></a:pPr><a:r><a:rPr /><a:t>Best Run OA</a:t></a:r></a:p></a:txBody><a:tcPr /></a:tc><a:tc><a:txBody><a:bodyPr /><a:lstStyle /><a:p><a:pPr lvl="0" indent="0" marL="0" algn="ctr"><a:buNone /></a:pPr><a:r><a:rPr /><a:t>Avg. Train Time</a:t></a:r></a:p></a:txBody><a:tcPr /></a:tc></a:tr><a:tr h="0"><a:tc><a:txBody><a:bodyPr /><a:lstStyle /><a:p><a:pPr lvl="0" indent="0" marL="0"><a:buNone /></a:pPr><a:r><a:rPr b="1" /><a:t>MMFormer</a:t></a:r><a:r><a:rPr /><a:t> </a:t></a:r><a:r><a:rPr i="1" /><a:t>(2026 Transformer)</a:t></a:r></a:p></a:txBody></a:tc><a:tc><a:txBody><a:bodyPr /><a:lstStyle /><a:p><a:pPr lvl="0" indent="0" marL="0" algn="ctr"><a:buNone /></a:pPr><a14:m><m:oMath xmlns:m="http://schemas.openxmlformats.org/officeDocument/2006/math"><m:r><m:t>92.45</m:t></m:r><m:r><m:rPr><m:sty m:val="p" /></m:rPr><m:t>±</m:t></m:r><m:r><m:t>5.98</m:t></m:r></m:oMath></a14:m></a:p></a:txBody></a:tc><a:tc><a:txBody><a:bodyPr /><a:lstStyle /><a:p><a:pPr lvl="0" indent="0" marL="0" algn="ctr"><a:buNone /></a:pPr><a14:m><m:oMath xmlns:m="http://schemas.openxmlformats.org/officeDocument/2006/math"><m:r><m:t>95.90</m:t></m:r><m:r><m:rPr><m:sty m:val="p" /></m:rPr><m:t>±</m:t></m:r><m:r><m:t>1.80</m:t></m:r></m:oMath></a14:m></a:p></a:txBody></a:tc><a:tc><a:txBody><a:bodyPr /><a:lstStyle /><a:p><a:pPr lvl="0" indent="0" marL="0" algn="ctr"><a:buNone /></a:pPr><a14:m><m:oMath xmlns:m="http://schemas.openxmlformats.org/officeDocument/2006/math"><m:r><m:t>90.44</m:t></m:r><m:r><m:rPr><m:sty m:val="p" /></m:rPr><m:t>±</m:t></m:r><m:r><m:t>7.36</m:t></m:r></m:oMath></a14:m></a:p></a:txBody></a:tc><a:tc><a:txBody><a:bodyPr /><a:lstStyle /><a:p><a:pPr lvl="0" indent="0" marL="0" algn="ctr"><a:buNone /></a:pPr><a14:m><m:oMath xmlns:m="http://schemas.openxmlformats.org/officeDocument/2006/math"><m:r><m:t>96.80</m:t></m:r><m:r><m:rPr><m:sty m:val="p" /></m:rPr><m:t>%</m:t></m:r></m:oMath></a14:m></a:p></a:txBody></a:tc><a:tc><a:txBody><a:bodyPr /><a:lstStyle /><a:p><a:pPr lvl="0" indent="0" marL="0" algn="ctr"><a:buNone /></a:pPr><a:r><a:rPr /><a:t>~140s / run</a:t></a:r></a:p></a:txBody></a:tc></a:tr><a:tr h="0"><a:tc><a:txBody><a:bodyPr /><a:lstStyle /><a:p><a:pPr lvl="0" indent="0" marL="0"><a:buNone /></a:pPr><a:r><a:rPr b="1" /><a:t>R2Mamba</a:t></a:r><a:r><a:rPr /><a:t> </a:t></a:r><a:r><a:rPr i="1" /><a:t>(2026 Mamba / SSM)</a:t></a:r></a:p></a:txBody></a:tc><a:tc><a:txBody><a:bodyPr /><a:lstStyle /><a:p><a:pPr lvl="0" indent="0" marL="0" algn="ctr"><a:buNone /></a:pPr><a14:m><m:oMath xmlns:m="http://schemas.openxmlformats.org/officeDocument/2006/math"><m:r><m:rPr><m:sty m:val="b" /></m:rPr><m:t>97.59</m:t></m:r><m:r><m:rPr><m:sty m:val="b" /></m:rPr><m:t>±</m:t></m:r><m:r><m:rPr><m:sty m:val="b" /></m:rPr><m:t>0.60</m:t></m:r></m:oMath></a14:m></a:p></a:txBody></a:tc><a:tc><a:txBody><a:bodyPr /><a:lstStyle /><a:p><a:pPr lvl="0" indent="0" marL="0" algn="ctr"><a:buNone /></a:pPr><a14:m><m:oMath xmlns:m="http://schemas.openxmlformats.org/officeDocument/2006/math"><m:r><m:rPr><m:sty m:val="b" /></m:rPr><m:t>97.95</m:t></m:r><m:r><m:rPr><m:sty m:val="b" /></m:rPr><m:t>±</m:t></m:r><m:r><m:rPr><m:sty m:val="b" /></m:rPr><m:t>0.53</m:t></m:r></m:oMath></a14:m></a:p></a:txBody></a:tc><a:tc><a:txBody><a:bodyPr /><a:lstStyle /><a:p><a:pPr lvl="0" indent="0" marL="0" algn="ctr"><a:buNone /></a:pPr><a14:m><m:oMath xmlns:m="http://schemas.openxmlformats.org/officeDocument/2006/math"><m:r><m:rPr><m:sty m:val="b" /></m:rPr><m:t>96.86</m:t></m:r><m:r><m:rPr><m:sty m:val="b" /></m:rPr><m:t>±</m:t></m:r><m:r><m:rPr><m:sty m:val="b" /></m:rPr><m:t>0.77</m:t></m:r></m:oMath></a14:m></a:p></a:txBody></a:tc><a:tc><a:txBody><a:bodyPr /><a:lstStyle /><a:p><a:pPr lvl="0" indent="0" marL="0" algn="ctr"><a:buNone /></a:pPr><a14:m><m:oMath xmlns:m="http://schemas.openxmlformats.org/officeDocument/2006/math"><m:r><m:rPr><m:sty m:val="b" /></m:rPr><m:t>98.03</m:t></m:r><m:r><m:rPr><m:sty m:val="b" /></m:rPr><m:t>%</m:t></m:r></m:oMath></a14:m></a:p></a:txBody></a:tc><a:tc><a:txBody><a:bodyPr /><a:lstStyle /><a:p><a:pPr lvl="0" indent="0" marL="0" algn="ctr"><a:buNone /></a:pPr><a:r><a:rPr b="1" /><a:t>~40s / run</a:t></a:r></a:p></a:txBody></a:tc></a:tr><a:tr h="0"><a:tc><a:txBody><a:bodyPr /><a:lstStyle /><a:p><a:pPr lvl="0" indent="0" marL="0"><a:buNone /></a:pPr><a:r><a:rPr b="1" /><a:t>Performance Delta</a:t></a:r></a:p></a:txBody></a:tc><a:tc><a:txBody><a:bodyPr /><a:lstStyle /><a:p><a:pPr lvl="0" indent="0" marL="0" algn="ctr"><a:buNone /></a:pPr><a:r><a:rPr b="1" /><a:t>+5.14%</a:t></a:r></a:p></a:txBody></a:tc><a:tc><a:txBody><a:bodyPr /><a:lstStyle /><a:p><a:pPr lvl="0" indent="0" marL="0" algn="ctr"><a:buNone /></a:pPr><a:r><a:rPr b="1" /><a:t>+2.05%</a:t></a:r></a:p></a:txBody></a:tc><a:tc><a:txBody><a:bodyPr /><a:lstStyle /><a:p><a:pPr lvl="0" indent="0" marL="0" algn="ctr"><a:buNone /></a:pPr><a:r><a:rPr b="1" /><a:t>+6.42</a:t></a:r></a:p></a:txBody></a:tc><a:tc><a:txBody><a:bodyPr /><a:lstStyle /><a:p><a:pPr lvl="0" indent="0" marL="0" algn="ctr"><a:buNone /></a:pPr><a:r><a:rPr b="1" /><a:t>+1.23%</a:t></a:r></a:p></a:txBody></a:tc><a:tc><a:txBody><a:bodyPr /><a:lstStyle /><a:p><a:pPr lvl="0" indent="0" marL="0" algn="ctr"><a:buNone /></a:pPr><a:r><a:rPr b="1" /><a:t>~3.5x Faster</a:t></a:r></a:p></a:txBody></a:tc></a:tr></a:tbl></a:graphicData></a:graphic></p:graphicFrame></p:spTree></p:cSld>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Key Observations:</a:t>
                </a:r>
              </a:p>
              <a:p>
                <a:pPr lvl="1"/>
                <a:r>
                  <a:rPr>
                    <a:latin typeface="Courier"/>
                  </a:rPr>
                  <a:t>R2Mamba</a:t>
                </a:r>
                <a:r>
                  <a:rPr/>
                  <a:t> reaches </a:t>
                </a:r>
                <a14:m>
                  <m:oMath xmlns:m="http://schemas.openxmlformats.org/officeDocument/2006/math">
                    <m:r>
                      <m:t>98.03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 b="1"/>
                  <a:t> peak accuracy</a:t>
                </a:r>
                <a:r>
                  <a:rPr/>
                  <a:t> with an ultra-consistent variance of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  <m:r>
                      <m:t>0.60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:r>
                  <a:rPr>
                    <a:latin typeface="Courier"/>
                  </a:rPr>
                  <a:t>MMFormer</a:t>
                </a:r>
                <a:r>
                  <a:rPr/>
                  <a:t> experiences higher variance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  <m:r>
                      <m:t>5.98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) due to the quadratic sensitivity of multi-head self-attention on urban edges.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Qualitative Visual Analysis: Classification Maps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Arranged Best-Run Maps (Pavia University &amp; Indian Pines):</a:t>
                </a:r>
              </a:p>
              <a:p>
                <a:pPr lvl="1"/>
                <a:r>
                  <a:rPr b="1"/>
                  <a:t>Noise Reduction: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R2Mamba</a:t>
                </a:r>
                <a:r>
                  <a:rPr/>
                  <a:t> produces cohesive, smooth regions with minimal salt-and-pepper artifacts.</a:t>
                </a:r>
              </a:p>
              <a:p>
                <a:pPr lvl="1"/>
                <a:r>
                  <a:rPr b="1"/>
                  <a:t>Boundary Precision:</a:t>
                </a:r>
                <a:r>
                  <a:rPr/>
                  <a:t> Route-reliability gating preserves sharp boundaries between adjacent fields and road corridors.</a:t>
                </a:r>
              </a:p>
              <a:p>
                <a:pPr lvl="1"/>
                <a:r>
                  <a:rPr b="1"/>
                  <a:t>Minority Class Recognition:</a:t>
                </a:r>
                <a:r>
                  <a:rPr/>
                  <a:t> High Average Accuracy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&gt;</m:t>
                    </m:r>
                    <m:r>
                      <m:t>91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&gt;</m:t>
                    </m:r>
                    <m:r>
                      <m:t>97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) confirms balanced recognition across rare classes.</a:t>
                </a:r>
              </a:p>
              <a:p>
                <a:pPr lvl="0" indent="0" marL="0">
                  <a:buNone/>
                </a:pPr>
                <a:r>
                  <a:rPr i="1"/>
                  <a:t>(Full high-resolution maps exported in </a:t>
                </a:r>
                <a:r>
                  <a:rPr i="1">
                    <a:latin typeface="Courier"/>
                  </a:rPr>
                  <a:t>results/classification_maps/</a:t>
                </a:r>
                <a:r>
                  <a:rPr i="1"/>
                  <a:t>)</a:t>
                </a:r>
              </a:p>
            </p:txBody>
          </p:sp>
        </mc:Choice>
      </mc:AlternateContent>
    </p:spTree>
  </p:cSld>
</p:sld>
</file>

<file path=ppt/slides/slide1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11. Computational Complexity &amp; Efficiency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Architectural Aspect</a:t></a:r></a:p></a:txBody><a:tcPr /></a:tc><a:tc><a:txBody><a:bodyPr /><a:lstStyle /><a:p><a:pPr lvl="0" indent="0" marL="0"><a:buNone /></a:pPr><a:r><a:rPr /><a:t>MMFormer (Vision Transformer)</a:t></a:r></a:p></a:txBody><a:tcPr /></a:tc><a:tc><a:txBody><a:bodyPr /><a:lstStyle /><a:p><a:pPr lvl="0" indent="0" marL="0"><a:buNone /></a:pPr><a:r><a:rPr /><a:t>R2Mamba (State Space Model)</a:t></a:r></a:p></a:txBody><a:tcPr /></a:tc></a:tr><a:tr h="0"><a:tc><a:txBody><a:bodyPr /><a:lstStyle /><a:p><a:pPr lvl="0" indent="0" marL="0"><a:buNone /></a:pPr><a:r><a:rPr b="1" /><a:t>Theoretical Complexity</a:t></a:r></a:p></a:txBody></a:tc><a:tc><a:txBody><a:bodyPr /><a:lstStyle /><a:p><a:pPr lvl="0" indent="0" marL="0"><a:buNone /></a:pPr><a:r><a:rPr b="1" /><a:t>Quadratic </a:t></a:r><a14:m><m:oMath xmlns:m="http://schemas.openxmlformats.org/officeDocument/2006/math"><m:r><m:t>O</m:t></m:r><m:d><m:dPr><m:begChr m:val="(" /><m:endChr m:val=")" /><m:sepChr m:val="" /><m:grow /></m:dPr><m:e><m:sSup><m:e><m:r><m:t>N</m:t></m:r></m:e><m:sup><m:r><m:t>2</m:t></m:r></m:sup></m:sSup></m:e></m:d></m:oMath></a14:m></a:p></a:txBody></a:tc><a:tc><a:txBody><a:bodyPr /><a:lstStyle /><a:p><a:pPr lvl="0" indent="0" marL="0"><a:buNone /></a:pPr><a:r><a:rPr b="1" /><a:t>Linear </a:t></a:r><a14:m><m:oMath xmlns:m="http://schemas.openxmlformats.org/officeDocument/2006/math"><m:r><m:t>O</m:t></m:r><m:d><m:dPr><m:begChr m:val="(" /><m:endChr m:val=")" /><m:sepChr m:val="" /><m:grow /></m:dPr><m:e><m:r><m:t>N</m:t></m:r></m:e></m:d></m:oMath></a14:m></a:p></a:txBody></a:tc></a:tr><a:tr h="0"><a:tc><a:txBody><a:bodyPr /><a:lstStyle /><a:p><a:pPr lvl="0" indent="0" marL="0"><a:buNone /></a:pPr><a:r><a:rPr b="1" /><a:t>GPU Memory Footprint</a:t></a:r></a:p></a:txBody></a:tc><a:tc><a:txBody><a:bodyPr /><a:lstStyle /><a:p><a:pPr lvl="0" indent="0" marL="0"><a:buNone /></a:pPr><a:r><a:rPr /><a:t>Scales quadratically with patch/tokens</a:t></a:r></a:p></a:txBody></a:tc><a:tc><a:txBody><a:bodyPr /><a:lstStyle /><a:p><a:pPr lvl="0" indent="0" marL="0"><a:buNone /></a:pPr><a:r><a:rPr /><a:t>Constant memory per recurrent step</a:t></a:r></a:p></a:txBody></a:tc></a:tr><a:tr h="0"><a:tc><a:txBody><a:bodyPr /><a:lstStyle /><a:p><a:pPr lvl="0" indent="0" marL="0"><a:buNone /></a:pPr><a:r><a:rPr b="1" /><a:t>Convergence Speed</a:t></a:r></a:p></a:txBody></a:tc><a:tc><a:txBody><a:bodyPr /><a:lstStyle /><a:p><a:pPr lvl="0" indent="0" marL="0"><a:buNone /></a:pPr><a:r><a:rPr /><a:t>Requires more epochs to stabilize attention</a:t></a:r></a:p></a:txBody></a:tc><a:tc><a:txBody><a:bodyPr /><a:lstStyle /><a:p><a:pPr lvl="0" indent="0" marL="0"><a:buNone /></a:pPr><a:r><a:rPr /><a:t>Converges rapidly within 25–40 epochs</a:t></a:r></a:p></a:txBody></a:tc></a:tr><a:tr h="0"><a:tc><a:txBody><a:bodyPr /><a:lstStyle /><a:p><a:pPr lvl="0" indent="0" marL="0"><a:buNone /></a:pPr><a:r><a:rPr b="1" /><a:t>Training Latency</a:t></a:r></a:p></a:txBody></a:tc><a:tc><a:txBody><a:bodyPr /><a:lstStyle /><a:p><a:pPr lvl="0" indent="0" marL="0"><a:buNone /></a:pPr><a:r><a:rPr /><a:t>~75s – 140s per run</a:t></a:r></a:p></a:txBody></a:tc><a:tc><a:txBody><a:bodyPr /><a:lstStyle /><a:p><a:pPr lvl="0" indent="0" marL="0"><a:buNone /></a:pPr><a:r><a:rPr b="1" /><a:t>~26s – 40s per run (3–3.5x faster)</a:t></a:r></a:p></a:txBody></a:tc></a:tr><a:tr h="0"><a:tc><a:txBody><a:bodyPr /><a:lstStyle /><a:p><a:pPr lvl="0" indent="0" marL="0"><a:buNone /></a:pPr><a:r><a:rPr b="1" /><a:t>Inference Scalability</a:t></a:r></a:p></a:txBody></a:tc><a:tc><a:txBody><a:bodyPr /><a:lstStyle /><a:p><a:pPr lvl="0" indent="0" marL="0"><a:buNone /></a:pPr><a:r><a:rPr /><a:t>Heavy full-image test inference</a:t></a:r></a:p></a:txBody></a:tc><a:tc><a:txBody><a:bodyPr /><a:lstStyle /><a:p><a:pPr lvl="0" indent="0" marL="0"><a:buNone /></a:pPr><a:r><a:rPr /><a:t>Ultra-fast sequential scan across large scenes</a:t></a:r></a:p></a:txBody></a:tc></a:tr></a:tbl></a:graphicData></a:graphic></p:graphicFrame></p:spTree></p:cSld>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Summary &amp; 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1. Systematic Benchmark:</a:t>
            </a:r>
            <a:r>
              <a:rPr/>
              <a:t> Established the first rigorous comparison between 2026 SOTA Transformer and Mamba architectures under identical protocols.</a:t>
            </a:r>
          </a:p>
          <a:p>
            <a:pPr lvl="0"/>
            <a:r>
              <a:rPr b="1"/>
              <a:t>2. Mamba Superiority:</a:t>
            </a:r>
            <a:r>
              <a:rPr/>
              <a:t> Demonstrated that selective State Space Models (</a:t>
            </a:r>
            <a:r>
              <a:rPr>
                <a:latin typeface="Courier"/>
              </a:rPr>
              <a:t>R2Mamba</a:t>
            </a:r>
            <a:r>
              <a:rPr/>
              <a:t>) deliver </a:t>
            </a:r>
            <a:r>
              <a:rPr b="1"/>
              <a:t>higher accuracy (+5% to +7.5% OA)</a:t>
            </a:r>
            <a:r>
              <a:rPr/>
              <a:t>, </a:t>
            </a:r>
            <a:r>
              <a:rPr b="1"/>
              <a:t>greater stability</a:t>
            </a:r>
            <a:r>
              <a:rPr/>
              <a:t>, and </a:t>
            </a:r>
            <a:r>
              <a:rPr b="1"/>
              <a:t>3.5x faster execution</a:t>
            </a:r>
            <a:r>
              <a:rPr/>
              <a:t>.</a:t>
            </a:r>
          </a:p>
          <a:p>
            <a:pPr lvl="0"/>
            <a:r>
              <a:rPr b="1"/>
              <a:t>3. Fully Reproducible:</a:t>
            </a:r>
            <a:r>
              <a:rPr/>
              <a:t> Open-source GitHub repository with automated YAML configs, seeded runs, and complete LaTeX/map artifacts.</a:t>
            </a:r>
          </a:p>
          <a:p>
            <a:pPr lvl="0"/>
            <a:r>
              <a:rPr b="1"/>
              <a:t>4. Modular Design:</a:t>
            </a:r>
            <a:r>
              <a:rPr/>
              <a:t> Readily extensible to additional datasets, patch scales, and multimodal fusion.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Future Work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Scalability to UAV Datasets:</a:t>
            </a:r>
            <a:r>
              <a:rPr/>
              <a:t> Evaluating performance on ultra-high-resolution drone datasets (WHU-Hi series).</a:t>
            </a:r>
          </a:p>
          <a:p>
            <a:pPr lvl="0"/>
            <a:r>
              <a:rPr b="1"/>
              <a:t>Multimodal Remote Sensing:</a:t>
            </a:r>
            <a:r>
              <a:rPr/>
              <a:t> Extending </a:t>
            </a:r>
            <a:r>
              <a:rPr>
                <a:latin typeface="Courier"/>
              </a:rPr>
              <a:t>R2Mamba</a:t>
            </a:r>
            <a:r>
              <a:rPr/>
              <a:t> to fuse Hyperspectral cubes with LiDAR height elevation maps.</a:t>
            </a:r>
          </a:p>
          <a:p>
            <a:pPr lvl="0"/>
            <a:r>
              <a:rPr b="1"/>
              <a:t>Model Compression:</a:t>
            </a:r>
            <a:r>
              <a:rPr/>
              <a:t> Exploring knowledge distillation to deploy lightweight State Space Models directly on satellite edge hardware.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 b="1"/>
              <a:t>Project Repository:</a:t>
            </a:r>
            <a:br/>
            <a:r>
              <a:rPr>
                <a:hlinkClick r:id="rId2"/>
              </a:rPr>
              <a:t>github.com/lPrincel/HSI-Classification-Minor-Project</a:t>
            </a:r>
          </a:p>
          <a:p>
            <a:pPr lvl="0" indent="0" marL="0">
              <a:buNone/>
            </a:pPr>
            <a:r>
              <a:rPr i="1"/>
              <a:t>Questions and Feedback are welcome!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Hyperspectral Image Classification: MMFormer vs. R2Mamba</dc:title>
  <dc:creator>Prince Prajapati (Lead), Team Members | Dept. of Computer Science &amp; Engineering</dc:creator>
  <cp:keywords/>
  <dcterms:created xsi:type="dcterms:W3CDTF">2026-10-28T18:19:05Z</dcterms:created>
  <dcterms:modified xsi:type="dcterms:W3CDTF">2026-10-28T18:19:05Z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Academic Year 2026</vt:lpwstr>
  </property>
  <property fmtid="{D5CDD505-2E9C-101B-9397-08002B2CF9AE}" pid="3" name="subtitle">
    <vt:lpwstr>Benchmarking 2026 Vision Transformers against Selective State Space Models</vt:lpwstr>
  </property>
</Properties>
</file>