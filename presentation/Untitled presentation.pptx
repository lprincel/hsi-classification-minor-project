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81" r:id="rId4"/>
    <p:sldMasterId id="2147483682" r:id="rId5"/>
    <p:sldMasterId id="2147483683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21" Type="http://schemas.openxmlformats.org/officeDocument/2006/relationships/slide" Target="slides/slide14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2.xml"/><Relationship Id="rId6" Type="http://schemas.openxmlformats.org/officeDocument/2006/relationships/slideMaster" Target="slideMasters/slideMaster3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h174aa7908d994bde_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h174aa7908d994bde_8_0:notes"/>
          <p:cNvSpPr/>
          <p:nvPr>
            <p:ph idx="2" type="sldImg"/>
          </p:nvPr>
        </p:nvSpPr>
        <p:spPr>
          <a:xfrm>
            <a:off x="1142653" y="685800"/>
            <a:ext cx="45733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h174aa7908d994bde_8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h174aa7908d994bde_8_14:notes"/>
          <p:cNvSpPr/>
          <p:nvPr>
            <p:ph idx="2" type="sldImg"/>
          </p:nvPr>
        </p:nvSpPr>
        <p:spPr>
          <a:xfrm>
            <a:off x="1142653" y="685800"/>
            <a:ext cx="45733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h174aa7908d994bde_8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h174aa7908d994bde_8_53:notes"/>
          <p:cNvSpPr/>
          <p:nvPr>
            <p:ph idx="2" type="sldImg"/>
          </p:nvPr>
        </p:nvSpPr>
        <p:spPr>
          <a:xfrm>
            <a:off x="1142653" y="685800"/>
            <a:ext cx="45733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h174aa7908d994bde_8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h174aa7908d994bde_8_78:notes"/>
          <p:cNvSpPr/>
          <p:nvPr>
            <p:ph idx="2" type="sldImg"/>
          </p:nvPr>
        </p:nvSpPr>
        <p:spPr>
          <a:xfrm>
            <a:off x="1142653" y="685800"/>
            <a:ext cx="45733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h174aa7908d994bde_8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h174aa7908d994bde_8_110:notes"/>
          <p:cNvSpPr/>
          <p:nvPr>
            <p:ph idx="2" type="sldImg"/>
          </p:nvPr>
        </p:nvSpPr>
        <p:spPr>
          <a:xfrm>
            <a:off x="1142653" y="685800"/>
            <a:ext cx="45733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h174aa7908d994bde_8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h174aa7908d994bde_8_134:notes"/>
          <p:cNvSpPr/>
          <p:nvPr>
            <p:ph idx="2" type="sldImg"/>
          </p:nvPr>
        </p:nvSpPr>
        <p:spPr>
          <a:xfrm>
            <a:off x="1142653" y="685800"/>
            <a:ext cx="45733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h174aa7908d994bde_8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h174aa7908d994bde_8_153:notes"/>
          <p:cNvSpPr/>
          <p:nvPr>
            <p:ph idx="2" type="sldImg"/>
          </p:nvPr>
        </p:nvSpPr>
        <p:spPr>
          <a:xfrm>
            <a:off x="1142653" y="685800"/>
            <a:ext cx="45733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h174aa7908d994bde_8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h174aa7908d994bde_8_196:notes"/>
          <p:cNvSpPr/>
          <p:nvPr>
            <p:ph idx="2" type="sldImg"/>
          </p:nvPr>
        </p:nvSpPr>
        <p:spPr>
          <a:xfrm>
            <a:off x="1142653" y="685800"/>
            <a:ext cx="45733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h174aa7908d994bde_8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h174aa7908d994bde_8_214:notes"/>
          <p:cNvSpPr/>
          <p:nvPr>
            <p:ph idx="2" type="sldImg"/>
          </p:nvPr>
        </p:nvSpPr>
        <p:spPr>
          <a:xfrm>
            <a:off x="1142653" y="685800"/>
            <a:ext cx="45733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h174aa7908d994bde_8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h174aa7908d994bde_8_289:notes"/>
          <p:cNvSpPr/>
          <p:nvPr>
            <p:ph idx="2" type="sldImg"/>
          </p:nvPr>
        </p:nvSpPr>
        <p:spPr>
          <a:xfrm>
            <a:off x="1142653" y="685800"/>
            <a:ext cx="45733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h174aa7908d994bde_8_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h174aa7908d994bde_8_364:notes"/>
          <p:cNvSpPr/>
          <p:nvPr>
            <p:ph idx="2" type="sldImg"/>
          </p:nvPr>
        </p:nvSpPr>
        <p:spPr>
          <a:xfrm>
            <a:off x="1142653" y="685800"/>
            <a:ext cx="45733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h174aa7908d994bde_8_3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h174aa7908d994bde_8_382:notes"/>
          <p:cNvSpPr/>
          <p:nvPr>
            <p:ph idx="2" type="sldImg"/>
          </p:nvPr>
        </p:nvSpPr>
        <p:spPr>
          <a:xfrm>
            <a:off x="1142653" y="685800"/>
            <a:ext cx="45733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h174aa7908d994bde_8_4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h174aa7908d994bde_8_435:notes"/>
          <p:cNvSpPr/>
          <p:nvPr>
            <p:ph idx="2" type="sldImg"/>
          </p:nvPr>
        </p:nvSpPr>
        <p:spPr>
          <a:xfrm>
            <a:off x="1142653" y="685800"/>
            <a:ext cx="45733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h174aa7908d994bde_8_4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h174aa7908d994bde_8_450:notes"/>
          <p:cNvSpPr/>
          <p:nvPr>
            <p:ph idx="2" type="sldImg"/>
          </p:nvPr>
        </p:nvSpPr>
        <p:spPr>
          <a:xfrm>
            <a:off x="1142653" y="685800"/>
            <a:ext cx="45733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514479" y="1597819"/>
            <a:ext cx="5830759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1028957" y="2914650"/>
            <a:ext cx="4801801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342986" y="205978"/>
            <a:ext cx="6173744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42986" y="1200150"/>
            <a:ext cx="6173744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541870" y="3305175"/>
            <a:ext cx="5830759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541870" y="2180035"/>
            <a:ext cx="5830759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42986" y="205978"/>
            <a:ext cx="6173744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342986" y="1200150"/>
            <a:ext cx="3029708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3487022" y="1200150"/>
            <a:ext cx="3029708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342986" y="205978"/>
            <a:ext cx="6173744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342986" y="1151335"/>
            <a:ext cx="3030899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342986" y="1631156"/>
            <a:ext cx="3030899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3484640" y="1151335"/>
            <a:ext cx="3032090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3484640" y="1631156"/>
            <a:ext cx="3032090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42986" y="205978"/>
            <a:ext cx="6173744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42986" y="204788"/>
            <a:ext cx="2256799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2681958" y="204788"/>
            <a:ext cx="3834772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342986" y="1076325"/>
            <a:ext cx="2256799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344552" y="3600450"/>
            <a:ext cx="411583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344552" y="459581"/>
            <a:ext cx="411583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344552" y="4025503"/>
            <a:ext cx="411583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42986" y="205978"/>
            <a:ext cx="6173744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732622" y="-189486"/>
            <a:ext cx="3394472" cy="61737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3550690" y="1628582"/>
            <a:ext cx="4388644" cy="1543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406654" y="142311"/>
            <a:ext cx="4388644" cy="45159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3" name="Google Shape;133;p26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4" name="Google Shape;134;p26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7"/>
          <p:cNvSpPr txBox="1"/>
          <p:nvPr>
            <p:ph type="ctrTitle"/>
          </p:nvPr>
        </p:nvSpPr>
        <p:spPr>
          <a:xfrm>
            <a:off x="514479" y="1597819"/>
            <a:ext cx="5830759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7" name="Google Shape;137;p27"/>
          <p:cNvSpPr txBox="1"/>
          <p:nvPr>
            <p:ph idx="1" type="subTitle"/>
          </p:nvPr>
        </p:nvSpPr>
        <p:spPr>
          <a:xfrm>
            <a:off x="1028957" y="2914650"/>
            <a:ext cx="4801801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38" name="Google Shape;138;p27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9" name="Google Shape;139;p27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0" name="Google Shape;140;p27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8"/>
          <p:cNvSpPr txBox="1"/>
          <p:nvPr>
            <p:ph type="title"/>
          </p:nvPr>
        </p:nvSpPr>
        <p:spPr>
          <a:xfrm>
            <a:off x="342986" y="205978"/>
            <a:ext cx="6173744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3" name="Google Shape;143;p28"/>
          <p:cNvSpPr txBox="1"/>
          <p:nvPr>
            <p:ph idx="1" type="body"/>
          </p:nvPr>
        </p:nvSpPr>
        <p:spPr>
          <a:xfrm>
            <a:off x="342986" y="1200150"/>
            <a:ext cx="6173744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4" name="Google Shape;144;p28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5" name="Google Shape;145;p28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6" name="Google Shape;146;p28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9"/>
          <p:cNvSpPr txBox="1"/>
          <p:nvPr>
            <p:ph type="title"/>
          </p:nvPr>
        </p:nvSpPr>
        <p:spPr>
          <a:xfrm>
            <a:off x="541870" y="3305175"/>
            <a:ext cx="5830759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9" name="Google Shape;149;p29"/>
          <p:cNvSpPr txBox="1"/>
          <p:nvPr>
            <p:ph idx="1" type="body"/>
          </p:nvPr>
        </p:nvSpPr>
        <p:spPr>
          <a:xfrm>
            <a:off x="541870" y="2180035"/>
            <a:ext cx="5830759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50" name="Google Shape;150;p29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1" name="Google Shape;151;p29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2" name="Google Shape;152;p29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0"/>
          <p:cNvSpPr txBox="1"/>
          <p:nvPr>
            <p:ph type="title"/>
          </p:nvPr>
        </p:nvSpPr>
        <p:spPr>
          <a:xfrm>
            <a:off x="342986" y="205978"/>
            <a:ext cx="6173744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5" name="Google Shape;155;p30"/>
          <p:cNvSpPr txBox="1"/>
          <p:nvPr>
            <p:ph idx="1" type="body"/>
          </p:nvPr>
        </p:nvSpPr>
        <p:spPr>
          <a:xfrm>
            <a:off x="342986" y="1200150"/>
            <a:ext cx="3029708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156" name="Google Shape;156;p30"/>
          <p:cNvSpPr txBox="1"/>
          <p:nvPr>
            <p:ph idx="2" type="body"/>
          </p:nvPr>
        </p:nvSpPr>
        <p:spPr>
          <a:xfrm>
            <a:off x="3487022" y="1200150"/>
            <a:ext cx="3029708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157" name="Google Shape;157;p30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8" name="Google Shape;158;p30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9" name="Google Shape;159;p30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1"/>
          <p:cNvSpPr txBox="1"/>
          <p:nvPr>
            <p:ph type="title"/>
          </p:nvPr>
        </p:nvSpPr>
        <p:spPr>
          <a:xfrm>
            <a:off x="342986" y="205978"/>
            <a:ext cx="6173744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2" name="Google Shape;162;p31"/>
          <p:cNvSpPr txBox="1"/>
          <p:nvPr>
            <p:ph idx="1" type="body"/>
          </p:nvPr>
        </p:nvSpPr>
        <p:spPr>
          <a:xfrm>
            <a:off x="342986" y="1151335"/>
            <a:ext cx="3030899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63" name="Google Shape;163;p31"/>
          <p:cNvSpPr txBox="1"/>
          <p:nvPr>
            <p:ph idx="2" type="body"/>
          </p:nvPr>
        </p:nvSpPr>
        <p:spPr>
          <a:xfrm>
            <a:off x="342986" y="1631156"/>
            <a:ext cx="3030899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164" name="Google Shape;164;p31"/>
          <p:cNvSpPr txBox="1"/>
          <p:nvPr>
            <p:ph idx="3" type="body"/>
          </p:nvPr>
        </p:nvSpPr>
        <p:spPr>
          <a:xfrm>
            <a:off x="3484640" y="1151335"/>
            <a:ext cx="3032090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65" name="Google Shape;165;p31"/>
          <p:cNvSpPr txBox="1"/>
          <p:nvPr>
            <p:ph idx="4" type="body"/>
          </p:nvPr>
        </p:nvSpPr>
        <p:spPr>
          <a:xfrm>
            <a:off x="3484640" y="1631156"/>
            <a:ext cx="3032090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166" name="Google Shape;166;p31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7" name="Google Shape;167;p31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8" name="Google Shape;168;p31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2"/>
          <p:cNvSpPr txBox="1"/>
          <p:nvPr>
            <p:ph type="title"/>
          </p:nvPr>
        </p:nvSpPr>
        <p:spPr>
          <a:xfrm>
            <a:off x="342986" y="205978"/>
            <a:ext cx="6173744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1" name="Google Shape;171;p32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2" name="Google Shape;172;p32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3" name="Google Shape;173;p32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3"/>
          <p:cNvSpPr txBox="1"/>
          <p:nvPr>
            <p:ph type="title"/>
          </p:nvPr>
        </p:nvSpPr>
        <p:spPr>
          <a:xfrm>
            <a:off x="342986" y="204788"/>
            <a:ext cx="2256799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6" name="Google Shape;176;p33"/>
          <p:cNvSpPr txBox="1"/>
          <p:nvPr>
            <p:ph idx="1" type="body"/>
          </p:nvPr>
        </p:nvSpPr>
        <p:spPr>
          <a:xfrm>
            <a:off x="2681958" y="204788"/>
            <a:ext cx="3834772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77" name="Google Shape;177;p33"/>
          <p:cNvSpPr txBox="1"/>
          <p:nvPr>
            <p:ph idx="2" type="body"/>
          </p:nvPr>
        </p:nvSpPr>
        <p:spPr>
          <a:xfrm>
            <a:off x="342986" y="1076325"/>
            <a:ext cx="2256799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78" name="Google Shape;178;p33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9" name="Google Shape;179;p33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0" name="Google Shape;180;p33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4"/>
          <p:cNvSpPr txBox="1"/>
          <p:nvPr>
            <p:ph type="title"/>
          </p:nvPr>
        </p:nvSpPr>
        <p:spPr>
          <a:xfrm>
            <a:off x="1344552" y="3600450"/>
            <a:ext cx="411583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3" name="Google Shape;183;p34"/>
          <p:cNvSpPr/>
          <p:nvPr>
            <p:ph idx="2" type="pic"/>
          </p:nvPr>
        </p:nvSpPr>
        <p:spPr>
          <a:xfrm>
            <a:off x="1344552" y="459581"/>
            <a:ext cx="411583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84" name="Google Shape;184;p34"/>
          <p:cNvSpPr txBox="1"/>
          <p:nvPr>
            <p:ph idx="1" type="body"/>
          </p:nvPr>
        </p:nvSpPr>
        <p:spPr>
          <a:xfrm>
            <a:off x="1344552" y="4025503"/>
            <a:ext cx="411583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85" name="Google Shape;185;p34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6" name="Google Shape;186;p34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7" name="Google Shape;187;p34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5"/>
          <p:cNvSpPr txBox="1"/>
          <p:nvPr>
            <p:ph type="title"/>
          </p:nvPr>
        </p:nvSpPr>
        <p:spPr>
          <a:xfrm>
            <a:off x="342986" y="205978"/>
            <a:ext cx="6173744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0" name="Google Shape;190;p35"/>
          <p:cNvSpPr txBox="1"/>
          <p:nvPr>
            <p:ph idx="1" type="body"/>
          </p:nvPr>
        </p:nvSpPr>
        <p:spPr>
          <a:xfrm rot="5400000">
            <a:off x="1732622" y="-189486"/>
            <a:ext cx="3394472" cy="61737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1" name="Google Shape;191;p35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2" name="Google Shape;192;p35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3" name="Google Shape;193;p35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6"/>
          <p:cNvSpPr txBox="1"/>
          <p:nvPr>
            <p:ph type="title"/>
          </p:nvPr>
        </p:nvSpPr>
        <p:spPr>
          <a:xfrm rot="5400000">
            <a:off x="3550690" y="1628582"/>
            <a:ext cx="4388644" cy="1543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6" name="Google Shape;196;p36"/>
          <p:cNvSpPr txBox="1"/>
          <p:nvPr>
            <p:ph idx="1" type="body"/>
          </p:nvPr>
        </p:nvSpPr>
        <p:spPr>
          <a:xfrm rot="5400000">
            <a:off x="406654" y="142311"/>
            <a:ext cx="4388644" cy="45159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7" name="Google Shape;197;p36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8" name="Google Shape;198;p36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9" name="Google Shape;199;p36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2" Type="http://schemas.openxmlformats.org/officeDocument/2006/relationships/theme" Target="../theme/theme4.xml"/><Relationship Id="rId9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42986" y="205978"/>
            <a:ext cx="6173744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2986" y="1200150"/>
            <a:ext cx="6173744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type="title"/>
          </p:nvPr>
        </p:nvSpPr>
        <p:spPr>
          <a:xfrm>
            <a:off x="342986" y="205978"/>
            <a:ext cx="6173744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27" name="Google Shape;127;p25"/>
          <p:cNvSpPr txBox="1"/>
          <p:nvPr>
            <p:ph idx="1" type="body"/>
          </p:nvPr>
        </p:nvSpPr>
        <p:spPr>
          <a:xfrm>
            <a:off x="342986" y="1200150"/>
            <a:ext cx="6173744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8" name="Google Shape;128;p25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9" name="Google Shape;129;p25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0" name="Google Shape;130;p25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7"/>
          <p:cNvSpPr/>
          <p:nvPr/>
        </p:nvSpPr>
        <p:spPr>
          <a:xfrm>
            <a:off x="0" y="0"/>
            <a:ext cx="9144002" cy="54864"/>
          </a:xfrm>
          <a:prstGeom prst="rect">
            <a:avLst/>
          </a:prstGeom>
          <a:solidFill>
            <a:srgbClr val="00C8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37"/>
          <p:cNvSpPr/>
          <p:nvPr/>
        </p:nvSpPr>
        <p:spPr>
          <a:xfrm>
            <a:off x="411583" y="685800"/>
            <a:ext cx="8300256" cy="3086100"/>
          </a:xfrm>
          <a:prstGeom prst="rect">
            <a:avLst/>
          </a:prstGeom>
          <a:solidFill>
            <a:srgbClr val="051222"/>
          </a:solidFill>
          <a:ln cap="flat" cmpd="sng" w="19050">
            <a:solidFill>
              <a:srgbClr val="00C8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37"/>
          <p:cNvSpPr txBox="1"/>
          <p:nvPr/>
        </p:nvSpPr>
        <p:spPr>
          <a:xfrm>
            <a:off x="548777" y="788670"/>
            <a:ext cx="8025868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9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Hyperspectral Image Classification</a:t>
            </a:r>
            <a:endParaRPr sz="1100"/>
          </a:p>
        </p:txBody>
      </p:sp>
      <p:sp>
        <p:nvSpPr>
          <p:cNvPr id="207" name="Google Shape;207;p37"/>
          <p:cNvSpPr txBox="1"/>
          <p:nvPr/>
        </p:nvSpPr>
        <p:spPr>
          <a:xfrm>
            <a:off x="548777" y="1440180"/>
            <a:ext cx="8025868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MMFormer vs. R2Mamba: A 2026 Benchmark</a:t>
            </a:r>
            <a:endParaRPr sz="1100"/>
          </a:p>
        </p:txBody>
      </p:sp>
      <p:sp>
        <p:nvSpPr>
          <p:cNvPr id="208" name="Google Shape;208;p37"/>
          <p:cNvSpPr/>
          <p:nvPr/>
        </p:nvSpPr>
        <p:spPr>
          <a:xfrm>
            <a:off x="1714929" y="1954530"/>
            <a:ext cx="5693564" cy="27432"/>
          </a:xfrm>
          <a:prstGeom prst="rect">
            <a:avLst/>
          </a:prstGeom>
          <a:solidFill>
            <a:srgbClr val="FFA50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37"/>
          <p:cNvSpPr txBox="1"/>
          <p:nvPr/>
        </p:nvSpPr>
        <p:spPr>
          <a:xfrm>
            <a:off x="548777" y="2057400"/>
            <a:ext cx="8025868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100" u="none" cap="none" strike="noStrike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Evaluating cutting-edge 2026 Vision Transformer vs. State Space Model architectures</a:t>
            </a:r>
            <a:br>
              <a:rPr b="0" i="1" lang="en" sz="1100" u="none" cap="none" strike="noStrike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" sz="1100" u="none" cap="none" strike="noStrike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under identical few-shot conditions on remote sensing HSI benchmarks</a:t>
            </a:r>
            <a:endParaRPr sz="1100"/>
          </a:p>
        </p:txBody>
      </p:sp>
      <p:sp>
        <p:nvSpPr>
          <p:cNvPr id="210" name="Google Shape;210;p37"/>
          <p:cNvSpPr/>
          <p:nvPr/>
        </p:nvSpPr>
        <p:spPr>
          <a:xfrm>
            <a:off x="1028957" y="2948940"/>
            <a:ext cx="7065508" cy="822960"/>
          </a:xfrm>
          <a:prstGeom prst="rect">
            <a:avLst/>
          </a:prstGeom>
          <a:solidFill>
            <a:srgbClr val="020A1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37"/>
          <p:cNvSpPr txBox="1"/>
          <p:nvPr/>
        </p:nvSpPr>
        <p:spPr>
          <a:xfrm>
            <a:off x="1097555" y="3051810"/>
            <a:ext cx="69282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Ayush Bansal </a:t>
            </a: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·  </a:t>
            </a:r>
            <a:r>
              <a:rPr b="1" lang="en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Prince Prajapati</a:t>
            </a: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·  </a:t>
            </a:r>
            <a:r>
              <a:rPr b="1" lang="en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Abhay Kaushal</a:t>
            </a:r>
            <a:endParaRPr sz="1100"/>
          </a:p>
        </p:txBody>
      </p:sp>
      <p:sp>
        <p:nvSpPr>
          <p:cNvPr id="212" name="Google Shape;212;p37"/>
          <p:cNvSpPr txBox="1"/>
          <p:nvPr/>
        </p:nvSpPr>
        <p:spPr>
          <a:xfrm>
            <a:off x="1097555" y="3360420"/>
            <a:ext cx="6928313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&amp; Engineering  |  Academic Year 2026</a:t>
            </a:r>
            <a:endParaRPr sz="1100"/>
          </a:p>
        </p:txBody>
      </p:sp>
      <p:sp>
        <p:nvSpPr>
          <p:cNvPr id="213" name="Google Shape;213;p37"/>
          <p:cNvSpPr/>
          <p:nvPr/>
        </p:nvSpPr>
        <p:spPr>
          <a:xfrm>
            <a:off x="0" y="5088636"/>
            <a:ext cx="9144002" cy="54864"/>
          </a:xfrm>
          <a:prstGeom prst="rect">
            <a:avLst/>
          </a:prstGeom>
          <a:solidFill>
            <a:srgbClr val="FFA50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8"/>
          <p:cNvSpPr/>
          <p:nvPr/>
        </p:nvSpPr>
        <p:spPr>
          <a:xfrm>
            <a:off x="0" y="0"/>
            <a:ext cx="9144002" cy="54864"/>
          </a:xfrm>
          <a:prstGeom prst="rect">
            <a:avLst/>
          </a:prstGeom>
          <a:solidFill>
            <a:srgbClr val="00C8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38"/>
          <p:cNvSpPr/>
          <p:nvPr/>
        </p:nvSpPr>
        <p:spPr>
          <a:xfrm>
            <a:off x="0" y="0"/>
            <a:ext cx="9144002" cy="925830"/>
          </a:xfrm>
          <a:prstGeom prst="rect">
            <a:avLst/>
          </a:prstGeom>
          <a:solidFill>
            <a:srgbClr val="05101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38"/>
          <p:cNvSpPr txBox="1"/>
          <p:nvPr/>
        </p:nvSpPr>
        <p:spPr>
          <a:xfrm>
            <a:off x="342986" y="123444"/>
            <a:ext cx="8231659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sz="1100"/>
          </a:p>
        </p:txBody>
      </p:sp>
      <p:sp>
        <p:nvSpPr>
          <p:cNvPr id="221" name="Google Shape;221;p38"/>
          <p:cNvSpPr txBox="1"/>
          <p:nvPr/>
        </p:nvSpPr>
        <p:spPr>
          <a:xfrm>
            <a:off x="342986" y="617220"/>
            <a:ext cx="82316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What we will cover today</a:t>
            </a:r>
            <a:endParaRPr sz="1100"/>
          </a:p>
        </p:txBody>
      </p:sp>
      <p:sp>
        <p:nvSpPr>
          <p:cNvPr id="222" name="Google Shape;222;p38"/>
          <p:cNvSpPr/>
          <p:nvPr/>
        </p:nvSpPr>
        <p:spPr>
          <a:xfrm>
            <a:off x="0" y="925830"/>
            <a:ext cx="9144002" cy="27432"/>
          </a:xfrm>
          <a:prstGeom prst="rect">
            <a:avLst/>
          </a:prstGeom>
          <a:solidFill>
            <a:srgbClr val="00C8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38"/>
          <p:cNvSpPr/>
          <p:nvPr/>
        </p:nvSpPr>
        <p:spPr>
          <a:xfrm>
            <a:off x="274389" y="1062990"/>
            <a:ext cx="377284" cy="288036"/>
          </a:xfrm>
          <a:prstGeom prst="rect">
            <a:avLst/>
          </a:prstGeom>
          <a:solidFill>
            <a:srgbClr val="00C8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38"/>
          <p:cNvSpPr txBox="1"/>
          <p:nvPr/>
        </p:nvSpPr>
        <p:spPr>
          <a:xfrm>
            <a:off x="274389" y="1062990"/>
            <a:ext cx="377284" cy="28803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100"/>
          </a:p>
        </p:txBody>
      </p:sp>
      <p:sp>
        <p:nvSpPr>
          <p:cNvPr id="225" name="Google Shape;225;p38"/>
          <p:cNvSpPr txBox="1"/>
          <p:nvPr/>
        </p:nvSpPr>
        <p:spPr>
          <a:xfrm>
            <a:off x="754569" y="1090422"/>
            <a:ext cx="809446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Background &amp; Motivation — What is Hyperspectral Imaging (HSI)?</a:t>
            </a:r>
            <a:endParaRPr sz="1100"/>
          </a:p>
        </p:txBody>
      </p:sp>
      <p:sp>
        <p:nvSpPr>
          <p:cNvPr id="226" name="Google Shape;226;p38"/>
          <p:cNvSpPr/>
          <p:nvPr/>
        </p:nvSpPr>
        <p:spPr>
          <a:xfrm>
            <a:off x="274389" y="1419606"/>
            <a:ext cx="377284" cy="288036"/>
          </a:xfrm>
          <a:prstGeom prst="rect">
            <a:avLst/>
          </a:prstGeom>
          <a:solidFill>
            <a:srgbClr val="FFA50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38"/>
          <p:cNvSpPr txBox="1"/>
          <p:nvPr/>
        </p:nvSpPr>
        <p:spPr>
          <a:xfrm>
            <a:off x="274389" y="1419606"/>
            <a:ext cx="377284" cy="28803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100"/>
          </a:p>
        </p:txBody>
      </p:sp>
      <p:sp>
        <p:nvSpPr>
          <p:cNvPr id="228" name="Google Shape;228;p38"/>
          <p:cNvSpPr txBox="1"/>
          <p:nvPr/>
        </p:nvSpPr>
        <p:spPr>
          <a:xfrm>
            <a:off x="754569" y="1447038"/>
            <a:ext cx="809446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Architectural Evolution — CNNs  →  Transformers  →  Mamba / SSMs</a:t>
            </a:r>
            <a:endParaRPr sz="1100"/>
          </a:p>
        </p:txBody>
      </p:sp>
      <p:sp>
        <p:nvSpPr>
          <p:cNvPr id="229" name="Google Shape;229;p38"/>
          <p:cNvSpPr/>
          <p:nvPr/>
        </p:nvSpPr>
        <p:spPr>
          <a:xfrm>
            <a:off x="274389" y="1776222"/>
            <a:ext cx="377284" cy="288036"/>
          </a:xfrm>
          <a:prstGeom prst="rect">
            <a:avLst/>
          </a:prstGeom>
          <a:solidFill>
            <a:srgbClr val="00C8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38"/>
          <p:cNvSpPr txBox="1"/>
          <p:nvPr/>
        </p:nvSpPr>
        <p:spPr>
          <a:xfrm>
            <a:off x="274389" y="1776222"/>
            <a:ext cx="377284" cy="28803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100"/>
          </a:p>
        </p:txBody>
      </p:sp>
      <p:sp>
        <p:nvSpPr>
          <p:cNvPr id="231" name="Google Shape;231;p38"/>
          <p:cNvSpPr txBox="1"/>
          <p:nvPr/>
        </p:nvSpPr>
        <p:spPr>
          <a:xfrm>
            <a:off x="754569" y="1803654"/>
            <a:ext cx="809446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 Statement &amp; Research Objectives</a:t>
            </a:r>
            <a:endParaRPr sz="1100"/>
          </a:p>
        </p:txBody>
      </p:sp>
      <p:sp>
        <p:nvSpPr>
          <p:cNvPr id="232" name="Google Shape;232;p38"/>
          <p:cNvSpPr/>
          <p:nvPr/>
        </p:nvSpPr>
        <p:spPr>
          <a:xfrm>
            <a:off x="274389" y="2132838"/>
            <a:ext cx="377284" cy="288036"/>
          </a:xfrm>
          <a:prstGeom prst="rect">
            <a:avLst/>
          </a:prstGeom>
          <a:solidFill>
            <a:srgbClr val="FFA50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38"/>
          <p:cNvSpPr txBox="1"/>
          <p:nvPr/>
        </p:nvSpPr>
        <p:spPr>
          <a:xfrm>
            <a:off x="274389" y="2132838"/>
            <a:ext cx="377284" cy="28803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100"/>
          </a:p>
        </p:txBody>
      </p:sp>
      <p:sp>
        <p:nvSpPr>
          <p:cNvPr id="234" name="Google Shape;234;p38"/>
          <p:cNvSpPr txBox="1"/>
          <p:nvPr/>
        </p:nvSpPr>
        <p:spPr>
          <a:xfrm>
            <a:off x="754569" y="2160270"/>
            <a:ext cx="809446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Competing 2026 Models — MMFormer (IEEE TGRS) vs. R2Mamba (IEEE JSTARS)</a:t>
            </a:r>
            <a:endParaRPr sz="1100"/>
          </a:p>
        </p:txBody>
      </p:sp>
      <p:sp>
        <p:nvSpPr>
          <p:cNvPr id="235" name="Google Shape;235;p38"/>
          <p:cNvSpPr/>
          <p:nvPr/>
        </p:nvSpPr>
        <p:spPr>
          <a:xfrm>
            <a:off x="274389" y="2489454"/>
            <a:ext cx="377284" cy="288036"/>
          </a:xfrm>
          <a:prstGeom prst="rect">
            <a:avLst/>
          </a:prstGeom>
          <a:solidFill>
            <a:srgbClr val="00C8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38"/>
          <p:cNvSpPr txBox="1"/>
          <p:nvPr/>
        </p:nvSpPr>
        <p:spPr>
          <a:xfrm>
            <a:off x="274389" y="2489454"/>
            <a:ext cx="377284" cy="28803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100"/>
          </a:p>
        </p:txBody>
      </p:sp>
      <p:sp>
        <p:nvSpPr>
          <p:cNvPr id="237" name="Google Shape;237;p38"/>
          <p:cNvSpPr txBox="1"/>
          <p:nvPr/>
        </p:nvSpPr>
        <p:spPr>
          <a:xfrm>
            <a:off x="754569" y="2516886"/>
            <a:ext cx="809446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1: Pipeline Validation — Baseline CNN &amp; Transformer models</a:t>
            </a:r>
            <a:endParaRPr sz="1100"/>
          </a:p>
        </p:txBody>
      </p:sp>
      <p:sp>
        <p:nvSpPr>
          <p:cNvPr id="238" name="Google Shape;238;p38"/>
          <p:cNvSpPr/>
          <p:nvPr/>
        </p:nvSpPr>
        <p:spPr>
          <a:xfrm>
            <a:off x="274389" y="2846070"/>
            <a:ext cx="377284" cy="288036"/>
          </a:xfrm>
          <a:prstGeom prst="rect">
            <a:avLst/>
          </a:prstGeom>
          <a:solidFill>
            <a:srgbClr val="FFA50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38"/>
          <p:cNvSpPr txBox="1"/>
          <p:nvPr/>
        </p:nvSpPr>
        <p:spPr>
          <a:xfrm>
            <a:off x="274389" y="2846070"/>
            <a:ext cx="377284" cy="28803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100"/>
          </a:p>
        </p:txBody>
      </p:sp>
      <p:sp>
        <p:nvSpPr>
          <p:cNvPr id="240" name="Google Shape;240;p38"/>
          <p:cNvSpPr txBox="1"/>
          <p:nvPr/>
        </p:nvSpPr>
        <p:spPr>
          <a:xfrm>
            <a:off x="754569" y="2873502"/>
            <a:ext cx="809446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Benchmark Datasets &amp; Experimental Protocol</a:t>
            </a:r>
            <a:endParaRPr sz="1100"/>
          </a:p>
        </p:txBody>
      </p:sp>
      <p:sp>
        <p:nvSpPr>
          <p:cNvPr id="241" name="Google Shape;241;p38"/>
          <p:cNvSpPr/>
          <p:nvPr/>
        </p:nvSpPr>
        <p:spPr>
          <a:xfrm>
            <a:off x="274389" y="3202686"/>
            <a:ext cx="377284" cy="288036"/>
          </a:xfrm>
          <a:prstGeom prst="rect">
            <a:avLst/>
          </a:prstGeom>
          <a:solidFill>
            <a:srgbClr val="00C8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38"/>
          <p:cNvSpPr txBox="1"/>
          <p:nvPr/>
        </p:nvSpPr>
        <p:spPr>
          <a:xfrm>
            <a:off x="274389" y="3202686"/>
            <a:ext cx="377284" cy="28803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100"/>
          </a:p>
        </p:txBody>
      </p:sp>
      <p:sp>
        <p:nvSpPr>
          <p:cNvPr id="243" name="Google Shape;243;p38"/>
          <p:cNvSpPr txBox="1"/>
          <p:nvPr/>
        </p:nvSpPr>
        <p:spPr>
          <a:xfrm>
            <a:off x="754569" y="3230118"/>
            <a:ext cx="809446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Quantitative Results — OA / AA / Kappa (Mean ± Std, 3 Seeds)</a:t>
            </a:r>
            <a:endParaRPr sz="1100"/>
          </a:p>
        </p:txBody>
      </p:sp>
      <p:sp>
        <p:nvSpPr>
          <p:cNvPr id="244" name="Google Shape;244;p38"/>
          <p:cNvSpPr/>
          <p:nvPr/>
        </p:nvSpPr>
        <p:spPr>
          <a:xfrm>
            <a:off x="274389" y="3559302"/>
            <a:ext cx="377284" cy="288036"/>
          </a:xfrm>
          <a:prstGeom prst="rect">
            <a:avLst/>
          </a:prstGeom>
          <a:solidFill>
            <a:srgbClr val="FFA50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38"/>
          <p:cNvSpPr txBox="1"/>
          <p:nvPr/>
        </p:nvSpPr>
        <p:spPr>
          <a:xfrm>
            <a:off x="274389" y="3559302"/>
            <a:ext cx="377284" cy="28803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100"/>
          </a:p>
        </p:txBody>
      </p:sp>
      <p:sp>
        <p:nvSpPr>
          <p:cNvPr id="246" name="Google Shape;246;p38"/>
          <p:cNvSpPr txBox="1"/>
          <p:nvPr/>
        </p:nvSpPr>
        <p:spPr>
          <a:xfrm>
            <a:off x="754569" y="3586734"/>
            <a:ext cx="809446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Qualitative Analysis — Classification Maps &amp; Visual Comparison</a:t>
            </a:r>
            <a:endParaRPr sz="1100"/>
          </a:p>
        </p:txBody>
      </p:sp>
      <p:sp>
        <p:nvSpPr>
          <p:cNvPr id="247" name="Google Shape;247;p38"/>
          <p:cNvSpPr/>
          <p:nvPr/>
        </p:nvSpPr>
        <p:spPr>
          <a:xfrm>
            <a:off x="274389" y="3915918"/>
            <a:ext cx="377284" cy="288036"/>
          </a:xfrm>
          <a:prstGeom prst="rect">
            <a:avLst/>
          </a:prstGeom>
          <a:solidFill>
            <a:srgbClr val="00C8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38"/>
          <p:cNvSpPr txBox="1"/>
          <p:nvPr/>
        </p:nvSpPr>
        <p:spPr>
          <a:xfrm>
            <a:off x="274389" y="3915918"/>
            <a:ext cx="377284" cy="28803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1100"/>
          </a:p>
        </p:txBody>
      </p:sp>
      <p:sp>
        <p:nvSpPr>
          <p:cNvPr id="249" name="Google Shape;249;p38"/>
          <p:cNvSpPr txBox="1"/>
          <p:nvPr/>
        </p:nvSpPr>
        <p:spPr>
          <a:xfrm>
            <a:off x="754569" y="3943350"/>
            <a:ext cx="809446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Computational Complexity Analysis — O(N²) vs. O(N)</a:t>
            </a:r>
            <a:endParaRPr sz="1100"/>
          </a:p>
        </p:txBody>
      </p:sp>
      <p:sp>
        <p:nvSpPr>
          <p:cNvPr id="250" name="Google Shape;250;p38"/>
          <p:cNvSpPr/>
          <p:nvPr/>
        </p:nvSpPr>
        <p:spPr>
          <a:xfrm>
            <a:off x="274389" y="4272534"/>
            <a:ext cx="377284" cy="288036"/>
          </a:xfrm>
          <a:prstGeom prst="rect">
            <a:avLst/>
          </a:prstGeom>
          <a:solidFill>
            <a:srgbClr val="FFA50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38"/>
          <p:cNvSpPr txBox="1"/>
          <p:nvPr/>
        </p:nvSpPr>
        <p:spPr>
          <a:xfrm>
            <a:off x="274389" y="4272534"/>
            <a:ext cx="377284" cy="28803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100"/>
          </a:p>
        </p:txBody>
      </p:sp>
      <p:sp>
        <p:nvSpPr>
          <p:cNvPr id="252" name="Google Shape;252;p38"/>
          <p:cNvSpPr txBox="1"/>
          <p:nvPr/>
        </p:nvSpPr>
        <p:spPr>
          <a:xfrm>
            <a:off x="754569" y="4299966"/>
            <a:ext cx="809446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 &amp; Future Work</a:t>
            </a:r>
            <a:endParaRPr sz="1100"/>
          </a:p>
        </p:txBody>
      </p:sp>
      <p:sp>
        <p:nvSpPr>
          <p:cNvPr id="253" name="Google Shape;253;p38"/>
          <p:cNvSpPr/>
          <p:nvPr/>
        </p:nvSpPr>
        <p:spPr>
          <a:xfrm>
            <a:off x="0" y="5088636"/>
            <a:ext cx="9144002" cy="54864"/>
          </a:xfrm>
          <a:prstGeom prst="rect">
            <a:avLst/>
          </a:prstGeom>
          <a:solidFill>
            <a:srgbClr val="FFA50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9"/>
          <p:cNvSpPr/>
          <p:nvPr/>
        </p:nvSpPr>
        <p:spPr>
          <a:xfrm>
            <a:off x="0" y="0"/>
            <a:ext cx="9144002" cy="54864"/>
          </a:xfrm>
          <a:prstGeom prst="rect">
            <a:avLst/>
          </a:prstGeom>
          <a:solidFill>
            <a:srgbClr val="00C8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39"/>
          <p:cNvSpPr/>
          <p:nvPr/>
        </p:nvSpPr>
        <p:spPr>
          <a:xfrm>
            <a:off x="0" y="0"/>
            <a:ext cx="9144002" cy="925830"/>
          </a:xfrm>
          <a:prstGeom prst="rect">
            <a:avLst/>
          </a:prstGeom>
          <a:solidFill>
            <a:srgbClr val="05101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39"/>
          <p:cNvSpPr txBox="1"/>
          <p:nvPr/>
        </p:nvSpPr>
        <p:spPr>
          <a:xfrm>
            <a:off x="342986" y="123444"/>
            <a:ext cx="8231659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Background: Hyperspectral Imaging (HSI)</a:t>
            </a:r>
            <a:endParaRPr sz="1100"/>
          </a:p>
        </p:txBody>
      </p:sp>
      <p:sp>
        <p:nvSpPr>
          <p:cNvPr id="261" name="Google Shape;261;p39"/>
          <p:cNvSpPr txBox="1"/>
          <p:nvPr/>
        </p:nvSpPr>
        <p:spPr>
          <a:xfrm>
            <a:off x="342986" y="617220"/>
            <a:ext cx="82316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Beyond standard RGB — capturing the full spectral fingerprint of materials</a:t>
            </a:r>
            <a:endParaRPr sz="1100"/>
          </a:p>
        </p:txBody>
      </p:sp>
      <p:sp>
        <p:nvSpPr>
          <p:cNvPr id="262" name="Google Shape;262;p39"/>
          <p:cNvSpPr/>
          <p:nvPr/>
        </p:nvSpPr>
        <p:spPr>
          <a:xfrm>
            <a:off x="0" y="925830"/>
            <a:ext cx="9144002" cy="27432"/>
          </a:xfrm>
          <a:prstGeom prst="rect">
            <a:avLst/>
          </a:prstGeom>
          <a:solidFill>
            <a:srgbClr val="00C8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39"/>
          <p:cNvSpPr/>
          <p:nvPr/>
        </p:nvSpPr>
        <p:spPr>
          <a:xfrm>
            <a:off x="274389" y="1097280"/>
            <a:ext cx="4184427" cy="3703320"/>
          </a:xfrm>
          <a:prstGeom prst="rect">
            <a:avLst/>
          </a:prstGeom>
          <a:solidFill>
            <a:srgbClr val="051222"/>
          </a:solidFill>
          <a:ln cap="flat" cmpd="sng" w="12700">
            <a:solidFill>
              <a:srgbClr val="00C8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39"/>
          <p:cNvSpPr txBox="1"/>
          <p:nvPr/>
        </p:nvSpPr>
        <p:spPr>
          <a:xfrm>
            <a:off x="377284" y="1165860"/>
            <a:ext cx="3978635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What is HSI?</a:t>
            </a:r>
            <a:endParaRPr sz="1100"/>
          </a:p>
        </p:txBody>
      </p:sp>
      <p:sp>
        <p:nvSpPr>
          <p:cNvPr id="265" name="Google Shape;265;p39"/>
          <p:cNvSpPr txBox="1"/>
          <p:nvPr/>
        </p:nvSpPr>
        <p:spPr>
          <a:xfrm>
            <a:off x="377284" y="1495044"/>
            <a:ext cx="3978635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b="0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Normal RGB cameras capture only 3 spectral bands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b="0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Hyperspectral sensors capture 100–200+ narrow contiguous bands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b="0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Each pixel contains a unique spectral 'fingerprint'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b="0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Enables material &amp; chemical composition identification</a:t>
            </a:r>
            <a:endParaRPr sz="1100"/>
          </a:p>
        </p:txBody>
      </p:sp>
      <p:sp>
        <p:nvSpPr>
          <p:cNvPr id="266" name="Google Shape;266;p39"/>
          <p:cNvSpPr txBox="1"/>
          <p:nvPr/>
        </p:nvSpPr>
        <p:spPr>
          <a:xfrm>
            <a:off x="377284" y="2846070"/>
            <a:ext cx="397863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FFA500"/>
                </a:solidFill>
                <a:latin typeface="Calibri"/>
                <a:ea typeface="Calibri"/>
                <a:cs typeface="Calibri"/>
                <a:sym typeface="Calibri"/>
              </a:rPr>
              <a:t>Real-World Applications</a:t>
            </a:r>
            <a:endParaRPr sz="1100"/>
          </a:p>
        </p:txBody>
      </p:sp>
      <p:sp>
        <p:nvSpPr>
          <p:cNvPr id="267" name="Google Shape;267;p39"/>
          <p:cNvSpPr txBox="1"/>
          <p:nvPr/>
        </p:nvSpPr>
        <p:spPr>
          <a:xfrm>
            <a:off x="377284" y="3154680"/>
            <a:ext cx="3978635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b="0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Agriculture: Crop health, weed &amp; moisture detection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b="0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Urban Planning: Asphalt, roofs, concrete classification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b="0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Planetary Science: Mars mineral mapping (NASA CRISM)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b="0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Mining: Mineral exploration from satellite data</a:t>
            </a:r>
            <a:endParaRPr sz="1100"/>
          </a:p>
        </p:txBody>
      </p:sp>
      <p:sp>
        <p:nvSpPr>
          <p:cNvPr id="268" name="Google Shape;268;p39"/>
          <p:cNvSpPr/>
          <p:nvPr/>
        </p:nvSpPr>
        <p:spPr>
          <a:xfrm>
            <a:off x="4733204" y="1097280"/>
            <a:ext cx="4115830" cy="3703320"/>
          </a:xfrm>
          <a:prstGeom prst="rect">
            <a:avLst/>
          </a:prstGeom>
          <a:solidFill>
            <a:srgbClr val="051222"/>
          </a:solidFill>
          <a:ln cap="flat" cmpd="sng" w="12700">
            <a:solidFill>
              <a:srgbClr val="FFA5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39"/>
          <p:cNvSpPr txBox="1"/>
          <p:nvPr/>
        </p:nvSpPr>
        <p:spPr>
          <a:xfrm>
            <a:off x="4836100" y="1179576"/>
            <a:ext cx="391003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FFA500"/>
                </a:solidFill>
                <a:latin typeface="Calibri"/>
                <a:ea typeface="Calibri"/>
                <a:cs typeface="Calibri"/>
                <a:sym typeface="Calibri"/>
              </a:rPr>
              <a:t>HSI vs. RGB</a:t>
            </a:r>
            <a:endParaRPr sz="1100"/>
          </a:p>
        </p:txBody>
      </p:sp>
      <p:sp>
        <p:nvSpPr>
          <p:cNvPr id="270" name="Google Shape;270;p39"/>
          <p:cNvSpPr/>
          <p:nvPr/>
        </p:nvSpPr>
        <p:spPr>
          <a:xfrm>
            <a:off x="4836100" y="1611630"/>
            <a:ext cx="3841441" cy="822960"/>
          </a:xfrm>
          <a:prstGeom prst="rect">
            <a:avLst/>
          </a:prstGeom>
          <a:solidFill>
            <a:srgbClr val="082236"/>
          </a:solidFill>
          <a:ln cap="flat" cmpd="sng" w="152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39"/>
          <p:cNvSpPr txBox="1"/>
          <p:nvPr/>
        </p:nvSpPr>
        <p:spPr>
          <a:xfrm>
            <a:off x="4938996" y="1680210"/>
            <a:ext cx="363565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RGB Camera</a:t>
            </a:r>
            <a:endParaRPr sz="1100"/>
          </a:p>
        </p:txBody>
      </p:sp>
      <p:sp>
        <p:nvSpPr>
          <p:cNvPr id="272" name="Google Shape;272;p39"/>
          <p:cNvSpPr txBox="1"/>
          <p:nvPr/>
        </p:nvSpPr>
        <p:spPr>
          <a:xfrm>
            <a:off x="4938996" y="1954530"/>
            <a:ext cx="36356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3 bands  |  Low spectral resolution</a:t>
            </a:r>
            <a:endParaRPr sz="1100"/>
          </a:p>
        </p:txBody>
      </p:sp>
      <p:sp>
        <p:nvSpPr>
          <p:cNvPr id="273" name="Google Shape;273;p39"/>
          <p:cNvSpPr/>
          <p:nvPr/>
        </p:nvSpPr>
        <p:spPr>
          <a:xfrm>
            <a:off x="4836100" y="2571750"/>
            <a:ext cx="3841441" cy="822960"/>
          </a:xfrm>
          <a:prstGeom prst="rect">
            <a:avLst/>
          </a:prstGeom>
          <a:solidFill>
            <a:srgbClr val="082236"/>
          </a:solidFill>
          <a:ln cap="flat" cmpd="sng" w="15225">
            <a:solidFill>
              <a:srgbClr val="CCD6E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39"/>
          <p:cNvSpPr txBox="1"/>
          <p:nvPr/>
        </p:nvSpPr>
        <p:spPr>
          <a:xfrm>
            <a:off x="4938996" y="2640330"/>
            <a:ext cx="363565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Multispectral</a:t>
            </a:r>
            <a:endParaRPr sz="1100"/>
          </a:p>
        </p:txBody>
      </p:sp>
      <p:sp>
        <p:nvSpPr>
          <p:cNvPr id="275" name="Google Shape;275;p39"/>
          <p:cNvSpPr txBox="1"/>
          <p:nvPr/>
        </p:nvSpPr>
        <p:spPr>
          <a:xfrm>
            <a:off x="4938996" y="2914650"/>
            <a:ext cx="36356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4–12 bands  |  Moderate discrimination</a:t>
            </a:r>
            <a:endParaRPr sz="1100"/>
          </a:p>
        </p:txBody>
      </p:sp>
      <p:sp>
        <p:nvSpPr>
          <p:cNvPr id="276" name="Google Shape;276;p39"/>
          <p:cNvSpPr/>
          <p:nvPr/>
        </p:nvSpPr>
        <p:spPr>
          <a:xfrm>
            <a:off x="4836100" y="3531870"/>
            <a:ext cx="3841441" cy="822960"/>
          </a:xfrm>
          <a:prstGeom prst="rect">
            <a:avLst/>
          </a:prstGeom>
          <a:solidFill>
            <a:srgbClr val="082236"/>
          </a:solidFill>
          <a:ln cap="flat" cmpd="sng" w="15225">
            <a:solidFill>
              <a:srgbClr val="2ECC7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39"/>
          <p:cNvSpPr txBox="1"/>
          <p:nvPr/>
        </p:nvSpPr>
        <p:spPr>
          <a:xfrm>
            <a:off x="4938996" y="3600450"/>
            <a:ext cx="363565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Hyperspectral</a:t>
            </a:r>
            <a:endParaRPr sz="1100"/>
          </a:p>
        </p:txBody>
      </p:sp>
      <p:sp>
        <p:nvSpPr>
          <p:cNvPr id="278" name="Google Shape;278;p39"/>
          <p:cNvSpPr txBox="1"/>
          <p:nvPr/>
        </p:nvSpPr>
        <p:spPr>
          <a:xfrm>
            <a:off x="4938996" y="3874770"/>
            <a:ext cx="36356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100–200+ bands  |  Full spectral fingerprint</a:t>
            </a:r>
            <a:endParaRPr sz="1100"/>
          </a:p>
        </p:txBody>
      </p:sp>
      <p:sp>
        <p:nvSpPr>
          <p:cNvPr id="279" name="Google Shape;279;p39"/>
          <p:cNvSpPr/>
          <p:nvPr/>
        </p:nvSpPr>
        <p:spPr>
          <a:xfrm>
            <a:off x="0" y="5088636"/>
            <a:ext cx="9144002" cy="54864"/>
          </a:xfrm>
          <a:prstGeom prst="rect">
            <a:avLst/>
          </a:prstGeom>
          <a:solidFill>
            <a:srgbClr val="FFA50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0"/>
          <p:cNvSpPr/>
          <p:nvPr/>
        </p:nvSpPr>
        <p:spPr>
          <a:xfrm>
            <a:off x="0" y="0"/>
            <a:ext cx="9144002" cy="54864"/>
          </a:xfrm>
          <a:prstGeom prst="rect">
            <a:avLst/>
          </a:prstGeom>
          <a:solidFill>
            <a:srgbClr val="00C8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40"/>
          <p:cNvSpPr/>
          <p:nvPr/>
        </p:nvSpPr>
        <p:spPr>
          <a:xfrm>
            <a:off x="0" y="0"/>
            <a:ext cx="9144002" cy="925830"/>
          </a:xfrm>
          <a:prstGeom prst="rect">
            <a:avLst/>
          </a:prstGeom>
          <a:solidFill>
            <a:srgbClr val="05101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40"/>
          <p:cNvSpPr txBox="1"/>
          <p:nvPr/>
        </p:nvSpPr>
        <p:spPr>
          <a:xfrm>
            <a:off x="342986" y="123444"/>
            <a:ext cx="8231659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Architectural Evolution in HSI Classification</a:t>
            </a:r>
            <a:endParaRPr sz="1100"/>
          </a:p>
        </p:txBody>
      </p:sp>
      <p:sp>
        <p:nvSpPr>
          <p:cNvPr id="287" name="Google Shape;287;p40"/>
          <p:cNvSpPr txBox="1"/>
          <p:nvPr/>
        </p:nvSpPr>
        <p:spPr>
          <a:xfrm>
            <a:off x="342986" y="617220"/>
            <a:ext cx="82316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From local convolutions to global sequence modelling</a:t>
            </a:r>
            <a:endParaRPr sz="1100"/>
          </a:p>
        </p:txBody>
      </p:sp>
      <p:sp>
        <p:nvSpPr>
          <p:cNvPr id="288" name="Google Shape;288;p40"/>
          <p:cNvSpPr/>
          <p:nvPr/>
        </p:nvSpPr>
        <p:spPr>
          <a:xfrm>
            <a:off x="0" y="925830"/>
            <a:ext cx="9144002" cy="27432"/>
          </a:xfrm>
          <a:prstGeom prst="rect">
            <a:avLst/>
          </a:prstGeom>
          <a:solidFill>
            <a:srgbClr val="00C8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40"/>
          <p:cNvSpPr/>
          <p:nvPr/>
        </p:nvSpPr>
        <p:spPr>
          <a:xfrm>
            <a:off x="240090" y="1062990"/>
            <a:ext cx="2812483" cy="3703320"/>
          </a:xfrm>
          <a:prstGeom prst="rect">
            <a:avLst/>
          </a:prstGeom>
          <a:solidFill>
            <a:srgbClr val="145A8C"/>
          </a:solidFill>
          <a:ln cap="flat" cmpd="sng" w="19050">
            <a:solidFill>
              <a:srgbClr val="1E7AB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40"/>
          <p:cNvSpPr/>
          <p:nvPr/>
        </p:nvSpPr>
        <p:spPr>
          <a:xfrm>
            <a:off x="342986" y="1131570"/>
            <a:ext cx="1440540" cy="288036"/>
          </a:xfrm>
          <a:prstGeom prst="rect">
            <a:avLst/>
          </a:prstGeom>
          <a:solidFill>
            <a:srgbClr val="1E7AB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40"/>
          <p:cNvSpPr txBox="1"/>
          <p:nvPr/>
        </p:nvSpPr>
        <p:spPr>
          <a:xfrm>
            <a:off x="342986" y="1131570"/>
            <a:ext cx="1440540" cy="28803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2017–2020</a:t>
            </a:r>
            <a:endParaRPr sz="1100"/>
          </a:p>
        </p:txBody>
      </p:sp>
      <p:sp>
        <p:nvSpPr>
          <p:cNvPr id="292" name="Google Shape;292;p40"/>
          <p:cNvSpPr txBox="1"/>
          <p:nvPr/>
        </p:nvSpPr>
        <p:spPr>
          <a:xfrm>
            <a:off x="342986" y="1495044"/>
            <a:ext cx="260669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CNN Era</a:t>
            </a:r>
            <a:endParaRPr sz="1100"/>
          </a:p>
        </p:txBody>
      </p:sp>
      <p:sp>
        <p:nvSpPr>
          <p:cNvPr id="293" name="Google Shape;293;p40"/>
          <p:cNvSpPr txBox="1"/>
          <p:nvPr/>
        </p:nvSpPr>
        <p:spPr>
          <a:xfrm>
            <a:off x="342986" y="1906524"/>
            <a:ext cx="2606692" cy="8915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3D/2D Conv</a:t>
            </a:r>
            <a:br>
              <a:rPr b="0" i="0" lang="en" sz="1000" u="none" cap="none" strike="noStrike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000" u="none" cap="none" strike="noStrike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SSRN · HybridSN</a:t>
            </a:r>
            <a:br>
              <a:rPr b="0" i="0" lang="en" sz="1000" u="none" cap="none" strike="noStrike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000" u="none" cap="none" strike="noStrike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DBDA · pResNet</a:t>
            </a:r>
            <a:endParaRPr sz="1100"/>
          </a:p>
        </p:txBody>
      </p:sp>
      <p:sp>
        <p:nvSpPr>
          <p:cNvPr id="294" name="Google Shape;294;p40"/>
          <p:cNvSpPr txBox="1"/>
          <p:nvPr/>
        </p:nvSpPr>
        <p:spPr>
          <a:xfrm>
            <a:off x="342986" y="2866643"/>
            <a:ext cx="2606692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FFA500"/>
                </a:solidFill>
                <a:latin typeface="Calibri"/>
                <a:ea typeface="Calibri"/>
                <a:cs typeface="Calibri"/>
                <a:sym typeface="Calibri"/>
              </a:rPr>
              <a:t>⚠ Limitation:</a:t>
            </a:r>
            <a:endParaRPr sz="1100"/>
          </a:p>
        </p:txBody>
      </p:sp>
      <p:sp>
        <p:nvSpPr>
          <p:cNvPr id="295" name="Google Shape;295;p40"/>
          <p:cNvSpPr txBox="1"/>
          <p:nvPr/>
        </p:nvSpPr>
        <p:spPr>
          <a:xfrm>
            <a:off x="342986" y="3086100"/>
            <a:ext cx="2606692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Local receptive fields</a:t>
            </a:r>
            <a:br>
              <a:rPr b="0" i="0" lang="en" sz="900" u="none" cap="none" strike="noStrike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900" u="none" cap="none" strike="noStrike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Cannot model long-range</a:t>
            </a:r>
            <a:br>
              <a:rPr b="0" i="0" lang="en" sz="900" u="none" cap="none" strike="noStrike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900" u="none" cap="none" strike="noStrike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spectral dependencies</a:t>
            </a:r>
            <a:endParaRPr sz="1100"/>
          </a:p>
        </p:txBody>
      </p:sp>
      <p:sp>
        <p:nvSpPr>
          <p:cNvPr id="296" name="Google Shape;296;p40"/>
          <p:cNvSpPr txBox="1"/>
          <p:nvPr/>
        </p:nvSpPr>
        <p:spPr>
          <a:xfrm>
            <a:off x="3066293" y="2434590"/>
            <a:ext cx="20579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100"/>
          </a:p>
        </p:txBody>
      </p:sp>
      <p:sp>
        <p:nvSpPr>
          <p:cNvPr id="297" name="Google Shape;297;p40"/>
          <p:cNvSpPr/>
          <p:nvPr/>
        </p:nvSpPr>
        <p:spPr>
          <a:xfrm>
            <a:off x="3189768" y="1062990"/>
            <a:ext cx="2812483" cy="3703320"/>
          </a:xfrm>
          <a:prstGeom prst="rect">
            <a:avLst/>
          </a:prstGeom>
          <a:solidFill>
            <a:srgbClr val="804000"/>
          </a:solidFill>
          <a:ln cap="flat" cmpd="sng" w="19050">
            <a:solidFill>
              <a:srgbClr val="B36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40"/>
          <p:cNvSpPr/>
          <p:nvPr/>
        </p:nvSpPr>
        <p:spPr>
          <a:xfrm>
            <a:off x="3292664" y="1131570"/>
            <a:ext cx="1440540" cy="288036"/>
          </a:xfrm>
          <a:prstGeom prst="rect">
            <a:avLst/>
          </a:prstGeom>
          <a:solidFill>
            <a:srgbClr val="B3600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40"/>
          <p:cNvSpPr txBox="1"/>
          <p:nvPr/>
        </p:nvSpPr>
        <p:spPr>
          <a:xfrm>
            <a:off x="3292664" y="1131570"/>
            <a:ext cx="1440540" cy="28803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2021–2024</a:t>
            </a:r>
            <a:endParaRPr sz="1100"/>
          </a:p>
        </p:txBody>
      </p:sp>
      <p:sp>
        <p:nvSpPr>
          <p:cNvPr id="300" name="Google Shape;300;p40"/>
          <p:cNvSpPr txBox="1"/>
          <p:nvPr/>
        </p:nvSpPr>
        <p:spPr>
          <a:xfrm>
            <a:off x="3292664" y="1495044"/>
            <a:ext cx="260669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Transformer Era</a:t>
            </a:r>
            <a:endParaRPr sz="1100"/>
          </a:p>
        </p:txBody>
      </p:sp>
      <p:sp>
        <p:nvSpPr>
          <p:cNvPr id="301" name="Google Shape;301;p40"/>
          <p:cNvSpPr txBox="1"/>
          <p:nvPr/>
        </p:nvSpPr>
        <p:spPr>
          <a:xfrm>
            <a:off x="3292664" y="1906524"/>
            <a:ext cx="2606692" cy="8915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Self-Attention (SA)</a:t>
            </a:r>
            <a:br>
              <a:rPr b="0" i="0" lang="en" sz="1000" u="none" cap="none" strike="noStrike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000" u="none" cap="none" strike="noStrike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SpectralFormer · MFT</a:t>
            </a:r>
            <a:br>
              <a:rPr b="0" i="0" lang="en" sz="1000" u="none" cap="none" strike="noStrike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000" u="none" cap="none" strike="noStrike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GAHT · MASSFormer</a:t>
            </a:r>
            <a:endParaRPr sz="1100"/>
          </a:p>
        </p:txBody>
      </p:sp>
      <p:sp>
        <p:nvSpPr>
          <p:cNvPr id="302" name="Google Shape;302;p40"/>
          <p:cNvSpPr txBox="1"/>
          <p:nvPr/>
        </p:nvSpPr>
        <p:spPr>
          <a:xfrm>
            <a:off x="3292664" y="2866643"/>
            <a:ext cx="2606692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FFA500"/>
                </a:solidFill>
                <a:latin typeface="Calibri"/>
                <a:ea typeface="Calibri"/>
                <a:cs typeface="Calibri"/>
                <a:sym typeface="Calibri"/>
              </a:rPr>
              <a:t>⚠ Limitation:</a:t>
            </a:r>
            <a:endParaRPr sz="1100"/>
          </a:p>
        </p:txBody>
      </p:sp>
      <p:sp>
        <p:nvSpPr>
          <p:cNvPr id="303" name="Google Shape;303;p40"/>
          <p:cNvSpPr txBox="1"/>
          <p:nvPr/>
        </p:nvSpPr>
        <p:spPr>
          <a:xfrm>
            <a:off x="3292664" y="3086100"/>
            <a:ext cx="2606692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Global context via SA</a:t>
            </a:r>
            <a:br>
              <a:rPr b="0" i="0" lang="en" sz="900" u="none" cap="none" strike="noStrike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900" u="none" cap="none" strike="noStrike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But O(N²) complexity</a:t>
            </a:r>
            <a:br>
              <a:rPr b="0" i="0" lang="en" sz="900" u="none" cap="none" strike="noStrike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900" u="none" cap="none" strike="noStrike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Slow on large scenes</a:t>
            </a:r>
            <a:endParaRPr sz="1100"/>
          </a:p>
        </p:txBody>
      </p:sp>
      <p:sp>
        <p:nvSpPr>
          <p:cNvPr id="304" name="Google Shape;304;p40"/>
          <p:cNvSpPr txBox="1"/>
          <p:nvPr/>
        </p:nvSpPr>
        <p:spPr>
          <a:xfrm>
            <a:off x="6015971" y="2434590"/>
            <a:ext cx="20579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100"/>
          </a:p>
        </p:txBody>
      </p:sp>
      <p:sp>
        <p:nvSpPr>
          <p:cNvPr id="305" name="Google Shape;305;p40"/>
          <p:cNvSpPr/>
          <p:nvPr/>
        </p:nvSpPr>
        <p:spPr>
          <a:xfrm>
            <a:off x="6139446" y="1062990"/>
            <a:ext cx="2812483" cy="3703320"/>
          </a:xfrm>
          <a:prstGeom prst="rect">
            <a:avLst/>
          </a:prstGeom>
          <a:solidFill>
            <a:srgbClr val="0A5A2E"/>
          </a:solidFill>
          <a:ln cap="flat" cmpd="sng" w="19050">
            <a:solidFill>
              <a:srgbClr val="0D7A3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40"/>
          <p:cNvSpPr/>
          <p:nvPr/>
        </p:nvSpPr>
        <p:spPr>
          <a:xfrm>
            <a:off x="6242342" y="1131570"/>
            <a:ext cx="1440540" cy="288036"/>
          </a:xfrm>
          <a:prstGeom prst="rect">
            <a:avLst/>
          </a:prstGeom>
          <a:solidFill>
            <a:srgbClr val="0D7A3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40"/>
          <p:cNvSpPr txBox="1"/>
          <p:nvPr/>
        </p:nvSpPr>
        <p:spPr>
          <a:xfrm>
            <a:off x="6242342" y="1131570"/>
            <a:ext cx="1440540" cy="28803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2024–2026</a:t>
            </a:r>
            <a:endParaRPr sz="1100"/>
          </a:p>
        </p:txBody>
      </p:sp>
      <p:sp>
        <p:nvSpPr>
          <p:cNvPr id="308" name="Google Shape;308;p40"/>
          <p:cNvSpPr txBox="1"/>
          <p:nvPr/>
        </p:nvSpPr>
        <p:spPr>
          <a:xfrm>
            <a:off x="6242342" y="1495044"/>
            <a:ext cx="260669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Mamba / SSM Era</a:t>
            </a:r>
            <a:endParaRPr sz="1100"/>
          </a:p>
        </p:txBody>
      </p:sp>
      <p:sp>
        <p:nvSpPr>
          <p:cNvPr id="309" name="Google Shape;309;p40"/>
          <p:cNvSpPr txBox="1"/>
          <p:nvPr/>
        </p:nvSpPr>
        <p:spPr>
          <a:xfrm>
            <a:off x="6242342" y="1906524"/>
            <a:ext cx="2606692" cy="8915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Selective State Space</a:t>
            </a:r>
            <a:br>
              <a:rPr b="0" i="0" lang="en" sz="1000" u="none" cap="none" strike="noStrike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000" u="none" cap="none" strike="noStrike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MambaHSI · R2Mamba</a:t>
            </a:r>
            <a:br>
              <a:rPr b="0" i="0" lang="en" sz="1000" u="none" cap="none" strike="noStrike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000" u="none" cap="none" strike="noStrike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MMFormer · SSMamba</a:t>
            </a:r>
            <a:endParaRPr sz="1100"/>
          </a:p>
        </p:txBody>
      </p:sp>
      <p:sp>
        <p:nvSpPr>
          <p:cNvPr id="310" name="Google Shape;310;p40"/>
          <p:cNvSpPr txBox="1"/>
          <p:nvPr/>
        </p:nvSpPr>
        <p:spPr>
          <a:xfrm>
            <a:off x="6242342" y="2866643"/>
            <a:ext cx="2606692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FFA500"/>
                </a:solidFill>
                <a:latin typeface="Calibri"/>
                <a:ea typeface="Calibri"/>
                <a:cs typeface="Calibri"/>
                <a:sym typeface="Calibri"/>
              </a:rPr>
              <a:t>⚠ Limitation:</a:t>
            </a:r>
            <a:endParaRPr sz="1100"/>
          </a:p>
        </p:txBody>
      </p:sp>
      <p:sp>
        <p:nvSpPr>
          <p:cNvPr id="311" name="Google Shape;311;p40"/>
          <p:cNvSpPr txBox="1"/>
          <p:nvPr/>
        </p:nvSpPr>
        <p:spPr>
          <a:xfrm>
            <a:off x="6242342" y="3086100"/>
            <a:ext cx="2606692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Linear O(N) complexity</a:t>
            </a:r>
            <a:br>
              <a:rPr b="0" i="0" lang="en" sz="900" u="none" cap="none" strike="noStrike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900" u="none" cap="none" strike="noStrike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Global context + speed</a:t>
            </a:r>
            <a:br>
              <a:rPr b="0" i="0" lang="en" sz="900" u="none" cap="none" strike="noStrike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900" u="none" cap="none" strike="noStrike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Best of both worlds</a:t>
            </a:r>
            <a:endParaRPr sz="1100"/>
          </a:p>
        </p:txBody>
      </p:sp>
      <p:sp>
        <p:nvSpPr>
          <p:cNvPr id="312" name="Google Shape;312;p40"/>
          <p:cNvSpPr/>
          <p:nvPr/>
        </p:nvSpPr>
        <p:spPr>
          <a:xfrm>
            <a:off x="0" y="5088636"/>
            <a:ext cx="9144002" cy="54864"/>
          </a:xfrm>
          <a:prstGeom prst="rect">
            <a:avLst/>
          </a:prstGeom>
          <a:solidFill>
            <a:srgbClr val="FFA50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1"/>
          <p:cNvSpPr/>
          <p:nvPr/>
        </p:nvSpPr>
        <p:spPr>
          <a:xfrm>
            <a:off x="0" y="0"/>
            <a:ext cx="9144002" cy="54864"/>
          </a:xfrm>
          <a:prstGeom prst="rect">
            <a:avLst/>
          </a:prstGeom>
          <a:solidFill>
            <a:srgbClr val="00C8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41"/>
          <p:cNvSpPr/>
          <p:nvPr/>
        </p:nvSpPr>
        <p:spPr>
          <a:xfrm>
            <a:off x="0" y="0"/>
            <a:ext cx="9144002" cy="925830"/>
          </a:xfrm>
          <a:prstGeom prst="rect">
            <a:avLst/>
          </a:prstGeom>
          <a:solidFill>
            <a:srgbClr val="05101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41"/>
          <p:cNvSpPr txBox="1"/>
          <p:nvPr/>
        </p:nvSpPr>
        <p:spPr>
          <a:xfrm>
            <a:off x="342986" y="123444"/>
            <a:ext cx="8231659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Problem Statement &amp; Research Objectives</a:t>
            </a:r>
            <a:endParaRPr sz="1100"/>
          </a:p>
        </p:txBody>
      </p:sp>
      <p:sp>
        <p:nvSpPr>
          <p:cNvPr id="320" name="Google Shape;320;p41"/>
          <p:cNvSpPr txBox="1"/>
          <p:nvPr/>
        </p:nvSpPr>
        <p:spPr>
          <a:xfrm>
            <a:off x="342986" y="617220"/>
            <a:ext cx="82316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Why compare the two newest 2026 architectures?</a:t>
            </a:r>
            <a:endParaRPr sz="1100"/>
          </a:p>
        </p:txBody>
      </p:sp>
      <p:sp>
        <p:nvSpPr>
          <p:cNvPr id="321" name="Google Shape;321;p41"/>
          <p:cNvSpPr/>
          <p:nvPr/>
        </p:nvSpPr>
        <p:spPr>
          <a:xfrm>
            <a:off x="0" y="925830"/>
            <a:ext cx="9144002" cy="27432"/>
          </a:xfrm>
          <a:prstGeom prst="rect">
            <a:avLst/>
          </a:prstGeom>
          <a:solidFill>
            <a:srgbClr val="00C8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41"/>
          <p:cNvSpPr txBox="1"/>
          <p:nvPr/>
        </p:nvSpPr>
        <p:spPr>
          <a:xfrm>
            <a:off x="342986" y="1097280"/>
            <a:ext cx="8437451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FFA500"/>
                </a:solidFill>
                <a:latin typeface="Calibri"/>
                <a:ea typeface="Calibri"/>
                <a:cs typeface="Calibri"/>
                <a:sym typeface="Calibri"/>
              </a:rPr>
              <a:t>Research Gap</a:t>
            </a:r>
            <a:endParaRPr sz="1100"/>
          </a:p>
        </p:txBody>
      </p:sp>
      <p:sp>
        <p:nvSpPr>
          <p:cNvPr id="323" name="Google Shape;323;p41"/>
          <p:cNvSpPr txBox="1"/>
          <p:nvPr/>
        </p:nvSpPr>
        <p:spPr>
          <a:xfrm>
            <a:off x="342986" y="1440180"/>
            <a:ext cx="8437451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b="0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HSI classification demands few-shot generalisation: only 10–30 labeled pixels per class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b="0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Transformers dominate but suffer from quadratic O(N²) self-attention — slow on large urban scenes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b="0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2026 introduces Macro-Micro Transformers and Route-Reliability Mamba — never head-to-head compared</a:t>
            </a:r>
            <a:endParaRPr sz="1100"/>
          </a:p>
        </p:txBody>
      </p:sp>
      <p:sp>
        <p:nvSpPr>
          <p:cNvPr id="324" name="Google Shape;324;p41"/>
          <p:cNvSpPr txBox="1"/>
          <p:nvPr/>
        </p:nvSpPr>
        <p:spPr>
          <a:xfrm>
            <a:off x="342986" y="2537460"/>
            <a:ext cx="8437451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Research Objectives</a:t>
            </a:r>
            <a:endParaRPr sz="1100"/>
          </a:p>
        </p:txBody>
      </p:sp>
      <p:sp>
        <p:nvSpPr>
          <p:cNvPr id="325" name="Google Shape;325;p41"/>
          <p:cNvSpPr/>
          <p:nvPr/>
        </p:nvSpPr>
        <p:spPr>
          <a:xfrm>
            <a:off x="274389" y="2914650"/>
            <a:ext cx="2778185" cy="1783080"/>
          </a:xfrm>
          <a:prstGeom prst="rect">
            <a:avLst/>
          </a:prstGeom>
          <a:solidFill>
            <a:srgbClr val="051526"/>
          </a:solidFill>
          <a:ln cap="flat" cmpd="sng" w="15225">
            <a:solidFill>
              <a:srgbClr val="00C8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41"/>
          <p:cNvSpPr/>
          <p:nvPr/>
        </p:nvSpPr>
        <p:spPr>
          <a:xfrm>
            <a:off x="274389" y="2914650"/>
            <a:ext cx="2778185" cy="329184"/>
          </a:xfrm>
          <a:prstGeom prst="rect">
            <a:avLst/>
          </a:prstGeom>
          <a:solidFill>
            <a:srgbClr val="00C8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41"/>
          <p:cNvSpPr txBox="1"/>
          <p:nvPr/>
        </p:nvSpPr>
        <p:spPr>
          <a:xfrm>
            <a:off x="342986" y="2935224"/>
            <a:ext cx="2640991" cy="28803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#1  Rigorous Benchmark</a:t>
            </a:r>
            <a:endParaRPr sz="1100"/>
          </a:p>
        </p:txBody>
      </p:sp>
      <p:sp>
        <p:nvSpPr>
          <p:cNvPr id="328" name="Google Shape;328;p41"/>
          <p:cNvSpPr txBox="1"/>
          <p:nvPr/>
        </p:nvSpPr>
        <p:spPr>
          <a:xfrm>
            <a:off x="377284" y="3305556"/>
            <a:ext cx="2572394" cy="13030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Head-to-head comparison of the two newest 2026 architectures under identical experimental conditions</a:t>
            </a:r>
            <a:endParaRPr sz="1100"/>
          </a:p>
        </p:txBody>
      </p:sp>
      <p:sp>
        <p:nvSpPr>
          <p:cNvPr id="329" name="Google Shape;329;p41"/>
          <p:cNvSpPr/>
          <p:nvPr/>
        </p:nvSpPr>
        <p:spPr>
          <a:xfrm>
            <a:off x="3210347" y="2914650"/>
            <a:ext cx="2778185" cy="1783080"/>
          </a:xfrm>
          <a:prstGeom prst="rect">
            <a:avLst/>
          </a:prstGeom>
          <a:solidFill>
            <a:srgbClr val="051526"/>
          </a:solidFill>
          <a:ln cap="flat" cmpd="sng" w="15225">
            <a:solidFill>
              <a:srgbClr val="00C8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41"/>
          <p:cNvSpPr/>
          <p:nvPr/>
        </p:nvSpPr>
        <p:spPr>
          <a:xfrm>
            <a:off x="3210347" y="2914650"/>
            <a:ext cx="2778185" cy="329184"/>
          </a:xfrm>
          <a:prstGeom prst="rect">
            <a:avLst/>
          </a:prstGeom>
          <a:solidFill>
            <a:srgbClr val="00C8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41"/>
          <p:cNvSpPr txBox="1"/>
          <p:nvPr/>
        </p:nvSpPr>
        <p:spPr>
          <a:xfrm>
            <a:off x="3278944" y="2935224"/>
            <a:ext cx="2640991" cy="28803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#2  Statistical Robustness</a:t>
            </a:r>
            <a:endParaRPr sz="1100"/>
          </a:p>
        </p:txBody>
      </p:sp>
      <p:sp>
        <p:nvSpPr>
          <p:cNvPr id="332" name="Google Shape;332;p41"/>
          <p:cNvSpPr txBox="1"/>
          <p:nvPr/>
        </p:nvSpPr>
        <p:spPr>
          <a:xfrm>
            <a:off x="3313243" y="3305556"/>
            <a:ext cx="2572394" cy="13030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3 independent seeded runs per model × dataset — reporting Mean ± Standard Deviation</a:t>
            </a:r>
            <a:endParaRPr sz="1100"/>
          </a:p>
        </p:txBody>
      </p:sp>
      <p:sp>
        <p:nvSpPr>
          <p:cNvPr id="333" name="Google Shape;333;p41"/>
          <p:cNvSpPr/>
          <p:nvPr/>
        </p:nvSpPr>
        <p:spPr>
          <a:xfrm>
            <a:off x="6146306" y="2914650"/>
            <a:ext cx="2778185" cy="1783080"/>
          </a:xfrm>
          <a:prstGeom prst="rect">
            <a:avLst/>
          </a:prstGeom>
          <a:solidFill>
            <a:srgbClr val="051526"/>
          </a:solidFill>
          <a:ln cap="flat" cmpd="sng" w="15225">
            <a:solidFill>
              <a:srgbClr val="00C8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41"/>
          <p:cNvSpPr/>
          <p:nvPr/>
        </p:nvSpPr>
        <p:spPr>
          <a:xfrm>
            <a:off x="6146306" y="2914650"/>
            <a:ext cx="2778185" cy="329184"/>
          </a:xfrm>
          <a:prstGeom prst="rect">
            <a:avLst/>
          </a:prstGeom>
          <a:solidFill>
            <a:srgbClr val="00C8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41"/>
          <p:cNvSpPr txBox="1"/>
          <p:nvPr/>
        </p:nvSpPr>
        <p:spPr>
          <a:xfrm>
            <a:off x="6214903" y="2935224"/>
            <a:ext cx="2640991" cy="28803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#3  Efficiency Analysis</a:t>
            </a:r>
            <a:endParaRPr sz="1100"/>
          </a:p>
        </p:txBody>
      </p:sp>
      <p:sp>
        <p:nvSpPr>
          <p:cNvPr id="336" name="Google Shape;336;p41"/>
          <p:cNvSpPr txBox="1"/>
          <p:nvPr/>
        </p:nvSpPr>
        <p:spPr>
          <a:xfrm>
            <a:off x="6249201" y="3305556"/>
            <a:ext cx="2572394" cy="13030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Compare training latency, convergence stability, and computational complexity O(N²) vs O(N)</a:t>
            </a:r>
            <a:endParaRPr sz="1100"/>
          </a:p>
        </p:txBody>
      </p:sp>
      <p:sp>
        <p:nvSpPr>
          <p:cNvPr id="337" name="Google Shape;337;p41"/>
          <p:cNvSpPr/>
          <p:nvPr/>
        </p:nvSpPr>
        <p:spPr>
          <a:xfrm>
            <a:off x="0" y="5088636"/>
            <a:ext cx="9144002" cy="54864"/>
          </a:xfrm>
          <a:prstGeom prst="rect">
            <a:avLst/>
          </a:prstGeom>
          <a:solidFill>
            <a:srgbClr val="FFA50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2"/>
          <p:cNvSpPr/>
          <p:nvPr/>
        </p:nvSpPr>
        <p:spPr>
          <a:xfrm>
            <a:off x="0" y="0"/>
            <a:ext cx="9144002" cy="54864"/>
          </a:xfrm>
          <a:prstGeom prst="rect">
            <a:avLst/>
          </a:prstGeom>
          <a:solidFill>
            <a:srgbClr val="00C8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42"/>
          <p:cNvSpPr/>
          <p:nvPr/>
        </p:nvSpPr>
        <p:spPr>
          <a:xfrm>
            <a:off x="0" y="0"/>
            <a:ext cx="9144002" cy="925830"/>
          </a:xfrm>
          <a:prstGeom prst="rect">
            <a:avLst/>
          </a:prstGeom>
          <a:solidFill>
            <a:srgbClr val="05101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42"/>
          <p:cNvSpPr txBox="1"/>
          <p:nvPr/>
        </p:nvSpPr>
        <p:spPr>
          <a:xfrm>
            <a:off x="342986" y="123444"/>
            <a:ext cx="8231659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The 2026 Models: MMFormer vs. R2Mamba</a:t>
            </a:r>
            <a:endParaRPr sz="1100"/>
          </a:p>
        </p:txBody>
      </p:sp>
      <p:sp>
        <p:nvSpPr>
          <p:cNvPr id="345" name="Google Shape;345;p42"/>
          <p:cNvSpPr txBox="1"/>
          <p:nvPr/>
        </p:nvSpPr>
        <p:spPr>
          <a:xfrm>
            <a:off x="342986" y="617220"/>
            <a:ext cx="82316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Transformer-based Macro-Micro attention vs. Selective State Space scanning</a:t>
            </a:r>
            <a:endParaRPr sz="1100"/>
          </a:p>
        </p:txBody>
      </p:sp>
      <p:sp>
        <p:nvSpPr>
          <p:cNvPr id="346" name="Google Shape;346;p42"/>
          <p:cNvSpPr/>
          <p:nvPr/>
        </p:nvSpPr>
        <p:spPr>
          <a:xfrm>
            <a:off x="0" y="925830"/>
            <a:ext cx="9144002" cy="27432"/>
          </a:xfrm>
          <a:prstGeom prst="rect">
            <a:avLst/>
          </a:prstGeom>
          <a:solidFill>
            <a:srgbClr val="00C8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42"/>
          <p:cNvSpPr/>
          <p:nvPr/>
        </p:nvSpPr>
        <p:spPr>
          <a:xfrm>
            <a:off x="274389" y="1062990"/>
            <a:ext cx="4184427" cy="3771900"/>
          </a:xfrm>
          <a:prstGeom prst="rect">
            <a:avLst/>
          </a:prstGeom>
          <a:solidFill>
            <a:srgbClr val="051526"/>
          </a:solidFill>
          <a:ln cap="flat" cmpd="sng" w="25400">
            <a:solidFill>
              <a:srgbClr val="0090C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42"/>
          <p:cNvSpPr/>
          <p:nvPr/>
        </p:nvSpPr>
        <p:spPr>
          <a:xfrm>
            <a:off x="274389" y="1062990"/>
            <a:ext cx="4184427" cy="377190"/>
          </a:xfrm>
          <a:prstGeom prst="rect">
            <a:avLst/>
          </a:prstGeom>
          <a:solidFill>
            <a:srgbClr val="0090C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42"/>
          <p:cNvSpPr txBox="1"/>
          <p:nvPr/>
        </p:nvSpPr>
        <p:spPr>
          <a:xfrm>
            <a:off x="377284" y="1097280"/>
            <a:ext cx="4047232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MMFormer  (IEEE TGRS 2026)</a:t>
            </a:r>
            <a:endParaRPr sz="1100"/>
          </a:p>
        </p:txBody>
      </p:sp>
      <p:sp>
        <p:nvSpPr>
          <p:cNvPr id="350" name="Google Shape;350;p42"/>
          <p:cNvSpPr txBox="1"/>
          <p:nvPr/>
        </p:nvSpPr>
        <p:spPr>
          <a:xfrm>
            <a:off x="377284" y="1543050"/>
            <a:ext cx="3910038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0090C8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Architecture: Macro-Micro Vision Transformer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0090C8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Macro Branch: Global scene semantics across broad spatial tokens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0090C8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Micro Branch: Fine-grained local spectral-spatial texture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0090C8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Cross-Attention Fusion: Dynamic exchange between scales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0090C8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Complexity: Quadratic  O(N²)  self-attention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0090C8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Published: IEEE TGRS 2026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0090C8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DOI: 10.1109/TGRS.2026.3696892</a:t>
            </a:r>
            <a:endParaRPr sz="1100"/>
          </a:p>
        </p:txBody>
      </p:sp>
      <p:sp>
        <p:nvSpPr>
          <p:cNvPr id="351" name="Google Shape;351;p42"/>
          <p:cNvSpPr/>
          <p:nvPr/>
        </p:nvSpPr>
        <p:spPr>
          <a:xfrm>
            <a:off x="4664607" y="1062990"/>
            <a:ext cx="4184427" cy="3771900"/>
          </a:xfrm>
          <a:prstGeom prst="rect">
            <a:avLst/>
          </a:prstGeom>
          <a:solidFill>
            <a:srgbClr val="041C0E"/>
          </a:solidFill>
          <a:ln cap="flat" cmpd="sng" w="25400">
            <a:solidFill>
              <a:srgbClr val="2ECC7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42"/>
          <p:cNvSpPr/>
          <p:nvPr/>
        </p:nvSpPr>
        <p:spPr>
          <a:xfrm>
            <a:off x="4664607" y="1062990"/>
            <a:ext cx="4184427" cy="377190"/>
          </a:xfrm>
          <a:prstGeom prst="rect">
            <a:avLst/>
          </a:prstGeom>
          <a:solidFill>
            <a:srgbClr val="2ECC7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42"/>
          <p:cNvSpPr txBox="1"/>
          <p:nvPr/>
        </p:nvSpPr>
        <p:spPr>
          <a:xfrm>
            <a:off x="4767503" y="1097280"/>
            <a:ext cx="4047232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R2Mamba  (IEEE JSTARS 2026)</a:t>
            </a:r>
            <a:endParaRPr sz="1100"/>
          </a:p>
        </p:txBody>
      </p:sp>
      <p:sp>
        <p:nvSpPr>
          <p:cNvPr id="354" name="Google Shape;354;p42"/>
          <p:cNvSpPr txBox="1"/>
          <p:nvPr/>
        </p:nvSpPr>
        <p:spPr>
          <a:xfrm>
            <a:off x="4767503" y="1543050"/>
            <a:ext cx="3910038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Architecture: Route-Reliability State Space Model (SSM)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Sequential scanning of spatial-spectral tokens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Reliability Gating: Down-weights noisy/mixed boundary pixels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Linear Complexity:  O(N)  — scales to very large scenes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Converges faster (25–40 epochs vs 40–50 for Transformer)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Published: IEEE JSTARS 2026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DOI: 10.1109/JSTARS.2026.3728152</a:t>
            </a:r>
            <a:endParaRPr sz="1100"/>
          </a:p>
        </p:txBody>
      </p:sp>
      <p:sp>
        <p:nvSpPr>
          <p:cNvPr id="355" name="Google Shape;355;p42"/>
          <p:cNvSpPr/>
          <p:nvPr/>
        </p:nvSpPr>
        <p:spPr>
          <a:xfrm>
            <a:off x="4184427" y="2331720"/>
            <a:ext cx="480180" cy="480060"/>
          </a:xfrm>
          <a:prstGeom prst="rect">
            <a:avLst/>
          </a:prstGeom>
          <a:solidFill>
            <a:srgbClr val="FFA50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42"/>
          <p:cNvSpPr txBox="1"/>
          <p:nvPr/>
        </p:nvSpPr>
        <p:spPr>
          <a:xfrm>
            <a:off x="4184427" y="2331720"/>
            <a:ext cx="48018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VS</a:t>
            </a:r>
            <a:endParaRPr sz="1100"/>
          </a:p>
        </p:txBody>
      </p:sp>
      <p:sp>
        <p:nvSpPr>
          <p:cNvPr id="357" name="Google Shape;357;p42"/>
          <p:cNvSpPr/>
          <p:nvPr/>
        </p:nvSpPr>
        <p:spPr>
          <a:xfrm>
            <a:off x="0" y="5088636"/>
            <a:ext cx="9144002" cy="54864"/>
          </a:xfrm>
          <a:prstGeom prst="rect">
            <a:avLst/>
          </a:prstGeom>
          <a:solidFill>
            <a:srgbClr val="FFA50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3"/>
          <p:cNvSpPr/>
          <p:nvPr/>
        </p:nvSpPr>
        <p:spPr>
          <a:xfrm>
            <a:off x="0" y="0"/>
            <a:ext cx="9144002" cy="54864"/>
          </a:xfrm>
          <a:prstGeom prst="rect">
            <a:avLst/>
          </a:prstGeom>
          <a:solidFill>
            <a:srgbClr val="00C8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43"/>
          <p:cNvSpPr/>
          <p:nvPr/>
        </p:nvSpPr>
        <p:spPr>
          <a:xfrm>
            <a:off x="0" y="0"/>
            <a:ext cx="9144002" cy="925830"/>
          </a:xfrm>
          <a:prstGeom prst="rect">
            <a:avLst/>
          </a:prstGeom>
          <a:solidFill>
            <a:srgbClr val="05101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43"/>
          <p:cNvSpPr txBox="1"/>
          <p:nvPr/>
        </p:nvSpPr>
        <p:spPr>
          <a:xfrm>
            <a:off x="342986" y="123444"/>
            <a:ext cx="8231659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Phase 1: Pipeline Validation</a:t>
            </a:r>
            <a:endParaRPr sz="1100"/>
          </a:p>
        </p:txBody>
      </p:sp>
      <p:sp>
        <p:nvSpPr>
          <p:cNvPr id="365" name="Google Shape;365;p43"/>
          <p:cNvSpPr txBox="1"/>
          <p:nvPr/>
        </p:nvSpPr>
        <p:spPr>
          <a:xfrm>
            <a:off x="342986" y="617220"/>
            <a:ext cx="82316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Verifying the end-to-end framework before resource-intensive experiments</a:t>
            </a:r>
            <a:endParaRPr sz="1100"/>
          </a:p>
        </p:txBody>
      </p:sp>
      <p:sp>
        <p:nvSpPr>
          <p:cNvPr id="366" name="Google Shape;366;p43"/>
          <p:cNvSpPr/>
          <p:nvPr/>
        </p:nvSpPr>
        <p:spPr>
          <a:xfrm>
            <a:off x="0" y="925830"/>
            <a:ext cx="9144002" cy="27432"/>
          </a:xfrm>
          <a:prstGeom prst="rect">
            <a:avLst/>
          </a:prstGeom>
          <a:solidFill>
            <a:srgbClr val="00C8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43"/>
          <p:cNvSpPr txBox="1"/>
          <p:nvPr/>
        </p:nvSpPr>
        <p:spPr>
          <a:xfrm>
            <a:off x="342986" y="1097280"/>
            <a:ext cx="8437451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FFA500"/>
                </a:solidFill>
                <a:latin typeface="Calibri"/>
                <a:ea typeface="Calibri"/>
                <a:cs typeface="Calibri"/>
                <a:sym typeface="Calibri"/>
              </a:rPr>
              <a:t>Why a Validation Phase?</a:t>
            </a:r>
            <a:endParaRPr sz="1100"/>
          </a:p>
        </p:txBody>
      </p:sp>
      <p:sp>
        <p:nvSpPr>
          <p:cNvPr id="368" name="Google Shape;368;p43"/>
          <p:cNvSpPr txBox="1"/>
          <p:nvPr/>
        </p:nvSpPr>
        <p:spPr>
          <a:xfrm>
            <a:off x="342986" y="1440180"/>
            <a:ext cx="8437451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b="0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Before training expensive 2026 SOTA models, we verify every pipeline stage works correctly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b="0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Confirms HuggingFace auto-download, on-the-fly PCA, patch generation, and classification map export</a:t>
            </a:r>
            <a:endParaRPr sz="1100"/>
          </a:p>
        </p:txBody>
      </p:sp>
      <p:sp>
        <p:nvSpPr>
          <p:cNvPr id="369" name="Google Shape;369;p43"/>
          <p:cNvSpPr txBox="1"/>
          <p:nvPr/>
        </p:nvSpPr>
        <p:spPr>
          <a:xfrm>
            <a:off x="342986" y="2160270"/>
            <a:ext cx="8437451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Baseline Models Tested</a:t>
            </a:r>
            <a:endParaRPr sz="1100"/>
          </a:p>
        </p:txBody>
      </p:sp>
      <p:sp>
        <p:nvSpPr>
          <p:cNvPr id="370" name="Google Shape;370;p43"/>
          <p:cNvSpPr/>
          <p:nvPr/>
        </p:nvSpPr>
        <p:spPr>
          <a:xfrm>
            <a:off x="274389" y="2537460"/>
            <a:ext cx="1660051" cy="1988820"/>
          </a:xfrm>
          <a:prstGeom prst="rect">
            <a:avLst/>
          </a:prstGeom>
          <a:solidFill>
            <a:srgbClr val="051526"/>
          </a:solidFill>
          <a:ln cap="flat" cmpd="sng" w="12700">
            <a:solidFill>
              <a:srgbClr val="00C8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43"/>
          <p:cNvSpPr/>
          <p:nvPr/>
        </p:nvSpPr>
        <p:spPr>
          <a:xfrm>
            <a:off x="274389" y="2537460"/>
            <a:ext cx="1660051" cy="288036"/>
          </a:xfrm>
          <a:prstGeom prst="rect">
            <a:avLst/>
          </a:prstGeom>
          <a:solidFill>
            <a:srgbClr val="00C8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43"/>
          <p:cNvSpPr txBox="1"/>
          <p:nvPr/>
        </p:nvSpPr>
        <p:spPr>
          <a:xfrm>
            <a:off x="329266" y="2558034"/>
            <a:ext cx="1550295" cy="2606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HybridSN</a:t>
            </a:r>
            <a:endParaRPr sz="1100"/>
          </a:p>
        </p:txBody>
      </p:sp>
      <p:sp>
        <p:nvSpPr>
          <p:cNvPr id="373" name="Google Shape;373;p43"/>
          <p:cNvSpPr txBox="1"/>
          <p:nvPr/>
        </p:nvSpPr>
        <p:spPr>
          <a:xfrm>
            <a:off x="329266" y="2880360"/>
            <a:ext cx="1550295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2019  |  IEEE GRSL</a:t>
            </a:r>
            <a:endParaRPr sz="1100"/>
          </a:p>
        </p:txBody>
      </p:sp>
      <p:sp>
        <p:nvSpPr>
          <p:cNvPr id="374" name="Google Shape;374;p43"/>
          <p:cNvSpPr txBox="1"/>
          <p:nvPr/>
        </p:nvSpPr>
        <p:spPr>
          <a:xfrm>
            <a:off x="329266" y="3154680"/>
            <a:ext cx="155029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3D-2D Conv Hybrid</a:t>
            </a:r>
            <a:endParaRPr sz="1100"/>
          </a:p>
        </p:txBody>
      </p:sp>
      <p:sp>
        <p:nvSpPr>
          <p:cNvPr id="375" name="Google Shape;375;p43"/>
          <p:cNvSpPr txBox="1"/>
          <p:nvPr/>
        </p:nvSpPr>
        <p:spPr>
          <a:xfrm>
            <a:off x="329266" y="3600450"/>
            <a:ext cx="1550295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✓ Passed</a:t>
            </a:r>
            <a:endParaRPr sz="1100"/>
          </a:p>
        </p:txBody>
      </p:sp>
      <p:sp>
        <p:nvSpPr>
          <p:cNvPr id="376" name="Google Shape;376;p43"/>
          <p:cNvSpPr/>
          <p:nvPr/>
        </p:nvSpPr>
        <p:spPr>
          <a:xfrm>
            <a:off x="2023616" y="2537460"/>
            <a:ext cx="1660051" cy="1988820"/>
          </a:xfrm>
          <a:prstGeom prst="rect">
            <a:avLst/>
          </a:prstGeom>
          <a:solidFill>
            <a:srgbClr val="051526"/>
          </a:solidFill>
          <a:ln cap="flat" cmpd="sng" w="12700">
            <a:solidFill>
              <a:srgbClr val="00C8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43"/>
          <p:cNvSpPr/>
          <p:nvPr/>
        </p:nvSpPr>
        <p:spPr>
          <a:xfrm>
            <a:off x="2023616" y="2537460"/>
            <a:ext cx="1660051" cy="288036"/>
          </a:xfrm>
          <a:prstGeom prst="rect">
            <a:avLst/>
          </a:prstGeom>
          <a:solidFill>
            <a:srgbClr val="00C8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43"/>
          <p:cNvSpPr txBox="1"/>
          <p:nvPr/>
        </p:nvSpPr>
        <p:spPr>
          <a:xfrm>
            <a:off x="2078494" y="2558034"/>
            <a:ext cx="1550295" cy="2606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SSRN</a:t>
            </a:r>
            <a:endParaRPr sz="1100"/>
          </a:p>
        </p:txBody>
      </p:sp>
      <p:sp>
        <p:nvSpPr>
          <p:cNvPr id="379" name="Google Shape;379;p43"/>
          <p:cNvSpPr txBox="1"/>
          <p:nvPr/>
        </p:nvSpPr>
        <p:spPr>
          <a:xfrm>
            <a:off x="2078494" y="2880360"/>
            <a:ext cx="1550295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2017  |  IEEE TGRS</a:t>
            </a:r>
            <a:endParaRPr sz="1100"/>
          </a:p>
        </p:txBody>
      </p:sp>
      <p:sp>
        <p:nvSpPr>
          <p:cNvPr id="380" name="Google Shape;380;p43"/>
          <p:cNvSpPr txBox="1"/>
          <p:nvPr/>
        </p:nvSpPr>
        <p:spPr>
          <a:xfrm>
            <a:off x="2078494" y="3154680"/>
            <a:ext cx="155029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Spectral-Spatial ResNet</a:t>
            </a:r>
            <a:endParaRPr sz="1100"/>
          </a:p>
        </p:txBody>
      </p:sp>
      <p:sp>
        <p:nvSpPr>
          <p:cNvPr id="381" name="Google Shape;381;p43"/>
          <p:cNvSpPr txBox="1"/>
          <p:nvPr/>
        </p:nvSpPr>
        <p:spPr>
          <a:xfrm>
            <a:off x="2078494" y="3600450"/>
            <a:ext cx="1550295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✓ Passed</a:t>
            </a:r>
            <a:endParaRPr sz="1100"/>
          </a:p>
        </p:txBody>
      </p:sp>
      <p:sp>
        <p:nvSpPr>
          <p:cNvPr id="382" name="Google Shape;382;p43"/>
          <p:cNvSpPr/>
          <p:nvPr/>
        </p:nvSpPr>
        <p:spPr>
          <a:xfrm>
            <a:off x="3772844" y="2537460"/>
            <a:ext cx="1660051" cy="1988820"/>
          </a:xfrm>
          <a:prstGeom prst="rect">
            <a:avLst/>
          </a:prstGeom>
          <a:solidFill>
            <a:srgbClr val="051526"/>
          </a:solidFill>
          <a:ln cap="flat" cmpd="sng" w="12700">
            <a:solidFill>
              <a:srgbClr val="00C8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43"/>
          <p:cNvSpPr/>
          <p:nvPr/>
        </p:nvSpPr>
        <p:spPr>
          <a:xfrm>
            <a:off x="3772844" y="2537460"/>
            <a:ext cx="1660051" cy="288036"/>
          </a:xfrm>
          <a:prstGeom prst="rect">
            <a:avLst/>
          </a:prstGeom>
          <a:solidFill>
            <a:srgbClr val="00C8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43"/>
          <p:cNvSpPr txBox="1"/>
          <p:nvPr/>
        </p:nvSpPr>
        <p:spPr>
          <a:xfrm>
            <a:off x="3827722" y="2558034"/>
            <a:ext cx="1550295" cy="2606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pResNet</a:t>
            </a:r>
            <a:endParaRPr sz="1100"/>
          </a:p>
        </p:txBody>
      </p:sp>
      <p:sp>
        <p:nvSpPr>
          <p:cNvPr id="385" name="Google Shape;385;p43"/>
          <p:cNvSpPr txBox="1"/>
          <p:nvPr/>
        </p:nvSpPr>
        <p:spPr>
          <a:xfrm>
            <a:off x="3827722" y="2880360"/>
            <a:ext cx="1550295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2019  |  IEEE TGRS</a:t>
            </a:r>
            <a:endParaRPr sz="1100"/>
          </a:p>
        </p:txBody>
      </p:sp>
      <p:sp>
        <p:nvSpPr>
          <p:cNvPr id="386" name="Google Shape;386;p43"/>
          <p:cNvSpPr txBox="1"/>
          <p:nvPr/>
        </p:nvSpPr>
        <p:spPr>
          <a:xfrm>
            <a:off x="3827722" y="3154680"/>
            <a:ext cx="155029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Pyramidal Residual Net</a:t>
            </a:r>
            <a:endParaRPr sz="1100"/>
          </a:p>
        </p:txBody>
      </p:sp>
      <p:sp>
        <p:nvSpPr>
          <p:cNvPr id="387" name="Google Shape;387;p43"/>
          <p:cNvSpPr txBox="1"/>
          <p:nvPr/>
        </p:nvSpPr>
        <p:spPr>
          <a:xfrm>
            <a:off x="3827722" y="3600450"/>
            <a:ext cx="1550295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✓ Passed</a:t>
            </a:r>
            <a:endParaRPr sz="1100"/>
          </a:p>
        </p:txBody>
      </p:sp>
      <p:sp>
        <p:nvSpPr>
          <p:cNvPr id="388" name="Google Shape;388;p43"/>
          <p:cNvSpPr/>
          <p:nvPr/>
        </p:nvSpPr>
        <p:spPr>
          <a:xfrm>
            <a:off x="5522071" y="2537460"/>
            <a:ext cx="1660051" cy="1988820"/>
          </a:xfrm>
          <a:prstGeom prst="rect">
            <a:avLst/>
          </a:prstGeom>
          <a:solidFill>
            <a:srgbClr val="051526"/>
          </a:solidFill>
          <a:ln cap="flat" cmpd="sng" w="12700">
            <a:solidFill>
              <a:srgbClr val="00C8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43"/>
          <p:cNvSpPr/>
          <p:nvPr/>
        </p:nvSpPr>
        <p:spPr>
          <a:xfrm>
            <a:off x="5522071" y="2537460"/>
            <a:ext cx="1660051" cy="288036"/>
          </a:xfrm>
          <a:prstGeom prst="rect">
            <a:avLst/>
          </a:prstGeom>
          <a:solidFill>
            <a:srgbClr val="00C8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43"/>
          <p:cNvSpPr txBox="1"/>
          <p:nvPr/>
        </p:nvSpPr>
        <p:spPr>
          <a:xfrm>
            <a:off x="5576949" y="2558034"/>
            <a:ext cx="1550295" cy="2606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DBDA</a:t>
            </a:r>
            <a:endParaRPr sz="1100"/>
          </a:p>
        </p:txBody>
      </p:sp>
      <p:sp>
        <p:nvSpPr>
          <p:cNvPr id="391" name="Google Shape;391;p43"/>
          <p:cNvSpPr txBox="1"/>
          <p:nvPr/>
        </p:nvSpPr>
        <p:spPr>
          <a:xfrm>
            <a:off x="5576949" y="2880360"/>
            <a:ext cx="1550295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2020  |  MDPI RS</a:t>
            </a:r>
            <a:endParaRPr sz="1100"/>
          </a:p>
        </p:txBody>
      </p:sp>
      <p:sp>
        <p:nvSpPr>
          <p:cNvPr id="392" name="Google Shape;392;p43"/>
          <p:cNvSpPr txBox="1"/>
          <p:nvPr/>
        </p:nvSpPr>
        <p:spPr>
          <a:xfrm>
            <a:off x="5576949" y="3154680"/>
            <a:ext cx="155029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Dual-Branch Dual Attention</a:t>
            </a:r>
            <a:endParaRPr sz="1100"/>
          </a:p>
        </p:txBody>
      </p:sp>
      <p:sp>
        <p:nvSpPr>
          <p:cNvPr id="393" name="Google Shape;393;p43"/>
          <p:cNvSpPr txBox="1"/>
          <p:nvPr/>
        </p:nvSpPr>
        <p:spPr>
          <a:xfrm>
            <a:off x="5576949" y="3600450"/>
            <a:ext cx="1550295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✓ Passed</a:t>
            </a:r>
            <a:endParaRPr sz="1100"/>
          </a:p>
        </p:txBody>
      </p:sp>
      <p:sp>
        <p:nvSpPr>
          <p:cNvPr id="394" name="Google Shape;394;p43"/>
          <p:cNvSpPr/>
          <p:nvPr/>
        </p:nvSpPr>
        <p:spPr>
          <a:xfrm>
            <a:off x="7271299" y="2537460"/>
            <a:ext cx="1660051" cy="1988820"/>
          </a:xfrm>
          <a:prstGeom prst="rect">
            <a:avLst/>
          </a:prstGeom>
          <a:solidFill>
            <a:srgbClr val="051526"/>
          </a:solidFill>
          <a:ln cap="flat" cmpd="sng" w="12700">
            <a:solidFill>
              <a:srgbClr val="00C8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43"/>
          <p:cNvSpPr/>
          <p:nvPr/>
        </p:nvSpPr>
        <p:spPr>
          <a:xfrm>
            <a:off x="7271299" y="2537460"/>
            <a:ext cx="1660051" cy="288036"/>
          </a:xfrm>
          <a:prstGeom prst="rect">
            <a:avLst/>
          </a:prstGeom>
          <a:solidFill>
            <a:srgbClr val="FFA50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43"/>
          <p:cNvSpPr txBox="1"/>
          <p:nvPr/>
        </p:nvSpPr>
        <p:spPr>
          <a:xfrm>
            <a:off x="7326177" y="2558034"/>
            <a:ext cx="1550295" cy="2606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SpectralFormer</a:t>
            </a:r>
            <a:endParaRPr sz="1100"/>
          </a:p>
        </p:txBody>
      </p:sp>
      <p:sp>
        <p:nvSpPr>
          <p:cNvPr id="397" name="Google Shape;397;p43"/>
          <p:cNvSpPr txBox="1"/>
          <p:nvPr/>
        </p:nvSpPr>
        <p:spPr>
          <a:xfrm>
            <a:off x="7326177" y="2880360"/>
            <a:ext cx="1550295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2021  |  IEEE TGRS</a:t>
            </a:r>
            <a:endParaRPr sz="1100"/>
          </a:p>
        </p:txBody>
      </p:sp>
      <p:sp>
        <p:nvSpPr>
          <p:cNvPr id="398" name="Google Shape;398;p43"/>
          <p:cNvSpPr txBox="1"/>
          <p:nvPr/>
        </p:nvSpPr>
        <p:spPr>
          <a:xfrm>
            <a:off x="7326177" y="3154680"/>
            <a:ext cx="155029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Spectral Transformer</a:t>
            </a:r>
            <a:endParaRPr sz="1100"/>
          </a:p>
        </p:txBody>
      </p:sp>
      <p:sp>
        <p:nvSpPr>
          <p:cNvPr id="399" name="Google Shape;399;p43"/>
          <p:cNvSpPr txBox="1"/>
          <p:nvPr/>
        </p:nvSpPr>
        <p:spPr>
          <a:xfrm>
            <a:off x="7326177" y="3600450"/>
            <a:ext cx="1550295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✓ Passed</a:t>
            </a:r>
            <a:endParaRPr sz="1100"/>
          </a:p>
        </p:txBody>
      </p:sp>
      <p:sp>
        <p:nvSpPr>
          <p:cNvPr id="400" name="Google Shape;400;p43"/>
          <p:cNvSpPr txBox="1"/>
          <p:nvPr/>
        </p:nvSpPr>
        <p:spPr>
          <a:xfrm>
            <a:off x="342986" y="4663440"/>
            <a:ext cx="8437451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FFA500"/>
                </a:solidFill>
                <a:latin typeface="Calibri"/>
                <a:ea typeface="Calibri"/>
                <a:cs typeface="Calibri"/>
                <a:sym typeface="Calibri"/>
              </a:rPr>
              <a:t>Result: Full pipeline confirmed — 5 models × 2 seeds × Indian Pines in ~20 min on Kaggle T4 GPU</a:t>
            </a:r>
            <a:endParaRPr sz="1100"/>
          </a:p>
        </p:txBody>
      </p:sp>
      <p:sp>
        <p:nvSpPr>
          <p:cNvPr id="401" name="Google Shape;401;p43"/>
          <p:cNvSpPr/>
          <p:nvPr/>
        </p:nvSpPr>
        <p:spPr>
          <a:xfrm>
            <a:off x="0" y="5088636"/>
            <a:ext cx="9144002" cy="54864"/>
          </a:xfrm>
          <a:prstGeom prst="rect">
            <a:avLst/>
          </a:prstGeom>
          <a:solidFill>
            <a:srgbClr val="FFA50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4"/>
          <p:cNvSpPr/>
          <p:nvPr/>
        </p:nvSpPr>
        <p:spPr>
          <a:xfrm>
            <a:off x="0" y="0"/>
            <a:ext cx="9144002" cy="54864"/>
          </a:xfrm>
          <a:prstGeom prst="rect">
            <a:avLst/>
          </a:prstGeom>
          <a:solidFill>
            <a:srgbClr val="00C8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44"/>
          <p:cNvSpPr/>
          <p:nvPr/>
        </p:nvSpPr>
        <p:spPr>
          <a:xfrm>
            <a:off x="0" y="0"/>
            <a:ext cx="9144002" cy="925830"/>
          </a:xfrm>
          <a:prstGeom prst="rect">
            <a:avLst/>
          </a:prstGeom>
          <a:solidFill>
            <a:srgbClr val="05101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44"/>
          <p:cNvSpPr txBox="1"/>
          <p:nvPr/>
        </p:nvSpPr>
        <p:spPr>
          <a:xfrm>
            <a:off x="342986" y="123444"/>
            <a:ext cx="8231659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Datasets &amp; Experimental Protocol</a:t>
            </a:r>
            <a:endParaRPr sz="1100"/>
          </a:p>
        </p:txBody>
      </p:sp>
      <p:sp>
        <p:nvSpPr>
          <p:cNvPr id="409" name="Google Shape;409;p44"/>
          <p:cNvSpPr txBox="1"/>
          <p:nvPr/>
        </p:nvSpPr>
        <p:spPr>
          <a:xfrm>
            <a:off x="342986" y="617220"/>
            <a:ext cx="82316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Two standard benchmark scenes + reproducible experimental design</a:t>
            </a:r>
            <a:endParaRPr sz="1100"/>
          </a:p>
        </p:txBody>
      </p:sp>
      <p:sp>
        <p:nvSpPr>
          <p:cNvPr id="410" name="Google Shape;410;p44"/>
          <p:cNvSpPr/>
          <p:nvPr/>
        </p:nvSpPr>
        <p:spPr>
          <a:xfrm>
            <a:off x="0" y="925830"/>
            <a:ext cx="9144002" cy="27432"/>
          </a:xfrm>
          <a:prstGeom prst="rect">
            <a:avLst/>
          </a:prstGeom>
          <a:solidFill>
            <a:srgbClr val="00C8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44"/>
          <p:cNvSpPr/>
          <p:nvPr/>
        </p:nvSpPr>
        <p:spPr>
          <a:xfrm>
            <a:off x="274389" y="1062990"/>
            <a:ext cx="4047232" cy="3703320"/>
          </a:xfrm>
          <a:prstGeom prst="rect">
            <a:avLst/>
          </a:prstGeom>
          <a:solidFill>
            <a:srgbClr val="051526"/>
          </a:solidFill>
          <a:ln cap="flat" cmpd="sng" w="19050">
            <a:solidFill>
              <a:srgbClr val="00C8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44"/>
          <p:cNvSpPr/>
          <p:nvPr/>
        </p:nvSpPr>
        <p:spPr>
          <a:xfrm>
            <a:off x="274389" y="1062990"/>
            <a:ext cx="4047232" cy="342900"/>
          </a:xfrm>
          <a:prstGeom prst="rect">
            <a:avLst/>
          </a:prstGeom>
          <a:solidFill>
            <a:srgbClr val="00C8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44"/>
          <p:cNvSpPr txBox="1"/>
          <p:nvPr/>
        </p:nvSpPr>
        <p:spPr>
          <a:xfrm>
            <a:off x="377284" y="1097280"/>
            <a:ext cx="3910038" cy="28803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Indian Pines  (AVIRIS Sensor)</a:t>
            </a:r>
            <a:endParaRPr sz="1100"/>
          </a:p>
        </p:txBody>
      </p:sp>
      <p:sp>
        <p:nvSpPr>
          <p:cNvPr id="414" name="Google Shape;414;p44"/>
          <p:cNvSpPr txBox="1"/>
          <p:nvPr/>
        </p:nvSpPr>
        <p:spPr>
          <a:xfrm>
            <a:off x="377284" y="1474470"/>
            <a:ext cx="3841441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Location: Indiana, USA — Agricultural scene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Dimensions: 145 × 145 pixels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Spectral Bands: 200 raw  →  30 (after PCA)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Target Classes: 16 crop types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Challenge: Subtle spectral differences between early-growth crop stages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Split: 10 train / 5 val per class (~9,482 test pixels)</a:t>
            </a:r>
            <a:endParaRPr sz="1100"/>
          </a:p>
        </p:txBody>
      </p:sp>
      <p:sp>
        <p:nvSpPr>
          <p:cNvPr id="415" name="Google Shape;415;p44"/>
          <p:cNvSpPr/>
          <p:nvPr/>
        </p:nvSpPr>
        <p:spPr>
          <a:xfrm>
            <a:off x="4561711" y="1062990"/>
            <a:ext cx="4253024" cy="3703320"/>
          </a:xfrm>
          <a:prstGeom prst="rect">
            <a:avLst/>
          </a:prstGeom>
          <a:solidFill>
            <a:srgbClr val="041C0E"/>
          </a:solidFill>
          <a:ln cap="flat" cmpd="sng" w="19050">
            <a:solidFill>
              <a:srgbClr val="2ECC7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44"/>
          <p:cNvSpPr/>
          <p:nvPr/>
        </p:nvSpPr>
        <p:spPr>
          <a:xfrm>
            <a:off x="4561711" y="1062990"/>
            <a:ext cx="4253024" cy="342900"/>
          </a:xfrm>
          <a:prstGeom prst="rect">
            <a:avLst/>
          </a:prstGeom>
          <a:solidFill>
            <a:srgbClr val="2ECC7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44"/>
          <p:cNvSpPr txBox="1"/>
          <p:nvPr/>
        </p:nvSpPr>
        <p:spPr>
          <a:xfrm>
            <a:off x="4664607" y="1097280"/>
            <a:ext cx="4115830" cy="28803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Pavia University  (ROSIS Sensor)</a:t>
            </a:r>
            <a:endParaRPr sz="1100"/>
          </a:p>
        </p:txBody>
      </p:sp>
      <p:sp>
        <p:nvSpPr>
          <p:cNvPr id="418" name="Google Shape;418;p44"/>
          <p:cNvSpPr txBox="1"/>
          <p:nvPr/>
        </p:nvSpPr>
        <p:spPr>
          <a:xfrm>
            <a:off x="4664607" y="1474470"/>
            <a:ext cx="4047232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Location: Pavia, Italy — Dense urban infrastructure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Dimensions: 610 × 340 pixels (207,400 pixels total)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Spectral Bands: 103 raw  →  30 (after PCA)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Target Classes: 9 urban materials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Challenge: High intra-class spectral variability in built surfaces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Split: 30 train / 10 val per class (~40,044 test pixels)</a:t>
            </a:r>
            <a:endParaRPr sz="1100"/>
          </a:p>
        </p:txBody>
      </p:sp>
      <p:sp>
        <p:nvSpPr>
          <p:cNvPr id="419" name="Google Shape;419;p44"/>
          <p:cNvSpPr/>
          <p:nvPr/>
        </p:nvSpPr>
        <p:spPr>
          <a:xfrm>
            <a:off x="0" y="4786884"/>
            <a:ext cx="9144002" cy="356616"/>
          </a:xfrm>
          <a:prstGeom prst="rect">
            <a:avLst/>
          </a:prstGeom>
          <a:solidFill>
            <a:srgbClr val="030D1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44"/>
          <p:cNvSpPr txBox="1"/>
          <p:nvPr/>
        </p:nvSpPr>
        <p:spPr>
          <a:xfrm>
            <a:off x="205791" y="4814316"/>
            <a:ext cx="8711839" cy="28803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FFA500"/>
                </a:solidFill>
                <a:latin typeface="Calibri"/>
                <a:ea typeface="Calibri"/>
                <a:cs typeface="Calibri"/>
                <a:sym typeface="Calibri"/>
              </a:rPr>
              <a:t>Protocol:  PCA → 30 bands  |  Patch 11×11  |  Adam lr=0.001  |  Batch 64  |  Early Stop (patience=12)  |  3 Seeds [1,2,3]  |  NVIDIA T4 GPU</a:t>
            </a:r>
            <a:endParaRPr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45"/>
          <p:cNvSpPr/>
          <p:nvPr/>
        </p:nvSpPr>
        <p:spPr>
          <a:xfrm>
            <a:off x="0" y="0"/>
            <a:ext cx="9144002" cy="54864"/>
          </a:xfrm>
          <a:prstGeom prst="rect">
            <a:avLst/>
          </a:prstGeom>
          <a:solidFill>
            <a:srgbClr val="00C8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45"/>
          <p:cNvSpPr/>
          <p:nvPr/>
        </p:nvSpPr>
        <p:spPr>
          <a:xfrm>
            <a:off x="0" y="0"/>
            <a:ext cx="9144002" cy="925830"/>
          </a:xfrm>
          <a:prstGeom prst="rect">
            <a:avLst/>
          </a:prstGeom>
          <a:solidFill>
            <a:srgbClr val="05101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45"/>
          <p:cNvSpPr txBox="1"/>
          <p:nvPr/>
        </p:nvSpPr>
        <p:spPr>
          <a:xfrm>
            <a:off x="342986" y="123444"/>
            <a:ext cx="8231659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Results: Indian Pines (16 Classes)</a:t>
            </a:r>
            <a:endParaRPr sz="1100"/>
          </a:p>
        </p:txBody>
      </p:sp>
      <p:sp>
        <p:nvSpPr>
          <p:cNvPr id="428" name="Google Shape;428;p45"/>
          <p:cNvSpPr txBox="1"/>
          <p:nvPr/>
        </p:nvSpPr>
        <p:spPr>
          <a:xfrm>
            <a:off x="342986" y="617220"/>
            <a:ext cx="82316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3-seed evaluation  |  10 train / 5 val per class  |  ~9,482 test pixels</a:t>
            </a:r>
            <a:endParaRPr sz="1100"/>
          </a:p>
        </p:txBody>
      </p:sp>
      <p:sp>
        <p:nvSpPr>
          <p:cNvPr id="429" name="Google Shape;429;p45"/>
          <p:cNvSpPr/>
          <p:nvPr/>
        </p:nvSpPr>
        <p:spPr>
          <a:xfrm>
            <a:off x="0" y="925830"/>
            <a:ext cx="9144002" cy="27432"/>
          </a:xfrm>
          <a:prstGeom prst="rect">
            <a:avLst/>
          </a:prstGeom>
          <a:solidFill>
            <a:srgbClr val="00C8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45"/>
          <p:cNvSpPr/>
          <p:nvPr/>
        </p:nvSpPr>
        <p:spPr>
          <a:xfrm>
            <a:off x="274389" y="1062990"/>
            <a:ext cx="1989318" cy="1028700"/>
          </a:xfrm>
          <a:prstGeom prst="rect">
            <a:avLst/>
          </a:prstGeom>
          <a:solidFill>
            <a:srgbClr val="082236"/>
          </a:solidFill>
          <a:ln cap="flat" cmpd="sng" w="19050">
            <a:solidFill>
              <a:srgbClr val="00C8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45"/>
          <p:cNvSpPr txBox="1"/>
          <p:nvPr/>
        </p:nvSpPr>
        <p:spPr>
          <a:xfrm>
            <a:off x="356705" y="1145286"/>
            <a:ext cx="1817825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OA — MMFormer</a:t>
            </a:r>
            <a:endParaRPr sz="1100"/>
          </a:p>
        </p:txBody>
      </p:sp>
      <p:sp>
        <p:nvSpPr>
          <p:cNvPr id="432" name="Google Shape;432;p45"/>
          <p:cNvSpPr txBox="1"/>
          <p:nvPr/>
        </p:nvSpPr>
        <p:spPr>
          <a:xfrm>
            <a:off x="329266" y="1371600"/>
            <a:ext cx="1879562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0070A0"/>
                </a:solidFill>
                <a:latin typeface="Calibri"/>
                <a:ea typeface="Calibri"/>
                <a:cs typeface="Calibri"/>
                <a:sym typeface="Calibri"/>
              </a:rPr>
              <a:t>76.41%</a:t>
            </a:r>
            <a:endParaRPr sz="1100"/>
          </a:p>
        </p:txBody>
      </p:sp>
      <p:sp>
        <p:nvSpPr>
          <p:cNvPr id="433" name="Google Shape;433;p45"/>
          <p:cNvSpPr txBox="1"/>
          <p:nvPr/>
        </p:nvSpPr>
        <p:spPr>
          <a:xfrm>
            <a:off x="329266" y="1783080"/>
            <a:ext cx="1879562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FFA500"/>
                </a:solidFill>
                <a:latin typeface="Calibri"/>
                <a:ea typeface="Calibri"/>
                <a:cs typeface="Calibri"/>
                <a:sym typeface="Calibri"/>
              </a:rPr>
              <a:t>± 3.84%  std</a:t>
            </a:r>
            <a:endParaRPr sz="1100"/>
          </a:p>
        </p:txBody>
      </p:sp>
      <p:sp>
        <p:nvSpPr>
          <p:cNvPr id="434" name="Google Shape;434;p45"/>
          <p:cNvSpPr/>
          <p:nvPr/>
        </p:nvSpPr>
        <p:spPr>
          <a:xfrm>
            <a:off x="2435199" y="1062990"/>
            <a:ext cx="1989318" cy="1028700"/>
          </a:xfrm>
          <a:prstGeom prst="rect">
            <a:avLst/>
          </a:prstGeom>
          <a:solidFill>
            <a:srgbClr val="082236"/>
          </a:solidFill>
          <a:ln cap="flat" cmpd="sng" w="19050">
            <a:solidFill>
              <a:srgbClr val="00C8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45"/>
          <p:cNvSpPr txBox="1"/>
          <p:nvPr/>
        </p:nvSpPr>
        <p:spPr>
          <a:xfrm>
            <a:off x="2517516" y="1145286"/>
            <a:ext cx="1817825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OA — R2Mamba</a:t>
            </a:r>
            <a:endParaRPr sz="1100"/>
          </a:p>
        </p:txBody>
      </p:sp>
      <p:sp>
        <p:nvSpPr>
          <p:cNvPr id="436" name="Google Shape;436;p45"/>
          <p:cNvSpPr txBox="1"/>
          <p:nvPr/>
        </p:nvSpPr>
        <p:spPr>
          <a:xfrm>
            <a:off x="2490077" y="1371600"/>
            <a:ext cx="1879562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83.89%</a:t>
            </a:r>
            <a:endParaRPr sz="1100"/>
          </a:p>
        </p:txBody>
      </p:sp>
      <p:sp>
        <p:nvSpPr>
          <p:cNvPr id="437" name="Google Shape;437;p45"/>
          <p:cNvSpPr txBox="1"/>
          <p:nvPr/>
        </p:nvSpPr>
        <p:spPr>
          <a:xfrm>
            <a:off x="2490077" y="1783080"/>
            <a:ext cx="1879562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FFA500"/>
                </a:solidFill>
                <a:latin typeface="Calibri"/>
                <a:ea typeface="Calibri"/>
                <a:cs typeface="Calibri"/>
                <a:sym typeface="Calibri"/>
              </a:rPr>
              <a:t>± 1.66%  std</a:t>
            </a:r>
            <a:endParaRPr sz="1100"/>
          </a:p>
        </p:txBody>
      </p:sp>
      <p:sp>
        <p:nvSpPr>
          <p:cNvPr id="438" name="Google Shape;438;p45"/>
          <p:cNvSpPr/>
          <p:nvPr/>
        </p:nvSpPr>
        <p:spPr>
          <a:xfrm>
            <a:off x="4596010" y="1062990"/>
            <a:ext cx="1989318" cy="1028700"/>
          </a:xfrm>
          <a:prstGeom prst="rect">
            <a:avLst/>
          </a:prstGeom>
          <a:solidFill>
            <a:srgbClr val="082236"/>
          </a:solidFill>
          <a:ln cap="flat" cmpd="sng" w="19050">
            <a:solidFill>
              <a:srgbClr val="00C8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45"/>
          <p:cNvSpPr txBox="1"/>
          <p:nvPr/>
        </p:nvSpPr>
        <p:spPr>
          <a:xfrm>
            <a:off x="4678326" y="1145286"/>
            <a:ext cx="1817825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OA  Gain</a:t>
            </a:r>
            <a:endParaRPr sz="1100"/>
          </a:p>
        </p:txBody>
      </p:sp>
      <p:sp>
        <p:nvSpPr>
          <p:cNvPr id="440" name="Google Shape;440;p45"/>
          <p:cNvSpPr txBox="1"/>
          <p:nvPr/>
        </p:nvSpPr>
        <p:spPr>
          <a:xfrm>
            <a:off x="4650887" y="1371600"/>
            <a:ext cx="1879562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FFA500"/>
                </a:solidFill>
                <a:latin typeface="Calibri"/>
                <a:ea typeface="Calibri"/>
                <a:cs typeface="Calibri"/>
                <a:sym typeface="Calibri"/>
              </a:rPr>
              <a:t>+7.48%</a:t>
            </a:r>
            <a:endParaRPr sz="1100"/>
          </a:p>
        </p:txBody>
      </p:sp>
      <p:sp>
        <p:nvSpPr>
          <p:cNvPr id="441" name="Google Shape;441;p45"/>
          <p:cNvSpPr txBox="1"/>
          <p:nvPr/>
        </p:nvSpPr>
        <p:spPr>
          <a:xfrm>
            <a:off x="4650887" y="1783080"/>
            <a:ext cx="1879562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FFA500"/>
                </a:solidFill>
                <a:latin typeface="Calibri"/>
                <a:ea typeface="Calibri"/>
                <a:cs typeface="Calibri"/>
                <a:sym typeface="Calibri"/>
              </a:rPr>
              <a:t>R2Mamba wins</a:t>
            </a:r>
            <a:endParaRPr sz="1100"/>
          </a:p>
        </p:txBody>
      </p:sp>
      <p:sp>
        <p:nvSpPr>
          <p:cNvPr id="442" name="Google Shape;442;p45"/>
          <p:cNvSpPr/>
          <p:nvPr/>
        </p:nvSpPr>
        <p:spPr>
          <a:xfrm>
            <a:off x="6756820" y="1062990"/>
            <a:ext cx="1989318" cy="1028700"/>
          </a:xfrm>
          <a:prstGeom prst="rect">
            <a:avLst/>
          </a:prstGeom>
          <a:solidFill>
            <a:srgbClr val="082236"/>
          </a:solidFill>
          <a:ln cap="flat" cmpd="sng" w="19050">
            <a:solidFill>
              <a:srgbClr val="00C8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45"/>
          <p:cNvSpPr txBox="1"/>
          <p:nvPr/>
        </p:nvSpPr>
        <p:spPr>
          <a:xfrm>
            <a:off x="6839137" y="1145286"/>
            <a:ext cx="1817825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Speed Gain</a:t>
            </a:r>
            <a:endParaRPr sz="1100"/>
          </a:p>
        </p:txBody>
      </p:sp>
      <p:sp>
        <p:nvSpPr>
          <p:cNvPr id="444" name="Google Shape;444;p45"/>
          <p:cNvSpPr txBox="1"/>
          <p:nvPr/>
        </p:nvSpPr>
        <p:spPr>
          <a:xfrm>
            <a:off x="6811698" y="1371600"/>
            <a:ext cx="1879562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FFA500"/>
                </a:solidFill>
                <a:latin typeface="Calibri"/>
                <a:ea typeface="Calibri"/>
                <a:cs typeface="Calibri"/>
                <a:sym typeface="Calibri"/>
              </a:rPr>
              <a:t>3× Faster</a:t>
            </a:r>
            <a:endParaRPr sz="1100"/>
          </a:p>
        </p:txBody>
      </p:sp>
      <p:sp>
        <p:nvSpPr>
          <p:cNvPr id="445" name="Google Shape;445;p45"/>
          <p:cNvSpPr txBox="1"/>
          <p:nvPr/>
        </p:nvSpPr>
        <p:spPr>
          <a:xfrm>
            <a:off x="6811698" y="1783080"/>
            <a:ext cx="1879562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FFA500"/>
                </a:solidFill>
                <a:latin typeface="Calibri"/>
                <a:ea typeface="Calibri"/>
                <a:cs typeface="Calibri"/>
                <a:sym typeface="Calibri"/>
              </a:rPr>
              <a:t>26s vs 75s/run</a:t>
            </a:r>
            <a:endParaRPr sz="1100"/>
          </a:p>
        </p:txBody>
      </p:sp>
      <p:sp>
        <p:nvSpPr>
          <p:cNvPr id="446" name="Google Shape;446;p45"/>
          <p:cNvSpPr/>
          <p:nvPr/>
        </p:nvSpPr>
        <p:spPr>
          <a:xfrm>
            <a:off x="274389" y="2263140"/>
            <a:ext cx="1429108" cy="402908"/>
          </a:xfrm>
          <a:prstGeom prst="rect">
            <a:avLst/>
          </a:prstGeom>
          <a:solidFill>
            <a:srgbClr val="006080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45"/>
          <p:cNvSpPr txBox="1"/>
          <p:nvPr/>
        </p:nvSpPr>
        <p:spPr>
          <a:xfrm>
            <a:off x="308687" y="2304288"/>
            <a:ext cx="1360510" cy="33432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 sz="1100"/>
          </a:p>
        </p:txBody>
      </p:sp>
      <p:sp>
        <p:nvSpPr>
          <p:cNvPr id="448" name="Google Shape;448;p45"/>
          <p:cNvSpPr/>
          <p:nvPr/>
        </p:nvSpPr>
        <p:spPr>
          <a:xfrm>
            <a:off x="1703496" y="2263140"/>
            <a:ext cx="1429108" cy="402908"/>
          </a:xfrm>
          <a:prstGeom prst="rect">
            <a:avLst/>
          </a:prstGeom>
          <a:solidFill>
            <a:srgbClr val="006080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45"/>
          <p:cNvSpPr txBox="1"/>
          <p:nvPr/>
        </p:nvSpPr>
        <p:spPr>
          <a:xfrm>
            <a:off x="1737795" y="2304288"/>
            <a:ext cx="1360510" cy="33432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OA (%)</a:t>
            </a:r>
            <a:endParaRPr sz="1100"/>
          </a:p>
        </p:txBody>
      </p:sp>
      <p:sp>
        <p:nvSpPr>
          <p:cNvPr id="450" name="Google Shape;450;p45"/>
          <p:cNvSpPr/>
          <p:nvPr/>
        </p:nvSpPr>
        <p:spPr>
          <a:xfrm>
            <a:off x="3132604" y="2263140"/>
            <a:ext cx="1429108" cy="402908"/>
          </a:xfrm>
          <a:prstGeom prst="rect">
            <a:avLst/>
          </a:prstGeom>
          <a:solidFill>
            <a:srgbClr val="006080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45"/>
          <p:cNvSpPr txBox="1"/>
          <p:nvPr/>
        </p:nvSpPr>
        <p:spPr>
          <a:xfrm>
            <a:off x="3166902" y="2304288"/>
            <a:ext cx="1360510" cy="33432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AA (%)</a:t>
            </a:r>
            <a:endParaRPr sz="1100"/>
          </a:p>
        </p:txBody>
      </p:sp>
      <p:sp>
        <p:nvSpPr>
          <p:cNvPr id="452" name="Google Shape;452;p45"/>
          <p:cNvSpPr/>
          <p:nvPr/>
        </p:nvSpPr>
        <p:spPr>
          <a:xfrm>
            <a:off x="4561711" y="2263140"/>
            <a:ext cx="1429108" cy="402908"/>
          </a:xfrm>
          <a:prstGeom prst="rect">
            <a:avLst/>
          </a:prstGeom>
          <a:solidFill>
            <a:srgbClr val="006080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45"/>
          <p:cNvSpPr txBox="1"/>
          <p:nvPr/>
        </p:nvSpPr>
        <p:spPr>
          <a:xfrm>
            <a:off x="4596010" y="2304288"/>
            <a:ext cx="1360510" cy="33432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Kappa (×100)</a:t>
            </a:r>
            <a:endParaRPr sz="1100"/>
          </a:p>
        </p:txBody>
      </p:sp>
      <p:sp>
        <p:nvSpPr>
          <p:cNvPr id="454" name="Google Shape;454;p45"/>
          <p:cNvSpPr/>
          <p:nvPr/>
        </p:nvSpPr>
        <p:spPr>
          <a:xfrm>
            <a:off x="5990819" y="2263140"/>
            <a:ext cx="1429108" cy="402908"/>
          </a:xfrm>
          <a:prstGeom prst="rect">
            <a:avLst/>
          </a:prstGeom>
          <a:solidFill>
            <a:srgbClr val="006080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45"/>
          <p:cNvSpPr txBox="1"/>
          <p:nvPr/>
        </p:nvSpPr>
        <p:spPr>
          <a:xfrm>
            <a:off x="6025117" y="2304288"/>
            <a:ext cx="1360510" cy="33432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Best Run OA</a:t>
            </a:r>
            <a:endParaRPr sz="1100"/>
          </a:p>
        </p:txBody>
      </p:sp>
      <p:sp>
        <p:nvSpPr>
          <p:cNvPr id="456" name="Google Shape;456;p45"/>
          <p:cNvSpPr/>
          <p:nvPr/>
        </p:nvSpPr>
        <p:spPr>
          <a:xfrm>
            <a:off x="7419926" y="2263140"/>
            <a:ext cx="1429108" cy="402908"/>
          </a:xfrm>
          <a:prstGeom prst="rect">
            <a:avLst/>
          </a:prstGeom>
          <a:solidFill>
            <a:srgbClr val="006080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45"/>
          <p:cNvSpPr txBox="1"/>
          <p:nvPr/>
        </p:nvSpPr>
        <p:spPr>
          <a:xfrm>
            <a:off x="7454225" y="2304288"/>
            <a:ext cx="1360510" cy="33432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Avg Train Time</a:t>
            </a:r>
            <a:endParaRPr sz="1100"/>
          </a:p>
        </p:txBody>
      </p:sp>
      <p:sp>
        <p:nvSpPr>
          <p:cNvPr id="458" name="Google Shape;458;p45"/>
          <p:cNvSpPr/>
          <p:nvPr/>
        </p:nvSpPr>
        <p:spPr>
          <a:xfrm>
            <a:off x="274389" y="2666048"/>
            <a:ext cx="1429108" cy="402908"/>
          </a:xfrm>
          <a:prstGeom prst="rect">
            <a:avLst/>
          </a:prstGeom>
          <a:solidFill>
            <a:srgbClr val="061926"/>
          </a:solidFill>
          <a:ln cap="flat" cmpd="sng" w="9525">
            <a:solidFill>
              <a:srgbClr val="1A3A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45"/>
          <p:cNvSpPr txBox="1"/>
          <p:nvPr/>
        </p:nvSpPr>
        <p:spPr>
          <a:xfrm>
            <a:off x="308687" y="2700338"/>
            <a:ext cx="1360510" cy="3480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MMFormer (2026)</a:t>
            </a:r>
            <a:endParaRPr sz="1100"/>
          </a:p>
        </p:txBody>
      </p:sp>
      <p:sp>
        <p:nvSpPr>
          <p:cNvPr id="460" name="Google Shape;460;p45"/>
          <p:cNvSpPr/>
          <p:nvPr/>
        </p:nvSpPr>
        <p:spPr>
          <a:xfrm>
            <a:off x="1703496" y="2666048"/>
            <a:ext cx="1429108" cy="402908"/>
          </a:xfrm>
          <a:prstGeom prst="rect">
            <a:avLst/>
          </a:prstGeom>
          <a:solidFill>
            <a:srgbClr val="061926"/>
          </a:solidFill>
          <a:ln cap="flat" cmpd="sng" w="9525">
            <a:solidFill>
              <a:srgbClr val="1A3A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45"/>
          <p:cNvSpPr txBox="1"/>
          <p:nvPr/>
        </p:nvSpPr>
        <p:spPr>
          <a:xfrm>
            <a:off x="1737795" y="2700338"/>
            <a:ext cx="1360510" cy="3480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76.41 ± 3.84</a:t>
            </a:r>
            <a:endParaRPr sz="1100"/>
          </a:p>
        </p:txBody>
      </p:sp>
      <p:sp>
        <p:nvSpPr>
          <p:cNvPr id="462" name="Google Shape;462;p45"/>
          <p:cNvSpPr/>
          <p:nvPr/>
        </p:nvSpPr>
        <p:spPr>
          <a:xfrm>
            <a:off x="3132604" y="2666048"/>
            <a:ext cx="1429108" cy="402908"/>
          </a:xfrm>
          <a:prstGeom prst="rect">
            <a:avLst/>
          </a:prstGeom>
          <a:solidFill>
            <a:srgbClr val="061926"/>
          </a:solidFill>
          <a:ln cap="flat" cmpd="sng" w="9525">
            <a:solidFill>
              <a:srgbClr val="1A3A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45"/>
          <p:cNvSpPr txBox="1"/>
          <p:nvPr/>
        </p:nvSpPr>
        <p:spPr>
          <a:xfrm>
            <a:off x="3166902" y="2700338"/>
            <a:ext cx="1360510" cy="3480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87.10 ± 1.96</a:t>
            </a:r>
            <a:endParaRPr sz="1100"/>
          </a:p>
        </p:txBody>
      </p:sp>
      <p:sp>
        <p:nvSpPr>
          <p:cNvPr id="464" name="Google Shape;464;p45"/>
          <p:cNvSpPr/>
          <p:nvPr/>
        </p:nvSpPr>
        <p:spPr>
          <a:xfrm>
            <a:off x="4561711" y="2666048"/>
            <a:ext cx="1429108" cy="402908"/>
          </a:xfrm>
          <a:prstGeom prst="rect">
            <a:avLst/>
          </a:prstGeom>
          <a:solidFill>
            <a:srgbClr val="061926"/>
          </a:solidFill>
          <a:ln cap="flat" cmpd="sng" w="9525">
            <a:solidFill>
              <a:srgbClr val="1A3A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45"/>
          <p:cNvSpPr txBox="1"/>
          <p:nvPr/>
        </p:nvSpPr>
        <p:spPr>
          <a:xfrm>
            <a:off x="4596010" y="2700338"/>
            <a:ext cx="1360510" cy="3480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73.41 ± 4.28</a:t>
            </a:r>
            <a:endParaRPr sz="1100"/>
          </a:p>
        </p:txBody>
      </p:sp>
      <p:sp>
        <p:nvSpPr>
          <p:cNvPr id="466" name="Google Shape;466;p45"/>
          <p:cNvSpPr/>
          <p:nvPr/>
        </p:nvSpPr>
        <p:spPr>
          <a:xfrm>
            <a:off x="5990819" y="2666048"/>
            <a:ext cx="1429108" cy="402908"/>
          </a:xfrm>
          <a:prstGeom prst="rect">
            <a:avLst/>
          </a:prstGeom>
          <a:solidFill>
            <a:srgbClr val="061926"/>
          </a:solidFill>
          <a:ln cap="flat" cmpd="sng" w="9525">
            <a:solidFill>
              <a:srgbClr val="1A3A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45"/>
          <p:cNvSpPr txBox="1"/>
          <p:nvPr/>
        </p:nvSpPr>
        <p:spPr>
          <a:xfrm>
            <a:off x="6025117" y="2700338"/>
            <a:ext cx="1360510" cy="3480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80.81%</a:t>
            </a:r>
            <a:endParaRPr sz="1100"/>
          </a:p>
        </p:txBody>
      </p:sp>
      <p:sp>
        <p:nvSpPr>
          <p:cNvPr id="468" name="Google Shape;468;p45"/>
          <p:cNvSpPr/>
          <p:nvPr/>
        </p:nvSpPr>
        <p:spPr>
          <a:xfrm>
            <a:off x="7419926" y="2666048"/>
            <a:ext cx="1429108" cy="402908"/>
          </a:xfrm>
          <a:prstGeom prst="rect">
            <a:avLst/>
          </a:prstGeom>
          <a:solidFill>
            <a:srgbClr val="061926"/>
          </a:solidFill>
          <a:ln cap="flat" cmpd="sng" w="9525">
            <a:solidFill>
              <a:srgbClr val="1A3A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45"/>
          <p:cNvSpPr txBox="1"/>
          <p:nvPr/>
        </p:nvSpPr>
        <p:spPr>
          <a:xfrm>
            <a:off x="7454225" y="2700338"/>
            <a:ext cx="1360510" cy="3480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~75 sec</a:t>
            </a:r>
            <a:endParaRPr sz="1100"/>
          </a:p>
        </p:txBody>
      </p:sp>
      <p:sp>
        <p:nvSpPr>
          <p:cNvPr id="470" name="Google Shape;470;p45"/>
          <p:cNvSpPr/>
          <p:nvPr/>
        </p:nvSpPr>
        <p:spPr>
          <a:xfrm>
            <a:off x="274389" y="3068955"/>
            <a:ext cx="1429108" cy="402907"/>
          </a:xfrm>
          <a:prstGeom prst="rect">
            <a:avLst/>
          </a:prstGeom>
          <a:solidFill>
            <a:srgbClr val="082236"/>
          </a:solidFill>
          <a:ln cap="flat" cmpd="sng" w="9525">
            <a:solidFill>
              <a:srgbClr val="1A3A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45"/>
          <p:cNvSpPr txBox="1"/>
          <p:nvPr/>
        </p:nvSpPr>
        <p:spPr>
          <a:xfrm>
            <a:off x="308687" y="3103245"/>
            <a:ext cx="1360510" cy="34804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R2Mamba (2026)</a:t>
            </a:r>
            <a:endParaRPr sz="1100"/>
          </a:p>
        </p:txBody>
      </p:sp>
      <p:sp>
        <p:nvSpPr>
          <p:cNvPr id="472" name="Google Shape;472;p45"/>
          <p:cNvSpPr/>
          <p:nvPr/>
        </p:nvSpPr>
        <p:spPr>
          <a:xfrm>
            <a:off x="1703496" y="3068955"/>
            <a:ext cx="1429108" cy="402907"/>
          </a:xfrm>
          <a:prstGeom prst="rect">
            <a:avLst/>
          </a:prstGeom>
          <a:solidFill>
            <a:srgbClr val="082236"/>
          </a:solidFill>
          <a:ln cap="flat" cmpd="sng" w="9525">
            <a:solidFill>
              <a:srgbClr val="1A3A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45"/>
          <p:cNvSpPr txBox="1"/>
          <p:nvPr/>
        </p:nvSpPr>
        <p:spPr>
          <a:xfrm>
            <a:off x="1737795" y="3103245"/>
            <a:ext cx="1360510" cy="34804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83.89 ± 1.66</a:t>
            </a:r>
            <a:endParaRPr sz="1100"/>
          </a:p>
        </p:txBody>
      </p:sp>
      <p:sp>
        <p:nvSpPr>
          <p:cNvPr id="474" name="Google Shape;474;p45"/>
          <p:cNvSpPr/>
          <p:nvPr/>
        </p:nvSpPr>
        <p:spPr>
          <a:xfrm>
            <a:off x="3132604" y="3068955"/>
            <a:ext cx="1429108" cy="402907"/>
          </a:xfrm>
          <a:prstGeom prst="rect">
            <a:avLst/>
          </a:prstGeom>
          <a:solidFill>
            <a:srgbClr val="082236"/>
          </a:solidFill>
          <a:ln cap="flat" cmpd="sng" w="9525">
            <a:solidFill>
              <a:srgbClr val="1A3A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45"/>
          <p:cNvSpPr txBox="1"/>
          <p:nvPr/>
        </p:nvSpPr>
        <p:spPr>
          <a:xfrm>
            <a:off x="3166902" y="3103245"/>
            <a:ext cx="1360510" cy="34804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91.29 ± 1.09</a:t>
            </a:r>
            <a:endParaRPr sz="1100"/>
          </a:p>
        </p:txBody>
      </p:sp>
      <p:sp>
        <p:nvSpPr>
          <p:cNvPr id="476" name="Google Shape;476;p45"/>
          <p:cNvSpPr/>
          <p:nvPr/>
        </p:nvSpPr>
        <p:spPr>
          <a:xfrm>
            <a:off x="4561711" y="3068955"/>
            <a:ext cx="1429108" cy="402907"/>
          </a:xfrm>
          <a:prstGeom prst="rect">
            <a:avLst/>
          </a:prstGeom>
          <a:solidFill>
            <a:srgbClr val="082236"/>
          </a:solidFill>
          <a:ln cap="flat" cmpd="sng" w="9525">
            <a:solidFill>
              <a:srgbClr val="1A3A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45"/>
          <p:cNvSpPr txBox="1"/>
          <p:nvPr/>
        </p:nvSpPr>
        <p:spPr>
          <a:xfrm>
            <a:off x="4596010" y="3103245"/>
            <a:ext cx="1360510" cy="34804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81.71 ± 1.87</a:t>
            </a:r>
            <a:endParaRPr sz="1100"/>
          </a:p>
        </p:txBody>
      </p:sp>
      <p:sp>
        <p:nvSpPr>
          <p:cNvPr id="478" name="Google Shape;478;p45"/>
          <p:cNvSpPr/>
          <p:nvPr/>
        </p:nvSpPr>
        <p:spPr>
          <a:xfrm>
            <a:off x="5990819" y="3068955"/>
            <a:ext cx="1429108" cy="402907"/>
          </a:xfrm>
          <a:prstGeom prst="rect">
            <a:avLst/>
          </a:prstGeom>
          <a:solidFill>
            <a:srgbClr val="082236"/>
          </a:solidFill>
          <a:ln cap="flat" cmpd="sng" w="9525">
            <a:solidFill>
              <a:srgbClr val="1A3A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45"/>
          <p:cNvSpPr txBox="1"/>
          <p:nvPr/>
        </p:nvSpPr>
        <p:spPr>
          <a:xfrm>
            <a:off x="6025117" y="3103245"/>
            <a:ext cx="1360510" cy="34804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85.66%</a:t>
            </a:r>
            <a:endParaRPr sz="1100"/>
          </a:p>
        </p:txBody>
      </p:sp>
      <p:sp>
        <p:nvSpPr>
          <p:cNvPr id="480" name="Google Shape;480;p45"/>
          <p:cNvSpPr/>
          <p:nvPr/>
        </p:nvSpPr>
        <p:spPr>
          <a:xfrm>
            <a:off x="7419926" y="3068955"/>
            <a:ext cx="1429108" cy="402907"/>
          </a:xfrm>
          <a:prstGeom prst="rect">
            <a:avLst/>
          </a:prstGeom>
          <a:solidFill>
            <a:srgbClr val="082236"/>
          </a:solidFill>
          <a:ln cap="flat" cmpd="sng" w="9525">
            <a:solidFill>
              <a:srgbClr val="1A3A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45"/>
          <p:cNvSpPr txBox="1"/>
          <p:nvPr/>
        </p:nvSpPr>
        <p:spPr>
          <a:xfrm>
            <a:off x="7454225" y="3103245"/>
            <a:ext cx="1360510" cy="34804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~26 sec</a:t>
            </a:r>
            <a:endParaRPr sz="1100"/>
          </a:p>
        </p:txBody>
      </p:sp>
      <p:sp>
        <p:nvSpPr>
          <p:cNvPr id="482" name="Google Shape;482;p45"/>
          <p:cNvSpPr/>
          <p:nvPr/>
        </p:nvSpPr>
        <p:spPr>
          <a:xfrm>
            <a:off x="274389" y="3471863"/>
            <a:ext cx="1429108" cy="402907"/>
          </a:xfrm>
          <a:prstGeom prst="rect">
            <a:avLst/>
          </a:prstGeom>
          <a:solidFill>
            <a:srgbClr val="061926"/>
          </a:solidFill>
          <a:ln cap="flat" cmpd="sng" w="9525">
            <a:solidFill>
              <a:srgbClr val="1A3A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45"/>
          <p:cNvSpPr txBox="1"/>
          <p:nvPr/>
        </p:nvSpPr>
        <p:spPr>
          <a:xfrm>
            <a:off x="308687" y="3506152"/>
            <a:ext cx="1360510" cy="34804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Performance Delta</a:t>
            </a:r>
            <a:endParaRPr sz="1100"/>
          </a:p>
        </p:txBody>
      </p:sp>
      <p:sp>
        <p:nvSpPr>
          <p:cNvPr id="484" name="Google Shape;484;p45"/>
          <p:cNvSpPr/>
          <p:nvPr/>
        </p:nvSpPr>
        <p:spPr>
          <a:xfrm>
            <a:off x="1703496" y="3471863"/>
            <a:ext cx="1429108" cy="402907"/>
          </a:xfrm>
          <a:prstGeom prst="rect">
            <a:avLst/>
          </a:prstGeom>
          <a:solidFill>
            <a:srgbClr val="061926"/>
          </a:solidFill>
          <a:ln cap="flat" cmpd="sng" w="9525">
            <a:solidFill>
              <a:srgbClr val="1A3A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45"/>
          <p:cNvSpPr txBox="1"/>
          <p:nvPr/>
        </p:nvSpPr>
        <p:spPr>
          <a:xfrm>
            <a:off x="1737795" y="3506152"/>
            <a:ext cx="1360510" cy="34804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FFA500"/>
                </a:solidFill>
                <a:latin typeface="Calibri"/>
                <a:ea typeface="Calibri"/>
                <a:cs typeface="Calibri"/>
                <a:sym typeface="Calibri"/>
              </a:rPr>
              <a:t>+7.48%</a:t>
            </a:r>
            <a:endParaRPr sz="1100"/>
          </a:p>
        </p:txBody>
      </p:sp>
      <p:sp>
        <p:nvSpPr>
          <p:cNvPr id="486" name="Google Shape;486;p45"/>
          <p:cNvSpPr/>
          <p:nvPr/>
        </p:nvSpPr>
        <p:spPr>
          <a:xfrm>
            <a:off x="3132604" y="3471863"/>
            <a:ext cx="1429108" cy="402907"/>
          </a:xfrm>
          <a:prstGeom prst="rect">
            <a:avLst/>
          </a:prstGeom>
          <a:solidFill>
            <a:srgbClr val="061926"/>
          </a:solidFill>
          <a:ln cap="flat" cmpd="sng" w="9525">
            <a:solidFill>
              <a:srgbClr val="1A3A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45"/>
          <p:cNvSpPr txBox="1"/>
          <p:nvPr/>
        </p:nvSpPr>
        <p:spPr>
          <a:xfrm>
            <a:off x="3166902" y="3506152"/>
            <a:ext cx="1360510" cy="34804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FFA500"/>
                </a:solidFill>
                <a:latin typeface="Calibri"/>
                <a:ea typeface="Calibri"/>
                <a:cs typeface="Calibri"/>
                <a:sym typeface="Calibri"/>
              </a:rPr>
              <a:t>+4.19%</a:t>
            </a:r>
            <a:endParaRPr sz="1100"/>
          </a:p>
        </p:txBody>
      </p:sp>
      <p:sp>
        <p:nvSpPr>
          <p:cNvPr id="488" name="Google Shape;488;p45"/>
          <p:cNvSpPr/>
          <p:nvPr/>
        </p:nvSpPr>
        <p:spPr>
          <a:xfrm>
            <a:off x="4561711" y="3471863"/>
            <a:ext cx="1429108" cy="402907"/>
          </a:xfrm>
          <a:prstGeom prst="rect">
            <a:avLst/>
          </a:prstGeom>
          <a:solidFill>
            <a:srgbClr val="061926"/>
          </a:solidFill>
          <a:ln cap="flat" cmpd="sng" w="9525">
            <a:solidFill>
              <a:srgbClr val="1A3A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45"/>
          <p:cNvSpPr txBox="1"/>
          <p:nvPr/>
        </p:nvSpPr>
        <p:spPr>
          <a:xfrm>
            <a:off x="4596010" y="3506152"/>
            <a:ext cx="1360510" cy="34804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FFA500"/>
                </a:solidFill>
                <a:latin typeface="Calibri"/>
                <a:ea typeface="Calibri"/>
                <a:cs typeface="Calibri"/>
                <a:sym typeface="Calibri"/>
              </a:rPr>
              <a:t>+8.30</a:t>
            </a:r>
            <a:endParaRPr sz="1100"/>
          </a:p>
        </p:txBody>
      </p:sp>
      <p:sp>
        <p:nvSpPr>
          <p:cNvPr id="490" name="Google Shape;490;p45"/>
          <p:cNvSpPr/>
          <p:nvPr/>
        </p:nvSpPr>
        <p:spPr>
          <a:xfrm>
            <a:off x="5990819" y="3471863"/>
            <a:ext cx="1429108" cy="402907"/>
          </a:xfrm>
          <a:prstGeom prst="rect">
            <a:avLst/>
          </a:prstGeom>
          <a:solidFill>
            <a:srgbClr val="061926"/>
          </a:solidFill>
          <a:ln cap="flat" cmpd="sng" w="9525">
            <a:solidFill>
              <a:srgbClr val="1A3A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45"/>
          <p:cNvSpPr txBox="1"/>
          <p:nvPr/>
        </p:nvSpPr>
        <p:spPr>
          <a:xfrm>
            <a:off x="6025117" y="3506152"/>
            <a:ext cx="1360510" cy="34804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FFA500"/>
                </a:solidFill>
                <a:latin typeface="Calibri"/>
                <a:ea typeface="Calibri"/>
                <a:cs typeface="Calibri"/>
                <a:sym typeface="Calibri"/>
              </a:rPr>
              <a:t>+4.85%</a:t>
            </a:r>
            <a:endParaRPr sz="1100"/>
          </a:p>
        </p:txBody>
      </p:sp>
      <p:sp>
        <p:nvSpPr>
          <p:cNvPr id="492" name="Google Shape;492;p45"/>
          <p:cNvSpPr/>
          <p:nvPr/>
        </p:nvSpPr>
        <p:spPr>
          <a:xfrm>
            <a:off x="7419926" y="3471863"/>
            <a:ext cx="1429108" cy="402907"/>
          </a:xfrm>
          <a:prstGeom prst="rect">
            <a:avLst/>
          </a:prstGeom>
          <a:solidFill>
            <a:srgbClr val="061926"/>
          </a:solidFill>
          <a:ln cap="flat" cmpd="sng" w="9525">
            <a:solidFill>
              <a:srgbClr val="1A3A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45"/>
          <p:cNvSpPr txBox="1"/>
          <p:nvPr/>
        </p:nvSpPr>
        <p:spPr>
          <a:xfrm>
            <a:off x="7454225" y="3506152"/>
            <a:ext cx="1360510" cy="34804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~3× Faster</a:t>
            </a:r>
            <a:endParaRPr sz="1100"/>
          </a:p>
        </p:txBody>
      </p:sp>
      <p:sp>
        <p:nvSpPr>
          <p:cNvPr id="494" name="Google Shape;494;p45"/>
          <p:cNvSpPr txBox="1"/>
          <p:nvPr/>
        </p:nvSpPr>
        <p:spPr>
          <a:xfrm>
            <a:off x="342986" y="3977640"/>
            <a:ext cx="8437451" cy="2606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Key Observations:</a:t>
            </a:r>
            <a:endParaRPr sz="1100"/>
          </a:p>
        </p:txBody>
      </p:sp>
      <p:sp>
        <p:nvSpPr>
          <p:cNvPr id="495" name="Google Shape;495;p45"/>
          <p:cNvSpPr txBox="1"/>
          <p:nvPr/>
        </p:nvSpPr>
        <p:spPr>
          <a:xfrm>
            <a:off x="342986" y="4286250"/>
            <a:ext cx="8437451" cy="7543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b="0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R2Mamba outperforms MMFormer by +7.48% in Overall Accuracy on the agricultural scene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b="0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R2Mamba is significantly more stable: ±1.66% std vs ±3.84% std (2.3× lower variance)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b="0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R2Mamba trains 3× faster per run (26 sec vs 75 sec) — due to O(N) linear complexity</a:t>
            </a:r>
            <a:endParaRPr sz="1100"/>
          </a:p>
        </p:txBody>
      </p:sp>
      <p:sp>
        <p:nvSpPr>
          <p:cNvPr id="496" name="Google Shape;496;p45"/>
          <p:cNvSpPr/>
          <p:nvPr/>
        </p:nvSpPr>
        <p:spPr>
          <a:xfrm>
            <a:off x="0" y="5088636"/>
            <a:ext cx="9144002" cy="54864"/>
          </a:xfrm>
          <a:prstGeom prst="rect">
            <a:avLst/>
          </a:prstGeom>
          <a:solidFill>
            <a:srgbClr val="FFA50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46"/>
          <p:cNvSpPr/>
          <p:nvPr/>
        </p:nvSpPr>
        <p:spPr>
          <a:xfrm>
            <a:off x="0" y="0"/>
            <a:ext cx="9144002" cy="54864"/>
          </a:xfrm>
          <a:prstGeom prst="rect">
            <a:avLst/>
          </a:prstGeom>
          <a:solidFill>
            <a:srgbClr val="00C8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46"/>
          <p:cNvSpPr/>
          <p:nvPr/>
        </p:nvSpPr>
        <p:spPr>
          <a:xfrm>
            <a:off x="0" y="0"/>
            <a:ext cx="9144002" cy="925830"/>
          </a:xfrm>
          <a:prstGeom prst="rect">
            <a:avLst/>
          </a:prstGeom>
          <a:solidFill>
            <a:srgbClr val="05101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46"/>
          <p:cNvSpPr txBox="1"/>
          <p:nvPr/>
        </p:nvSpPr>
        <p:spPr>
          <a:xfrm>
            <a:off x="342986" y="123444"/>
            <a:ext cx="8231659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Results: Pavia University (9 Classes)</a:t>
            </a:r>
            <a:endParaRPr sz="1100"/>
          </a:p>
        </p:txBody>
      </p:sp>
      <p:sp>
        <p:nvSpPr>
          <p:cNvPr id="504" name="Google Shape;504;p46"/>
          <p:cNvSpPr txBox="1"/>
          <p:nvPr/>
        </p:nvSpPr>
        <p:spPr>
          <a:xfrm>
            <a:off x="342986" y="617220"/>
            <a:ext cx="82316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3-seed evaluation  |  30 train / 10 val per class  |  ~40,044 test pixels</a:t>
            </a:r>
            <a:endParaRPr sz="1100"/>
          </a:p>
        </p:txBody>
      </p:sp>
      <p:sp>
        <p:nvSpPr>
          <p:cNvPr id="505" name="Google Shape;505;p46"/>
          <p:cNvSpPr/>
          <p:nvPr/>
        </p:nvSpPr>
        <p:spPr>
          <a:xfrm>
            <a:off x="0" y="925830"/>
            <a:ext cx="9144002" cy="27432"/>
          </a:xfrm>
          <a:prstGeom prst="rect">
            <a:avLst/>
          </a:prstGeom>
          <a:solidFill>
            <a:srgbClr val="00C8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46"/>
          <p:cNvSpPr/>
          <p:nvPr/>
        </p:nvSpPr>
        <p:spPr>
          <a:xfrm>
            <a:off x="274389" y="1062990"/>
            <a:ext cx="1989318" cy="1028700"/>
          </a:xfrm>
          <a:prstGeom prst="rect">
            <a:avLst/>
          </a:prstGeom>
          <a:solidFill>
            <a:srgbClr val="082236"/>
          </a:solidFill>
          <a:ln cap="flat" cmpd="sng" w="19050">
            <a:solidFill>
              <a:srgbClr val="00C8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46"/>
          <p:cNvSpPr txBox="1"/>
          <p:nvPr/>
        </p:nvSpPr>
        <p:spPr>
          <a:xfrm>
            <a:off x="356705" y="1145286"/>
            <a:ext cx="1817825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OA — MMFormer</a:t>
            </a:r>
            <a:endParaRPr sz="1100"/>
          </a:p>
        </p:txBody>
      </p:sp>
      <p:sp>
        <p:nvSpPr>
          <p:cNvPr id="508" name="Google Shape;508;p46"/>
          <p:cNvSpPr txBox="1"/>
          <p:nvPr/>
        </p:nvSpPr>
        <p:spPr>
          <a:xfrm>
            <a:off x="329266" y="1371600"/>
            <a:ext cx="1879562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0070A0"/>
                </a:solidFill>
                <a:latin typeface="Calibri"/>
                <a:ea typeface="Calibri"/>
                <a:cs typeface="Calibri"/>
                <a:sym typeface="Calibri"/>
              </a:rPr>
              <a:t>92.45%</a:t>
            </a:r>
            <a:endParaRPr sz="1100"/>
          </a:p>
        </p:txBody>
      </p:sp>
      <p:sp>
        <p:nvSpPr>
          <p:cNvPr id="509" name="Google Shape;509;p46"/>
          <p:cNvSpPr txBox="1"/>
          <p:nvPr/>
        </p:nvSpPr>
        <p:spPr>
          <a:xfrm>
            <a:off x="329266" y="1783080"/>
            <a:ext cx="1879562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FFA500"/>
                </a:solidFill>
                <a:latin typeface="Calibri"/>
                <a:ea typeface="Calibri"/>
                <a:cs typeface="Calibri"/>
                <a:sym typeface="Calibri"/>
              </a:rPr>
              <a:t>± 5.98%  std</a:t>
            </a:r>
            <a:endParaRPr sz="1100"/>
          </a:p>
        </p:txBody>
      </p:sp>
      <p:sp>
        <p:nvSpPr>
          <p:cNvPr id="510" name="Google Shape;510;p46"/>
          <p:cNvSpPr/>
          <p:nvPr/>
        </p:nvSpPr>
        <p:spPr>
          <a:xfrm>
            <a:off x="2435199" y="1062990"/>
            <a:ext cx="1989318" cy="1028700"/>
          </a:xfrm>
          <a:prstGeom prst="rect">
            <a:avLst/>
          </a:prstGeom>
          <a:solidFill>
            <a:srgbClr val="082236"/>
          </a:solidFill>
          <a:ln cap="flat" cmpd="sng" w="19050">
            <a:solidFill>
              <a:srgbClr val="00C8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46"/>
          <p:cNvSpPr txBox="1"/>
          <p:nvPr/>
        </p:nvSpPr>
        <p:spPr>
          <a:xfrm>
            <a:off x="2517516" y="1145286"/>
            <a:ext cx="1817825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OA — R2Mamba</a:t>
            </a:r>
            <a:endParaRPr sz="1100"/>
          </a:p>
        </p:txBody>
      </p:sp>
      <p:sp>
        <p:nvSpPr>
          <p:cNvPr id="512" name="Google Shape;512;p46"/>
          <p:cNvSpPr txBox="1"/>
          <p:nvPr/>
        </p:nvSpPr>
        <p:spPr>
          <a:xfrm>
            <a:off x="2490077" y="1371600"/>
            <a:ext cx="1879562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97.59%</a:t>
            </a:r>
            <a:endParaRPr sz="1100"/>
          </a:p>
        </p:txBody>
      </p:sp>
      <p:sp>
        <p:nvSpPr>
          <p:cNvPr id="513" name="Google Shape;513;p46"/>
          <p:cNvSpPr txBox="1"/>
          <p:nvPr/>
        </p:nvSpPr>
        <p:spPr>
          <a:xfrm>
            <a:off x="2490077" y="1783080"/>
            <a:ext cx="1879562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FFA500"/>
                </a:solidFill>
                <a:latin typeface="Calibri"/>
                <a:ea typeface="Calibri"/>
                <a:cs typeface="Calibri"/>
                <a:sym typeface="Calibri"/>
              </a:rPr>
              <a:t>± 0.60%  std</a:t>
            </a:r>
            <a:endParaRPr sz="1100"/>
          </a:p>
        </p:txBody>
      </p:sp>
      <p:sp>
        <p:nvSpPr>
          <p:cNvPr id="514" name="Google Shape;514;p46"/>
          <p:cNvSpPr/>
          <p:nvPr/>
        </p:nvSpPr>
        <p:spPr>
          <a:xfrm>
            <a:off x="4596010" y="1062990"/>
            <a:ext cx="1989318" cy="1028700"/>
          </a:xfrm>
          <a:prstGeom prst="rect">
            <a:avLst/>
          </a:prstGeom>
          <a:solidFill>
            <a:srgbClr val="082236"/>
          </a:solidFill>
          <a:ln cap="flat" cmpd="sng" w="19050">
            <a:solidFill>
              <a:srgbClr val="00C8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46"/>
          <p:cNvSpPr txBox="1"/>
          <p:nvPr/>
        </p:nvSpPr>
        <p:spPr>
          <a:xfrm>
            <a:off x="4678326" y="1145286"/>
            <a:ext cx="1817825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OA  Gain</a:t>
            </a:r>
            <a:endParaRPr sz="1100"/>
          </a:p>
        </p:txBody>
      </p:sp>
      <p:sp>
        <p:nvSpPr>
          <p:cNvPr id="516" name="Google Shape;516;p46"/>
          <p:cNvSpPr txBox="1"/>
          <p:nvPr/>
        </p:nvSpPr>
        <p:spPr>
          <a:xfrm>
            <a:off x="4650887" y="1371600"/>
            <a:ext cx="1879562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FFA500"/>
                </a:solidFill>
                <a:latin typeface="Calibri"/>
                <a:ea typeface="Calibri"/>
                <a:cs typeface="Calibri"/>
                <a:sym typeface="Calibri"/>
              </a:rPr>
              <a:t>+5.14%</a:t>
            </a:r>
            <a:endParaRPr sz="1100"/>
          </a:p>
        </p:txBody>
      </p:sp>
      <p:sp>
        <p:nvSpPr>
          <p:cNvPr id="517" name="Google Shape;517;p46"/>
          <p:cNvSpPr txBox="1"/>
          <p:nvPr/>
        </p:nvSpPr>
        <p:spPr>
          <a:xfrm>
            <a:off x="4650887" y="1783080"/>
            <a:ext cx="1879562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FFA500"/>
                </a:solidFill>
                <a:latin typeface="Calibri"/>
                <a:ea typeface="Calibri"/>
                <a:cs typeface="Calibri"/>
                <a:sym typeface="Calibri"/>
              </a:rPr>
              <a:t>R2Mamba wins</a:t>
            </a:r>
            <a:endParaRPr sz="1100"/>
          </a:p>
        </p:txBody>
      </p:sp>
      <p:sp>
        <p:nvSpPr>
          <p:cNvPr id="518" name="Google Shape;518;p46"/>
          <p:cNvSpPr/>
          <p:nvPr/>
        </p:nvSpPr>
        <p:spPr>
          <a:xfrm>
            <a:off x="6756820" y="1062990"/>
            <a:ext cx="1989318" cy="1028700"/>
          </a:xfrm>
          <a:prstGeom prst="rect">
            <a:avLst/>
          </a:prstGeom>
          <a:solidFill>
            <a:srgbClr val="082236"/>
          </a:solidFill>
          <a:ln cap="flat" cmpd="sng" w="19050">
            <a:solidFill>
              <a:srgbClr val="00C8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46"/>
          <p:cNvSpPr txBox="1"/>
          <p:nvPr/>
        </p:nvSpPr>
        <p:spPr>
          <a:xfrm>
            <a:off x="6839137" y="1145286"/>
            <a:ext cx="1817825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Speed Gain</a:t>
            </a:r>
            <a:endParaRPr sz="1100"/>
          </a:p>
        </p:txBody>
      </p:sp>
      <p:sp>
        <p:nvSpPr>
          <p:cNvPr id="520" name="Google Shape;520;p46"/>
          <p:cNvSpPr txBox="1"/>
          <p:nvPr/>
        </p:nvSpPr>
        <p:spPr>
          <a:xfrm>
            <a:off x="6811698" y="1371600"/>
            <a:ext cx="1879562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FFA500"/>
                </a:solidFill>
                <a:latin typeface="Calibri"/>
                <a:ea typeface="Calibri"/>
                <a:cs typeface="Calibri"/>
                <a:sym typeface="Calibri"/>
              </a:rPr>
              <a:t>3.5× Faster</a:t>
            </a:r>
            <a:endParaRPr sz="1100"/>
          </a:p>
        </p:txBody>
      </p:sp>
      <p:sp>
        <p:nvSpPr>
          <p:cNvPr id="521" name="Google Shape;521;p46"/>
          <p:cNvSpPr txBox="1"/>
          <p:nvPr/>
        </p:nvSpPr>
        <p:spPr>
          <a:xfrm>
            <a:off x="6811698" y="1783080"/>
            <a:ext cx="1879562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FFA500"/>
                </a:solidFill>
                <a:latin typeface="Calibri"/>
                <a:ea typeface="Calibri"/>
                <a:cs typeface="Calibri"/>
                <a:sym typeface="Calibri"/>
              </a:rPr>
              <a:t>40s vs 140s/run</a:t>
            </a:r>
            <a:endParaRPr sz="1100"/>
          </a:p>
        </p:txBody>
      </p:sp>
      <p:sp>
        <p:nvSpPr>
          <p:cNvPr id="522" name="Google Shape;522;p46"/>
          <p:cNvSpPr/>
          <p:nvPr/>
        </p:nvSpPr>
        <p:spPr>
          <a:xfrm>
            <a:off x="274389" y="2263140"/>
            <a:ext cx="1429108" cy="402908"/>
          </a:xfrm>
          <a:prstGeom prst="rect">
            <a:avLst/>
          </a:prstGeom>
          <a:solidFill>
            <a:srgbClr val="006080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46"/>
          <p:cNvSpPr txBox="1"/>
          <p:nvPr/>
        </p:nvSpPr>
        <p:spPr>
          <a:xfrm>
            <a:off x="308687" y="2304288"/>
            <a:ext cx="1360510" cy="33432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 sz="1100"/>
          </a:p>
        </p:txBody>
      </p:sp>
      <p:sp>
        <p:nvSpPr>
          <p:cNvPr id="524" name="Google Shape;524;p46"/>
          <p:cNvSpPr/>
          <p:nvPr/>
        </p:nvSpPr>
        <p:spPr>
          <a:xfrm>
            <a:off x="1703496" y="2263140"/>
            <a:ext cx="1429108" cy="402908"/>
          </a:xfrm>
          <a:prstGeom prst="rect">
            <a:avLst/>
          </a:prstGeom>
          <a:solidFill>
            <a:srgbClr val="006080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46"/>
          <p:cNvSpPr txBox="1"/>
          <p:nvPr/>
        </p:nvSpPr>
        <p:spPr>
          <a:xfrm>
            <a:off x="1737795" y="2304288"/>
            <a:ext cx="1360510" cy="33432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OA (%)</a:t>
            </a:r>
            <a:endParaRPr sz="1100"/>
          </a:p>
        </p:txBody>
      </p:sp>
      <p:sp>
        <p:nvSpPr>
          <p:cNvPr id="526" name="Google Shape;526;p46"/>
          <p:cNvSpPr/>
          <p:nvPr/>
        </p:nvSpPr>
        <p:spPr>
          <a:xfrm>
            <a:off x="3132604" y="2263140"/>
            <a:ext cx="1429108" cy="402908"/>
          </a:xfrm>
          <a:prstGeom prst="rect">
            <a:avLst/>
          </a:prstGeom>
          <a:solidFill>
            <a:srgbClr val="006080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46"/>
          <p:cNvSpPr txBox="1"/>
          <p:nvPr/>
        </p:nvSpPr>
        <p:spPr>
          <a:xfrm>
            <a:off x="3166902" y="2304288"/>
            <a:ext cx="1360510" cy="33432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AA (%)</a:t>
            </a:r>
            <a:endParaRPr sz="1100"/>
          </a:p>
        </p:txBody>
      </p:sp>
      <p:sp>
        <p:nvSpPr>
          <p:cNvPr id="528" name="Google Shape;528;p46"/>
          <p:cNvSpPr/>
          <p:nvPr/>
        </p:nvSpPr>
        <p:spPr>
          <a:xfrm>
            <a:off x="4561711" y="2263140"/>
            <a:ext cx="1429108" cy="402908"/>
          </a:xfrm>
          <a:prstGeom prst="rect">
            <a:avLst/>
          </a:prstGeom>
          <a:solidFill>
            <a:srgbClr val="006080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46"/>
          <p:cNvSpPr txBox="1"/>
          <p:nvPr/>
        </p:nvSpPr>
        <p:spPr>
          <a:xfrm>
            <a:off x="4596010" y="2304288"/>
            <a:ext cx="1360510" cy="33432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Kappa (×100)</a:t>
            </a:r>
            <a:endParaRPr sz="1100"/>
          </a:p>
        </p:txBody>
      </p:sp>
      <p:sp>
        <p:nvSpPr>
          <p:cNvPr id="530" name="Google Shape;530;p46"/>
          <p:cNvSpPr/>
          <p:nvPr/>
        </p:nvSpPr>
        <p:spPr>
          <a:xfrm>
            <a:off x="5990819" y="2263140"/>
            <a:ext cx="1429108" cy="402908"/>
          </a:xfrm>
          <a:prstGeom prst="rect">
            <a:avLst/>
          </a:prstGeom>
          <a:solidFill>
            <a:srgbClr val="006080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46"/>
          <p:cNvSpPr txBox="1"/>
          <p:nvPr/>
        </p:nvSpPr>
        <p:spPr>
          <a:xfrm>
            <a:off x="6025117" y="2304288"/>
            <a:ext cx="1360510" cy="33432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Best Run OA</a:t>
            </a:r>
            <a:endParaRPr sz="1100"/>
          </a:p>
        </p:txBody>
      </p:sp>
      <p:sp>
        <p:nvSpPr>
          <p:cNvPr id="532" name="Google Shape;532;p46"/>
          <p:cNvSpPr/>
          <p:nvPr/>
        </p:nvSpPr>
        <p:spPr>
          <a:xfrm>
            <a:off x="7419926" y="2263140"/>
            <a:ext cx="1429108" cy="402908"/>
          </a:xfrm>
          <a:prstGeom prst="rect">
            <a:avLst/>
          </a:prstGeom>
          <a:solidFill>
            <a:srgbClr val="006080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46"/>
          <p:cNvSpPr txBox="1"/>
          <p:nvPr/>
        </p:nvSpPr>
        <p:spPr>
          <a:xfrm>
            <a:off x="7454225" y="2304288"/>
            <a:ext cx="1360510" cy="33432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Avg Train Time</a:t>
            </a:r>
            <a:endParaRPr sz="1100"/>
          </a:p>
        </p:txBody>
      </p:sp>
      <p:sp>
        <p:nvSpPr>
          <p:cNvPr id="534" name="Google Shape;534;p46"/>
          <p:cNvSpPr/>
          <p:nvPr/>
        </p:nvSpPr>
        <p:spPr>
          <a:xfrm>
            <a:off x="274389" y="2666048"/>
            <a:ext cx="1429108" cy="402908"/>
          </a:xfrm>
          <a:prstGeom prst="rect">
            <a:avLst/>
          </a:prstGeom>
          <a:solidFill>
            <a:srgbClr val="061926"/>
          </a:solidFill>
          <a:ln cap="flat" cmpd="sng" w="9525">
            <a:solidFill>
              <a:srgbClr val="1A3A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46"/>
          <p:cNvSpPr txBox="1"/>
          <p:nvPr/>
        </p:nvSpPr>
        <p:spPr>
          <a:xfrm>
            <a:off x="308687" y="2700338"/>
            <a:ext cx="1360510" cy="3480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MMFormer (2026)</a:t>
            </a:r>
            <a:endParaRPr sz="1100"/>
          </a:p>
        </p:txBody>
      </p:sp>
      <p:sp>
        <p:nvSpPr>
          <p:cNvPr id="536" name="Google Shape;536;p46"/>
          <p:cNvSpPr/>
          <p:nvPr/>
        </p:nvSpPr>
        <p:spPr>
          <a:xfrm>
            <a:off x="1703496" y="2666048"/>
            <a:ext cx="1429108" cy="402908"/>
          </a:xfrm>
          <a:prstGeom prst="rect">
            <a:avLst/>
          </a:prstGeom>
          <a:solidFill>
            <a:srgbClr val="061926"/>
          </a:solidFill>
          <a:ln cap="flat" cmpd="sng" w="9525">
            <a:solidFill>
              <a:srgbClr val="1A3A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46"/>
          <p:cNvSpPr txBox="1"/>
          <p:nvPr/>
        </p:nvSpPr>
        <p:spPr>
          <a:xfrm>
            <a:off x="1737795" y="2700338"/>
            <a:ext cx="1360510" cy="3480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92.45 ± 5.98</a:t>
            </a:r>
            <a:endParaRPr sz="1100"/>
          </a:p>
        </p:txBody>
      </p:sp>
      <p:sp>
        <p:nvSpPr>
          <p:cNvPr id="538" name="Google Shape;538;p46"/>
          <p:cNvSpPr/>
          <p:nvPr/>
        </p:nvSpPr>
        <p:spPr>
          <a:xfrm>
            <a:off x="3132604" y="2666048"/>
            <a:ext cx="1429108" cy="402908"/>
          </a:xfrm>
          <a:prstGeom prst="rect">
            <a:avLst/>
          </a:prstGeom>
          <a:solidFill>
            <a:srgbClr val="061926"/>
          </a:solidFill>
          <a:ln cap="flat" cmpd="sng" w="9525">
            <a:solidFill>
              <a:srgbClr val="1A3A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46"/>
          <p:cNvSpPr txBox="1"/>
          <p:nvPr/>
        </p:nvSpPr>
        <p:spPr>
          <a:xfrm>
            <a:off x="3166902" y="2700338"/>
            <a:ext cx="1360510" cy="3480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95.90 ± 1.80</a:t>
            </a:r>
            <a:endParaRPr sz="1100"/>
          </a:p>
        </p:txBody>
      </p:sp>
      <p:sp>
        <p:nvSpPr>
          <p:cNvPr id="540" name="Google Shape;540;p46"/>
          <p:cNvSpPr/>
          <p:nvPr/>
        </p:nvSpPr>
        <p:spPr>
          <a:xfrm>
            <a:off x="4561711" y="2666048"/>
            <a:ext cx="1429108" cy="402908"/>
          </a:xfrm>
          <a:prstGeom prst="rect">
            <a:avLst/>
          </a:prstGeom>
          <a:solidFill>
            <a:srgbClr val="061926"/>
          </a:solidFill>
          <a:ln cap="flat" cmpd="sng" w="9525">
            <a:solidFill>
              <a:srgbClr val="1A3A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46"/>
          <p:cNvSpPr txBox="1"/>
          <p:nvPr/>
        </p:nvSpPr>
        <p:spPr>
          <a:xfrm>
            <a:off x="4596010" y="2700338"/>
            <a:ext cx="1360510" cy="3480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90.44 ± 7.36</a:t>
            </a:r>
            <a:endParaRPr sz="1100"/>
          </a:p>
        </p:txBody>
      </p:sp>
      <p:sp>
        <p:nvSpPr>
          <p:cNvPr id="542" name="Google Shape;542;p46"/>
          <p:cNvSpPr/>
          <p:nvPr/>
        </p:nvSpPr>
        <p:spPr>
          <a:xfrm>
            <a:off x="5990819" y="2666048"/>
            <a:ext cx="1429108" cy="402908"/>
          </a:xfrm>
          <a:prstGeom prst="rect">
            <a:avLst/>
          </a:prstGeom>
          <a:solidFill>
            <a:srgbClr val="061926"/>
          </a:solidFill>
          <a:ln cap="flat" cmpd="sng" w="9525">
            <a:solidFill>
              <a:srgbClr val="1A3A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46"/>
          <p:cNvSpPr txBox="1"/>
          <p:nvPr/>
        </p:nvSpPr>
        <p:spPr>
          <a:xfrm>
            <a:off x="6025117" y="2700338"/>
            <a:ext cx="1360510" cy="3480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96.80%</a:t>
            </a:r>
            <a:endParaRPr sz="1100"/>
          </a:p>
        </p:txBody>
      </p:sp>
      <p:sp>
        <p:nvSpPr>
          <p:cNvPr id="544" name="Google Shape;544;p46"/>
          <p:cNvSpPr/>
          <p:nvPr/>
        </p:nvSpPr>
        <p:spPr>
          <a:xfrm>
            <a:off x="7419926" y="2666048"/>
            <a:ext cx="1429108" cy="402908"/>
          </a:xfrm>
          <a:prstGeom prst="rect">
            <a:avLst/>
          </a:prstGeom>
          <a:solidFill>
            <a:srgbClr val="061926"/>
          </a:solidFill>
          <a:ln cap="flat" cmpd="sng" w="9525">
            <a:solidFill>
              <a:srgbClr val="1A3A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46"/>
          <p:cNvSpPr txBox="1"/>
          <p:nvPr/>
        </p:nvSpPr>
        <p:spPr>
          <a:xfrm>
            <a:off x="7454225" y="2700338"/>
            <a:ext cx="1360510" cy="3480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~140 sec</a:t>
            </a:r>
            <a:endParaRPr sz="1100"/>
          </a:p>
        </p:txBody>
      </p:sp>
      <p:sp>
        <p:nvSpPr>
          <p:cNvPr id="546" name="Google Shape;546;p46"/>
          <p:cNvSpPr/>
          <p:nvPr/>
        </p:nvSpPr>
        <p:spPr>
          <a:xfrm>
            <a:off x="274389" y="3068955"/>
            <a:ext cx="1429108" cy="402907"/>
          </a:xfrm>
          <a:prstGeom prst="rect">
            <a:avLst/>
          </a:prstGeom>
          <a:solidFill>
            <a:srgbClr val="082236"/>
          </a:solidFill>
          <a:ln cap="flat" cmpd="sng" w="9525">
            <a:solidFill>
              <a:srgbClr val="1A3A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46"/>
          <p:cNvSpPr txBox="1"/>
          <p:nvPr/>
        </p:nvSpPr>
        <p:spPr>
          <a:xfrm>
            <a:off x="308687" y="3103245"/>
            <a:ext cx="1360510" cy="34804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R2Mamba (2026)</a:t>
            </a:r>
            <a:endParaRPr sz="1100"/>
          </a:p>
        </p:txBody>
      </p:sp>
      <p:sp>
        <p:nvSpPr>
          <p:cNvPr id="548" name="Google Shape;548;p46"/>
          <p:cNvSpPr/>
          <p:nvPr/>
        </p:nvSpPr>
        <p:spPr>
          <a:xfrm>
            <a:off x="1703496" y="3068955"/>
            <a:ext cx="1429108" cy="402907"/>
          </a:xfrm>
          <a:prstGeom prst="rect">
            <a:avLst/>
          </a:prstGeom>
          <a:solidFill>
            <a:srgbClr val="082236"/>
          </a:solidFill>
          <a:ln cap="flat" cmpd="sng" w="9525">
            <a:solidFill>
              <a:srgbClr val="1A3A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46"/>
          <p:cNvSpPr txBox="1"/>
          <p:nvPr/>
        </p:nvSpPr>
        <p:spPr>
          <a:xfrm>
            <a:off x="1737795" y="3103245"/>
            <a:ext cx="1360510" cy="34804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97.59 ± 0.60</a:t>
            </a:r>
            <a:endParaRPr sz="1100"/>
          </a:p>
        </p:txBody>
      </p:sp>
      <p:sp>
        <p:nvSpPr>
          <p:cNvPr id="550" name="Google Shape;550;p46"/>
          <p:cNvSpPr/>
          <p:nvPr/>
        </p:nvSpPr>
        <p:spPr>
          <a:xfrm>
            <a:off x="3132604" y="3068955"/>
            <a:ext cx="1429108" cy="402907"/>
          </a:xfrm>
          <a:prstGeom prst="rect">
            <a:avLst/>
          </a:prstGeom>
          <a:solidFill>
            <a:srgbClr val="082236"/>
          </a:solidFill>
          <a:ln cap="flat" cmpd="sng" w="9525">
            <a:solidFill>
              <a:srgbClr val="1A3A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46"/>
          <p:cNvSpPr txBox="1"/>
          <p:nvPr/>
        </p:nvSpPr>
        <p:spPr>
          <a:xfrm>
            <a:off x="3166902" y="3103245"/>
            <a:ext cx="1360510" cy="34804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97.95 ± 0.53</a:t>
            </a:r>
            <a:endParaRPr sz="1100"/>
          </a:p>
        </p:txBody>
      </p:sp>
      <p:sp>
        <p:nvSpPr>
          <p:cNvPr id="552" name="Google Shape;552;p46"/>
          <p:cNvSpPr/>
          <p:nvPr/>
        </p:nvSpPr>
        <p:spPr>
          <a:xfrm>
            <a:off x="4561711" y="3068955"/>
            <a:ext cx="1429108" cy="402907"/>
          </a:xfrm>
          <a:prstGeom prst="rect">
            <a:avLst/>
          </a:prstGeom>
          <a:solidFill>
            <a:srgbClr val="082236"/>
          </a:solidFill>
          <a:ln cap="flat" cmpd="sng" w="9525">
            <a:solidFill>
              <a:srgbClr val="1A3A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46"/>
          <p:cNvSpPr txBox="1"/>
          <p:nvPr/>
        </p:nvSpPr>
        <p:spPr>
          <a:xfrm>
            <a:off x="4596010" y="3103245"/>
            <a:ext cx="1360510" cy="34804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96.86 ± 0.77</a:t>
            </a:r>
            <a:endParaRPr sz="1100"/>
          </a:p>
        </p:txBody>
      </p:sp>
      <p:sp>
        <p:nvSpPr>
          <p:cNvPr id="554" name="Google Shape;554;p46"/>
          <p:cNvSpPr/>
          <p:nvPr/>
        </p:nvSpPr>
        <p:spPr>
          <a:xfrm>
            <a:off x="5990819" y="3068955"/>
            <a:ext cx="1429108" cy="402907"/>
          </a:xfrm>
          <a:prstGeom prst="rect">
            <a:avLst/>
          </a:prstGeom>
          <a:solidFill>
            <a:srgbClr val="082236"/>
          </a:solidFill>
          <a:ln cap="flat" cmpd="sng" w="9525">
            <a:solidFill>
              <a:srgbClr val="1A3A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46"/>
          <p:cNvSpPr txBox="1"/>
          <p:nvPr/>
        </p:nvSpPr>
        <p:spPr>
          <a:xfrm>
            <a:off x="6025117" y="3103245"/>
            <a:ext cx="1360510" cy="34804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98.03%</a:t>
            </a:r>
            <a:endParaRPr sz="1100"/>
          </a:p>
        </p:txBody>
      </p:sp>
      <p:sp>
        <p:nvSpPr>
          <p:cNvPr id="556" name="Google Shape;556;p46"/>
          <p:cNvSpPr/>
          <p:nvPr/>
        </p:nvSpPr>
        <p:spPr>
          <a:xfrm>
            <a:off x="7419926" y="3068955"/>
            <a:ext cx="1429108" cy="402907"/>
          </a:xfrm>
          <a:prstGeom prst="rect">
            <a:avLst/>
          </a:prstGeom>
          <a:solidFill>
            <a:srgbClr val="082236"/>
          </a:solidFill>
          <a:ln cap="flat" cmpd="sng" w="9525">
            <a:solidFill>
              <a:srgbClr val="1A3A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46"/>
          <p:cNvSpPr txBox="1"/>
          <p:nvPr/>
        </p:nvSpPr>
        <p:spPr>
          <a:xfrm>
            <a:off x="7454225" y="3103245"/>
            <a:ext cx="1360510" cy="34804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~40 sec</a:t>
            </a:r>
            <a:endParaRPr sz="1100"/>
          </a:p>
        </p:txBody>
      </p:sp>
      <p:sp>
        <p:nvSpPr>
          <p:cNvPr id="558" name="Google Shape;558;p46"/>
          <p:cNvSpPr/>
          <p:nvPr/>
        </p:nvSpPr>
        <p:spPr>
          <a:xfrm>
            <a:off x="274389" y="3471863"/>
            <a:ext cx="1429108" cy="402907"/>
          </a:xfrm>
          <a:prstGeom prst="rect">
            <a:avLst/>
          </a:prstGeom>
          <a:solidFill>
            <a:srgbClr val="061926"/>
          </a:solidFill>
          <a:ln cap="flat" cmpd="sng" w="9525">
            <a:solidFill>
              <a:srgbClr val="1A3A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46"/>
          <p:cNvSpPr txBox="1"/>
          <p:nvPr/>
        </p:nvSpPr>
        <p:spPr>
          <a:xfrm>
            <a:off x="308687" y="3506152"/>
            <a:ext cx="1360510" cy="34804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Performance Delta</a:t>
            </a:r>
            <a:endParaRPr sz="1100"/>
          </a:p>
        </p:txBody>
      </p:sp>
      <p:sp>
        <p:nvSpPr>
          <p:cNvPr id="560" name="Google Shape;560;p46"/>
          <p:cNvSpPr/>
          <p:nvPr/>
        </p:nvSpPr>
        <p:spPr>
          <a:xfrm>
            <a:off x="1703496" y="3471863"/>
            <a:ext cx="1429108" cy="402907"/>
          </a:xfrm>
          <a:prstGeom prst="rect">
            <a:avLst/>
          </a:prstGeom>
          <a:solidFill>
            <a:srgbClr val="061926"/>
          </a:solidFill>
          <a:ln cap="flat" cmpd="sng" w="9525">
            <a:solidFill>
              <a:srgbClr val="1A3A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46"/>
          <p:cNvSpPr txBox="1"/>
          <p:nvPr/>
        </p:nvSpPr>
        <p:spPr>
          <a:xfrm>
            <a:off x="1737795" y="3506152"/>
            <a:ext cx="1360510" cy="34804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FFA500"/>
                </a:solidFill>
                <a:latin typeface="Calibri"/>
                <a:ea typeface="Calibri"/>
                <a:cs typeface="Calibri"/>
                <a:sym typeface="Calibri"/>
              </a:rPr>
              <a:t>+5.14%</a:t>
            </a:r>
            <a:endParaRPr sz="1100"/>
          </a:p>
        </p:txBody>
      </p:sp>
      <p:sp>
        <p:nvSpPr>
          <p:cNvPr id="562" name="Google Shape;562;p46"/>
          <p:cNvSpPr/>
          <p:nvPr/>
        </p:nvSpPr>
        <p:spPr>
          <a:xfrm>
            <a:off x="3132604" y="3471863"/>
            <a:ext cx="1429108" cy="402907"/>
          </a:xfrm>
          <a:prstGeom prst="rect">
            <a:avLst/>
          </a:prstGeom>
          <a:solidFill>
            <a:srgbClr val="061926"/>
          </a:solidFill>
          <a:ln cap="flat" cmpd="sng" w="9525">
            <a:solidFill>
              <a:srgbClr val="1A3A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46"/>
          <p:cNvSpPr txBox="1"/>
          <p:nvPr/>
        </p:nvSpPr>
        <p:spPr>
          <a:xfrm>
            <a:off x="3166902" y="3506152"/>
            <a:ext cx="1360510" cy="34804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FFA500"/>
                </a:solidFill>
                <a:latin typeface="Calibri"/>
                <a:ea typeface="Calibri"/>
                <a:cs typeface="Calibri"/>
                <a:sym typeface="Calibri"/>
              </a:rPr>
              <a:t>+2.05%</a:t>
            </a:r>
            <a:endParaRPr sz="1100"/>
          </a:p>
        </p:txBody>
      </p:sp>
      <p:sp>
        <p:nvSpPr>
          <p:cNvPr id="564" name="Google Shape;564;p46"/>
          <p:cNvSpPr/>
          <p:nvPr/>
        </p:nvSpPr>
        <p:spPr>
          <a:xfrm>
            <a:off x="4561711" y="3471863"/>
            <a:ext cx="1429108" cy="402907"/>
          </a:xfrm>
          <a:prstGeom prst="rect">
            <a:avLst/>
          </a:prstGeom>
          <a:solidFill>
            <a:srgbClr val="061926"/>
          </a:solidFill>
          <a:ln cap="flat" cmpd="sng" w="9525">
            <a:solidFill>
              <a:srgbClr val="1A3A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46"/>
          <p:cNvSpPr txBox="1"/>
          <p:nvPr/>
        </p:nvSpPr>
        <p:spPr>
          <a:xfrm>
            <a:off x="4596010" y="3506152"/>
            <a:ext cx="1360510" cy="34804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FFA500"/>
                </a:solidFill>
                <a:latin typeface="Calibri"/>
                <a:ea typeface="Calibri"/>
                <a:cs typeface="Calibri"/>
                <a:sym typeface="Calibri"/>
              </a:rPr>
              <a:t>+6.42</a:t>
            </a:r>
            <a:endParaRPr sz="1100"/>
          </a:p>
        </p:txBody>
      </p:sp>
      <p:sp>
        <p:nvSpPr>
          <p:cNvPr id="566" name="Google Shape;566;p46"/>
          <p:cNvSpPr/>
          <p:nvPr/>
        </p:nvSpPr>
        <p:spPr>
          <a:xfrm>
            <a:off x="5990819" y="3471863"/>
            <a:ext cx="1429108" cy="402907"/>
          </a:xfrm>
          <a:prstGeom prst="rect">
            <a:avLst/>
          </a:prstGeom>
          <a:solidFill>
            <a:srgbClr val="061926"/>
          </a:solidFill>
          <a:ln cap="flat" cmpd="sng" w="9525">
            <a:solidFill>
              <a:srgbClr val="1A3A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46"/>
          <p:cNvSpPr txBox="1"/>
          <p:nvPr/>
        </p:nvSpPr>
        <p:spPr>
          <a:xfrm>
            <a:off x="6025117" y="3506152"/>
            <a:ext cx="1360510" cy="34804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FFA500"/>
                </a:solidFill>
                <a:latin typeface="Calibri"/>
                <a:ea typeface="Calibri"/>
                <a:cs typeface="Calibri"/>
                <a:sym typeface="Calibri"/>
              </a:rPr>
              <a:t>+1.23%</a:t>
            </a:r>
            <a:endParaRPr sz="1100"/>
          </a:p>
        </p:txBody>
      </p:sp>
      <p:sp>
        <p:nvSpPr>
          <p:cNvPr id="568" name="Google Shape;568;p46"/>
          <p:cNvSpPr/>
          <p:nvPr/>
        </p:nvSpPr>
        <p:spPr>
          <a:xfrm>
            <a:off x="7419926" y="3471863"/>
            <a:ext cx="1429108" cy="402907"/>
          </a:xfrm>
          <a:prstGeom prst="rect">
            <a:avLst/>
          </a:prstGeom>
          <a:solidFill>
            <a:srgbClr val="061926"/>
          </a:solidFill>
          <a:ln cap="flat" cmpd="sng" w="9525">
            <a:solidFill>
              <a:srgbClr val="1A3A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46"/>
          <p:cNvSpPr txBox="1"/>
          <p:nvPr/>
        </p:nvSpPr>
        <p:spPr>
          <a:xfrm>
            <a:off x="7454225" y="3506152"/>
            <a:ext cx="1360510" cy="34804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~3.5× Faster</a:t>
            </a:r>
            <a:endParaRPr sz="1100"/>
          </a:p>
        </p:txBody>
      </p:sp>
      <p:sp>
        <p:nvSpPr>
          <p:cNvPr id="570" name="Google Shape;570;p46"/>
          <p:cNvSpPr txBox="1"/>
          <p:nvPr/>
        </p:nvSpPr>
        <p:spPr>
          <a:xfrm>
            <a:off x="342986" y="3977640"/>
            <a:ext cx="8437451" cy="2606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Key Observations:</a:t>
            </a:r>
            <a:endParaRPr sz="1100"/>
          </a:p>
        </p:txBody>
      </p:sp>
      <p:sp>
        <p:nvSpPr>
          <p:cNvPr id="571" name="Google Shape;571;p46"/>
          <p:cNvSpPr txBox="1"/>
          <p:nvPr/>
        </p:nvSpPr>
        <p:spPr>
          <a:xfrm>
            <a:off x="342986" y="4286250"/>
            <a:ext cx="8437451" cy="7543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b="0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R2Mamba achieves 98.03% peak OA — among the highest on record for this benchmark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b="0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MMFormer shows high variance (±5.98%) due to quadratic attention sensitivity on dense urban boundaries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b="0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R2Mamba converges more reliably: only ±0.60% std — nearly 10× more stable than MMFormer</a:t>
            </a:r>
            <a:endParaRPr sz="1100"/>
          </a:p>
        </p:txBody>
      </p:sp>
      <p:sp>
        <p:nvSpPr>
          <p:cNvPr id="572" name="Google Shape;572;p46"/>
          <p:cNvSpPr/>
          <p:nvPr/>
        </p:nvSpPr>
        <p:spPr>
          <a:xfrm>
            <a:off x="0" y="5088636"/>
            <a:ext cx="9144002" cy="54864"/>
          </a:xfrm>
          <a:prstGeom prst="rect">
            <a:avLst/>
          </a:prstGeom>
          <a:solidFill>
            <a:srgbClr val="FFA50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47"/>
          <p:cNvSpPr/>
          <p:nvPr/>
        </p:nvSpPr>
        <p:spPr>
          <a:xfrm>
            <a:off x="0" y="0"/>
            <a:ext cx="9144002" cy="54864"/>
          </a:xfrm>
          <a:prstGeom prst="rect">
            <a:avLst/>
          </a:prstGeom>
          <a:solidFill>
            <a:srgbClr val="00C8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47"/>
          <p:cNvSpPr/>
          <p:nvPr/>
        </p:nvSpPr>
        <p:spPr>
          <a:xfrm>
            <a:off x="0" y="0"/>
            <a:ext cx="9144002" cy="925830"/>
          </a:xfrm>
          <a:prstGeom prst="rect">
            <a:avLst/>
          </a:prstGeom>
          <a:solidFill>
            <a:srgbClr val="05101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47"/>
          <p:cNvSpPr txBox="1"/>
          <p:nvPr/>
        </p:nvSpPr>
        <p:spPr>
          <a:xfrm>
            <a:off x="342986" y="123444"/>
            <a:ext cx="8231659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Qualitative Analysis: Classification Maps</a:t>
            </a:r>
            <a:endParaRPr sz="1100"/>
          </a:p>
        </p:txBody>
      </p:sp>
      <p:sp>
        <p:nvSpPr>
          <p:cNvPr id="580" name="Google Shape;580;p47"/>
          <p:cNvSpPr txBox="1"/>
          <p:nvPr/>
        </p:nvSpPr>
        <p:spPr>
          <a:xfrm>
            <a:off x="342986" y="617220"/>
            <a:ext cx="82316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Visual comparison of best-run spatial predictions for both models on both datasets</a:t>
            </a:r>
            <a:endParaRPr sz="1100"/>
          </a:p>
        </p:txBody>
      </p:sp>
      <p:sp>
        <p:nvSpPr>
          <p:cNvPr id="581" name="Google Shape;581;p47"/>
          <p:cNvSpPr/>
          <p:nvPr/>
        </p:nvSpPr>
        <p:spPr>
          <a:xfrm>
            <a:off x="0" y="925830"/>
            <a:ext cx="9144002" cy="27432"/>
          </a:xfrm>
          <a:prstGeom prst="rect">
            <a:avLst/>
          </a:prstGeom>
          <a:solidFill>
            <a:srgbClr val="00C8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47"/>
          <p:cNvSpPr txBox="1"/>
          <p:nvPr/>
        </p:nvSpPr>
        <p:spPr>
          <a:xfrm>
            <a:off x="1371943" y="1062990"/>
            <a:ext cx="3018275" cy="2606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MMFormer (2026)</a:t>
            </a:r>
            <a:endParaRPr sz="1100"/>
          </a:p>
        </p:txBody>
      </p:sp>
      <p:sp>
        <p:nvSpPr>
          <p:cNvPr id="583" name="Google Shape;583;p47"/>
          <p:cNvSpPr txBox="1"/>
          <p:nvPr/>
        </p:nvSpPr>
        <p:spPr>
          <a:xfrm>
            <a:off x="5110488" y="1062990"/>
            <a:ext cx="3018275" cy="2606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R2Mamba (2026)</a:t>
            </a:r>
            <a:endParaRPr sz="1100"/>
          </a:p>
        </p:txBody>
      </p:sp>
      <p:sp>
        <p:nvSpPr>
          <p:cNvPr id="584" name="Google Shape;584;p47"/>
          <p:cNvSpPr txBox="1"/>
          <p:nvPr/>
        </p:nvSpPr>
        <p:spPr>
          <a:xfrm>
            <a:off x="68597" y="1440180"/>
            <a:ext cx="685972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FFA500"/>
                </a:solidFill>
                <a:latin typeface="Calibri"/>
                <a:ea typeface="Calibri"/>
                <a:cs typeface="Calibri"/>
                <a:sym typeface="Calibri"/>
              </a:rPr>
              <a:t>Indian Pines</a:t>
            </a:r>
            <a:endParaRPr sz="1100"/>
          </a:p>
        </p:txBody>
      </p:sp>
      <p:sp>
        <p:nvSpPr>
          <p:cNvPr id="585" name="Google Shape;585;p47"/>
          <p:cNvSpPr txBox="1"/>
          <p:nvPr/>
        </p:nvSpPr>
        <p:spPr>
          <a:xfrm>
            <a:off x="68597" y="3223260"/>
            <a:ext cx="685972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FFA500"/>
                </a:solidFill>
                <a:latin typeface="Calibri"/>
                <a:ea typeface="Calibri"/>
                <a:cs typeface="Calibri"/>
                <a:sym typeface="Calibri"/>
              </a:rPr>
              <a:t>Pavia University</a:t>
            </a:r>
            <a:endParaRPr sz="1100"/>
          </a:p>
        </p:txBody>
      </p:sp>
      <p:pic>
        <p:nvPicPr>
          <p:cNvPr descr="Indian_Pines_MMFormer_best_run3.png" id="586" name="Google Shape;58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3166" y="1371600"/>
            <a:ext cx="3704247" cy="17830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dian_Pines_R2Mamba_best_run1.png" id="587" name="Google Shape;587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30308" y="1371600"/>
            <a:ext cx="3704247" cy="17830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avia_University_MMFormer_best_run1.png" id="588" name="Google Shape;588;p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3166" y="3257550"/>
            <a:ext cx="3704247" cy="15773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avia_University_R2Mamba_best_run3.png" id="589" name="Google Shape;589;p4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30308" y="3257550"/>
            <a:ext cx="3704247" cy="1577340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47"/>
          <p:cNvSpPr txBox="1"/>
          <p:nvPr/>
        </p:nvSpPr>
        <p:spPr>
          <a:xfrm>
            <a:off x="274389" y="4869180"/>
            <a:ext cx="8574645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000" u="none" cap="none" strike="noStrike">
                <a:solidFill>
                  <a:srgbClr val="FFA500"/>
                </a:solidFill>
                <a:latin typeface="Calibri"/>
                <a:ea typeface="Calibri"/>
                <a:cs typeface="Calibri"/>
                <a:sym typeface="Calibri"/>
              </a:rPr>
              <a:t>R2Mamba shows cleaner spatial boundaries, fewer noisy pixels, and better minority-class discrimination</a:t>
            </a:r>
            <a:endParaRPr sz="1100"/>
          </a:p>
        </p:txBody>
      </p:sp>
      <p:sp>
        <p:nvSpPr>
          <p:cNvPr id="591" name="Google Shape;591;p47"/>
          <p:cNvSpPr/>
          <p:nvPr/>
        </p:nvSpPr>
        <p:spPr>
          <a:xfrm>
            <a:off x="0" y="5088636"/>
            <a:ext cx="9144002" cy="54864"/>
          </a:xfrm>
          <a:prstGeom prst="rect">
            <a:avLst/>
          </a:prstGeom>
          <a:solidFill>
            <a:srgbClr val="FFA50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48"/>
          <p:cNvSpPr/>
          <p:nvPr/>
        </p:nvSpPr>
        <p:spPr>
          <a:xfrm>
            <a:off x="0" y="0"/>
            <a:ext cx="9144002" cy="54864"/>
          </a:xfrm>
          <a:prstGeom prst="rect">
            <a:avLst/>
          </a:prstGeom>
          <a:solidFill>
            <a:srgbClr val="00C8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48"/>
          <p:cNvSpPr/>
          <p:nvPr/>
        </p:nvSpPr>
        <p:spPr>
          <a:xfrm>
            <a:off x="0" y="0"/>
            <a:ext cx="9144002" cy="925830"/>
          </a:xfrm>
          <a:prstGeom prst="rect">
            <a:avLst/>
          </a:prstGeom>
          <a:solidFill>
            <a:srgbClr val="05101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48"/>
          <p:cNvSpPr txBox="1"/>
          <p:nvPr/>
        </p:nvSpPr>
        <p:spPr>
          <a:xfrm>
            <a:off x="342986" y="123444"/>
            <a:ext cx="8231659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Computational Complexity &amp; Efficiency</a:t>
            </a:r>
            <a:endParaRPr sz="1100"/>
          </a:p>
        </p:txBody>
      </p:sp>
      <p:sp>
        <p:nvSpPr>
          <p:cNvPr id="599" name="Google Shape;599;p48"/>
          <p:cNvSpPr txBox="1"/>
          <p:nvPr/>
        </p:nvSpPr>
        <p:spPr>
          <a:xfrm>
            <a:off x="342986" y="617220"/>
            <a:ext cx="82316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Why linear O(N) Mamba outscales quadratic O(N²) Transformers</a:t>
            </a:r>
            <a:endParaRPr sz="1100"/>
          </a:p>
        </p:txBody>
      </p:sp>
      <p:sp>
        <p:nvSpPr>
          <p:cNvPr id="600" name="Google Shape;600;p48"/>
          <p:cNvSpPr/>
          <p:nvPr/>
        </p:nvSpPr>
        <p:spPr>
          <a:xfrm>
            <a:off x="0" y="925830"/>
            <a:ext cx="9144002" cy="27432"/>
          </a:xfrm>
          <a:prstGeom prst="rect">
            <a:avLst/>
          </a:prstGeom>
          <a:solidFill>
            <a:srgbClr val="00C8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48"/>
          <p:cNvSpPr/>
          <p:nvPr/>
        </p:nvSpPr>
        <p:spPr>
          <a:xfrm>
            <a:off x="274389" y="1062990"/>
            <a:ext cx="2858215" cy="396784"/>
          </a:xfrm>
          <a:prstGeom prst="rect">
            <a:avLst/>
          </a:prstGeom>
          <a:solidFill>
            <a:srgbClr val="006080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48"/>
          <p:cNvSpPr txBox="1"/>
          <p:nvPr/>
        </p:nvSpPr>
        <p:spPr>
          <a:xfrm>
            <a:off x="308687" y="1104138"/>
            <a:ext cx="2789618" cy="3282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Aspect</a:t>
            </a:r>
            <a:endParaRPr sz="1100"/>
          </a:p>
        </p:txBody>
      </p:sp>
      <p:sp>
        <p:nvSpPr>
          <p:cNvPr id="603" name="Google Shape;603;p48"/>
          <p:cNvSpPr/>
          <p:nvPr/>
        </p:nvSpPr>
        <p:spPr>
          <a:xfrm>
            <a:off x="3132604" y="1062990"/>
            <a:ext cx="2858215" cy="396784"/>
          </a:xfrm>
          <a:prstGeom prst="rect">
            <a:avLst/>
          </a:prstGeom>
          <a:solidFill>
            <a:srgbClr val="006080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48"/>
          <p:cNvSpPr txBox="1"/>
          <p:nvPr/>
        </p:nvSpPr>
        <p:spPr>
          <a:xfrm>
            <a:off x="3166902" y="1104138"/>
            <a:ext cx="2789618" cy="3282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MMFormer (Transformer)</a:t>
            </a:r>
            <a:endParaRPr sz="1100"/>
          </a:p>
        </p:txBody>
      </p:sp>
      <p:sp>
        <p:nvSpPr>
          <p:cNvPr id="605" name="Google Shape;605;p48"/>
          <p:cNvSpPr/>
          <p:nvPr/>
        </p:nvSpPr>
        <p:spPr>
          <a:xfrm>
            <a:off x="5990819" y="1062990"/>
            <a:ext cx="2858215" cy="396784"/>
          </a:xfrm>
          <a:prstGeom prst="rect">
            <a:avLst/>
          </a:prstGeom>
          <a:solidFill>
            <a:srgbClr val="006080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48"/>
          <p:cNvSpPr txBox="1"/>
          <p:nvPr/>
        </p:nvSpPr>
        <p:spPr>
          <a:xfrm>
            <a:off x="6025117" y="1104138"/>
            <a:ext cx="2789618" cy="3282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R2Mamba (Mamba / SSM)</a:t>
            </a:r>
            <a:endParaRPr sz="1100"/>
          </a:p>
        </p:txBody>
      </p:sp>
      <p:sp>
        <p:nvSpPr>
          <p:cNvPr id="607" name="Google Shape;607;p48"/>
          <p:cNvSpPr/>
          <p:nvPr/>
        </p:nvSpPr>
        <p:spPr>
          <a:xfrm>
            <a:off x="274389" y="1459774"/>
            <a:ext cx="2858215" cy="396784"/>
          </a:xfrm>
          <a:prstGeom prst="rect">
            <a:avLst/>
          </a:prstGeom>
          <a:solidFill>
            <a:srgbClr val="061926"/>
          </a:solidFill>
          <a:ln cap="flat" cmpd="sng" w="9525">
            <a:solidFill>
              <a:srgbClr val="1A3A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48"/>
          <p:cNvSpPr txBox="1"/>
          <p:nvPr/>
        </p:nvSpPr>
        <p:spPr>
          <a:xfrm>
            <a:off x="308687" y="1494064"/>
            <a:ext cx="2789618" cy="3419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Theoretical Complexity</a:t>
            </a:r>
            <a:endParaRPr sz="1100"/>
          </a:p>
        </p:txBody>
      </p:sp>
      <p:sp>
        <p:nvSpPr>
          <p:cNvPr id="609" name="Google Shape;609;p48"/>
          <p:cNvSpPr/>
          <p:nvPr/>
        </p:nvSpPr>
        <p:spPr>
          <a:xfrm>
            <a:off x="3132604" y="1459774"/>
            <a:ext cx="2858215" cy="396784"/>
          </a:xfrm>
          <a:prstGeom prst="rect">
            <a:avLst/>
          </a:prstGeom>
          <a:solidFill>
            <a:srgbClr val="061926"/>
          </a:solidFill>
          <a:ln cap="flat" cmpd="sng" w="9525">
            <a:solidFill>
              <a:srgbClr val="1A3A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48"/>
          <p:cNvSpPr txBox="1"/>
          <p:nvPr/>
        </p:nvSpPr>
        <p:spPr>
          <a:xfrm>
            <a:off x="3166902" y="1494064"/>
            <a:ext cx="2789618" cy="3419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Quadratic  O(N²)</a:t>
            </a:r>
            <a:endParaRPr sz="1100"/>
          </a:p>
        </p:txBody>
      </p:sp>
      <p:sp>
        <p:nvSpPr>
          <p:cNvPr id="611" name="Google Shape;611;p48"/>
          <p:cNvSpPr/>
          <p:nvPr/>
        </p:nvSpPr>
        <p:spPr>
          <a:xfrm>
            <a:off x="5990819" y="1459774"/>
            <a:ext cx="2858215" cy="396784"/>
          </a:xfrm>
          <a:prstGeom prst="rect">
            <a:avLst/>
          </a:prstGeom>
          <a:solidFill>
            <a:srgbClr val="061926"/>
          </a:solidFill>
          <a:ln cap="flat" cmpd="sng" w="9525">
            <a:solidFill>
              <a:srgbClr val="1A3A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48"/>
          <p:cNvSpPr txBox="1"/>
          <p:nvPr/>
        </p:nvSpPr>
        <p:spPr>
          <a:xfrm>
            <a:off x="6025117" y="1494064"/>
            <a:ext cx="2789618" cy="3419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Linear  O(N)</a:t>
            </a:r>
            <a:endParaRPr sz="1100"/>
          </a:p>
        </p:txBody>
      </p:sp>
      <p:sp>
        <p:nvSpPr>
          <p:cNvPr id="613" name="Google Shape;613;p48"/>
          <p:cNvSpPr/>
          <p:nvPr/>
        </p:nvSpPr>
        <p:spPr>
          <a:xfrm>
            <a:off x="274389" y="1856557"/>
            <a:ext cx="2858215" cy="396784"/>
          </a:xfrm>
          <a:prstGeom prst="rect">
            <a:avLst/>
          </a:prstGeom>
          <a:solidFill>
            <a:srgbClr val="082236"/>
          </a:solidFill>
          <a:ln cap="flat" cmpd="sng" w="9525">
            <a:solidFill>
              <a:srgbClr val="1A3A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48"/>
          <p:cNvSpPr txBox="1"/>
          <p:nvPr/>
        </p:nvSpPr>
        <p:spPr>
          <a:xfrm>
            <a:off x="308687" y="1890848"/>
            <a:ext cx="2789618" cy="3419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Memory Scaling</a:t>
            </a:r>
            <a:endParaRPr sz="1100"/>
          </a:p>
        </p:txBody>
      </p:sp>
      <p:sp>
        <p:nvSpPr>
          <p:cNvPr id="615" name="Google Shape;615;p48"/>
          <p:cNvSpPr/>
          <p:nvPr/>
        </p:nvSpPr>
        <p:spPr>
          <a:xfrm>
            <a:off x="3132604" y="1856557"/>
            <a:ext cx="2858215" cy="396784"/>
          </a:xfrm>
          <a:prstGeom prst="rect">
            <a:avLst/>
          </a:prstGeom>
          <a:solidFill>
            <a:srgbClr val="082236"/>
          </a:solidFill>
          <a:ln cap="flat" cmpd="sng" w="9525">
            <a:solidFill>
              <a:srgbClr val="1A3A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48"/>
          <p:cNvSpPr txBox="1"/>
          <p:nvPr/>
        </p:nvSpPr>
        <p:spPr>
          <a:xfrm>
            <a:off x="3166902" y="1890848"/>
            <a:ext cx="2789618" cy="3419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Grows quadratically with tokens</a:t>
            </a:r>
            <a:endParaRPr sz="1100"/>
          </a:p>
        </p:txBody>
      </p:sp>
      <p:sp>
        <p:nvSpPr>
          <p:cNvPr id="617" name="Google Shape;617;p48"/>
          <p:cNvSpPr/>
          <p:nvPr/>
        </p:nvSpPr>
        <p:spPr>
          <a:xfrm>
            <a:off x="5990819" y="1856557"/>
            <a:ext cx="2858215" cy="396784"/>
          </a:xfrm>
          <a:prstGeom prst="rect">
            <a:avLst/>
          </a:prstGeom>
          <a:solidFill>
            <a:srgbClr val="082236"/>
          </a:solidFill>
          <a:ln cap="flat" cmpd="sng" w="9525">
            <a:solidFill>
              <a:srgbClr val="1A3A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48"/>
          <p:cNvSpPr txBox="1"/>
          <p:nvPr/>
        </p:nvSpPr>
        <p:spPr>
          <a:xfrm>
            <a:off x="6025117" y="1890848"/>
            <a:ext cx="2789618" cy="3419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Constant per recurrent step</a:t>
            </a:r>
            <a:endParaRPr sz="1100"/>
          </a:p>
        </p:txBody>
      </p:sp>
      <p:sp>
        <p:nvSpPr>
          <p:cNvPr id="619" name="Google Shape;619;p48"/>
          <p:cNvSpPr/>
          <p:nvPr/>
        </p:nvSpPr>
        <p:spPr>
          <a:xfrm>
            <a:off x="274389" y="2253341"/>
            <a:ext cx="2858215" cy="396784"/>
          </a:xfrm>
          <a:prstGeom prst="rect">
            <a:avLst/>
          </a:prstGeom>
          <a:solidFill>
            <a:srgbClr val="061926"/>
          </a:solidFill>
          <a:ln cap="flat" cmpd="sng" w="9525">
            <a:solidFill>
              <a:srgbClr val="1A3A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48"/>
          <p:cNvSpPr txBox="1"/>
          <p:nvPr/>
        </p:nvSpPr>
        <p:spPr>
          <a:xfrm>
            <a:off x="308687" y="2287631"/>
            <a:ext cx="2789618" cy="3419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Convergence Stability</a:t>
            </a:r>
            <a:endParaRPr sz="1100"/>
          </a:p>
        </p:txBody>
      </p:sp>
      <p:sp>
        <p:nvSpPr>
          <p:cNvPr id="621" name="Google Shape;621;p48"/>
          <p:cNvSpPr/>
          <p:nvPr/>
        </p:nvSpPr>
        <p:spPr>
          <a:xfrm>
            <a:off x="3132604" y="2253341"/>
            <a:ext cx="2858215" cy="396784"/>
          </a:xfrm>
          <a:prstGeom prst="rect">
            <a:avLst/>
          </a:prstGeom>
          <a:solidFill>
            <a:srgbClr val="061926"/>
          </a:solidFill>
          <a:ln cap="flat" cmpd="sng" w="9525">
            <a:solidFill>
              <a:srgbClr val="1A3A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48"/>
          <p:cNvSpPr txBox="1"/>
          <p:nvPr/>
        </p:nvSpPr>
        <p:spPr>
          <a:xfrm>
            <a:off x="3166902" y="2287631"/>
            <a:ext cx="2789618" cy="3419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High variance across seeds</a:t>
            </a:r>
            <a:endParaRPr sz="1100"/>
          </a:p>
        </p:txBody>
      </p:sp>
      <p:sp>
        <p:nvSpPr>
          <p:cNvPr id="623" name="Google Shape;623;p48"/>
          <p:cNvSpPr/>
          <p:nvPr/>
        </p:nvSpPr>
        <p:spPr>
          <a:xfrm>
            <a:off x="5990819" y="2253341"/>
            <a:ext cx="2858215" cy="396784"/>
          </a:xfrm>
          <a:prstGeom prst="rect">
            <a:avLst/>
          </a:prstGeom>
          <a:solidFill>
            <a:srgbClr val="061926"/>
          </a:solidFill>
          <a:ln cap="flat" cmpd="sng" w="9525">
            <a:solidFill>
              <a:srgbClr val="1A3A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48"/>
          <p:cNvSpPr txBox="1"/>
          <p:nvPr/>
        </p:nvSpPr>
        <p:spPr>
          <a:xfrm>
            <a:off x="6025117" y="2287631"/>
            <a:ext cx="2789618" cy="3419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Low variance, fast convergence</a:t>
            </a:r>
            <a:endParaRPr sz="1100"/>
          </a:p>
        </p:txBody>
      </p:sp>
      <p:sp>
        <p:nvSpPr>
          <p:cNvPr id="625" name="Google Shape;625;p48"/>
          <p:cNvSpPr/>
          <p:nvPr/>
        </p:nvSpPr>
        <p:spPr>
          <a:xfrm>
            <a:off x="274389" y="2650125"/>
            <a:ext cx="2858215" cy="396784"/>
          </a:xfrm>
          <a:prstGeom prst="rect">
            <a:avLst/>
          </a:prstGeom>
          <a:solidFill>
            <a:srgbClr val="082236"/>
          </a:solidFill>
          <a:ln cap="flat" cmpd="sng" w="9525">
            <a:solidFill>
              <a:srgbClr val="1A3A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48"/>
          <p:cNvSpPr txBox="1"/>
          <p:nvPr/>
        </p:nvSpPr>
        <p:spPr>
          <a:xfrm>
            <a:off x="308687" y="2684415"/>
            <a:ext cx="2789618" cy="3419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Avg Training Time / Run</a:t>
            </a:r>
            <a:endParaRPr sz="1100"/>
          </a:p>
        </p:txBody>
      </p:sp>
      <p:sp>
        <p:nvSpPr>
          <p:cNvPr id="627" name="Google Shape;627;p48"/>
          <p:cNvSpPr/>
          <p:nvPr/>
        </p:nvSpPr>
        <p:spPr>
          <a:xfrm>
            <a:off x="3132604" y="2650125"/>
            <a:ext cx="2858215" cy="396784"/>
          </a:xfrm>
          <a:prstGeom prst="rect">
            <a:avLst/>
          </a:prstGeom>
          <a:solidFill>
            <a:srgbClr val="082236"/>
          </a:solidFill>
          <a:ln cap="flat" cmpd="sng" w="9525">
            <a:solidFill>
              <a:srgbClr val="1A3A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48"/>
          <p:cNvSpPr txBox="1"/>
          <p:nvPr/>
        </p:nvSpPr>
        <p:spPr>
          <a:xfrm>
            <a:off x="3166902" y="2684415"/>
            <a:ext cx="2789618" cy="3419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~75s (IP) / ~140s (PU)</a:t>
            </a:r>
            <a:endParaRPr sz="1100"/>
          </a:p>
        </p:txBody>
      </p:sp>
      <p:sp>
        <p:nvSpPr>
          <p:cNvPr id="629" name="Google Shape;629;p48"/>
          <p:cNvSpPr/>
          <p:nvPr/>
        </p:nvSpPr>
        <p:spPr>
          <a:xfrm>
            <a:off x="5990819" y="2650125"/>
            <a:ext cx="2858215" cy="396784"/>
          </a:xfrm>
          <a:prstGeom prst="rect">
            <a:avLst/>
          </a:prstGeom>
          <a:solidFill>
            <a:srgbClr val="082236"/>
          </a:solidFill>
          <a:ln cap="flat" cmpd="sng" w="9525">
            <a:solidFill>
              <a:srgbClr val="1A3A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48"/>
          <p:cNvSpPr txBox="1"/>
          <p:nvPr/>
        </p:nvSpPr>
        <p:spPr>
          <a:xfrm>
            <a:off x="6025117" y="2684415"/>
            <a:ext cx="2789618" cy="3419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~26s (IP) / ~40s (PU)</a:t>
            </a:r>
            <a:endParaRPr sz="1100"/>
          </a:p>
        </p:txBody>
      </p:sp>
      <p:sp>
        <p:nvSpPr>
          <p:cNvPr id="631" name="Google Shape;631;p48"/>
          <p:cNvSpPr/>
          <p:nvPr/>
        </p:nvSpPr>
        <p:spPr>
          <a:xfrm>
            <a:off x="274389" y="3046909"/>
            <a:ext cx="2858215" cy="396784"/>
          </a:xfrm>
          <a:prstGeom prst="rect">
            <a:avLst/>
          </a:prstGeom>
          <a:solidFill>
            <a:srgbClr val="061926"/>
          </a:solidFill>
          <a:ln cap="flat" cmpd="sng" w="9525">
            <a:solidFill>
              <a:srgbClr val="1A3A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48"/>
          <p:cNvSpPr txBox="1"/>
          <p:nvPr/>
        </p:nvSpPr>
        <p:spPr>
          <a:xfrm>
            <a:off x="308687" y="3081199"/>
            <a:ext cx="2789618" cy="3419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Speed Advantage</a:t>
            </a:r>
            <a:endParaRPr sz="1100"/>
          </a:p>
        </p:txBody>
      </p:sp>
      <p:sp>
        <p:nvSpPr>
          <p:cNvPr id="633" name="Google Shape;633;p48"/>
          <p:cNvSpPr/>
          <p:nvPr/>
        </p:nvSpPr>
        <p:spPr>
          <a:xfrm>
            <a:off x="3132604" y="3046909"/>
            <a:ext cx="2858215" cy="396784"/>
          </a:xfrm>
          <a:prstGeom prst="rect">
            <a:avLst/>
          </a:prstGeom>
          <a:solidFill>
            <a:srgbClr val="061926"/>
          </a:solidFill>
          <a:ln cap="flat" cmpd="sng" w="9525">
            <a:solidFill>
              <a:srgbClr val="1A3A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48"/>
          <p:cNvSpPr txBox="1"/>
          <p:nvPr/>
        </p:nvSpPr>
        <p:spPr>
          <a:xfrm>
            <a:off x="3166902" y="3081199"/>
            <a:ext cx="2789618" cy="3419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Baseline</a:t>
            </a:r>
            <a:endParaRPr sz="1100"/>
          </a:p>
        </p:txBody>
      </p:sp>
      <p:sp>
        <p:nvSpPr>
          <p:cNvPr id="635" name="Google Shape;635;p48"/>
          <p:cNvSpPr/>
          <p:nvPr/>
        </p:nvSpPr>
        <p:spPr>
          <a:xfrm>
            <a:off x="5990819" y="3046909"/>
            <a:ext cx="2858215" cy="396784"/>
          </a:xfrm>
          <a:prstGeom prst="rect">
            <a:avLst/>
          </a:prstGeom>
          <a:solidFill>
            <a:srgbClr val="061926"/>
          </a:solidFill>
          <a:ln cap="flat" cmpd="sng" w="9525">
            <a:solidFill>
              <a:srgbClr val="1A3A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48"/>
          <p:cNvSpPr txBox="1"/>
          <p:nvPr/>
        </p:nvSpPr>
        <p:spPr>
          <a:xfrm>
            <a:off x="6025117" y="3081199"/>
            <a:ext cx="2789618" cy="3419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3× – 3.5× Faster</a:t>
            </a:r>
            <a:endParaRPr sz="1100"/>
          </a:p>
        </p:txBody>
      </p:sp>
      <p:sp>
        <p:nvSpPr>
          <p:cNvPr id="637" name="Google Shape;637;p48"/>
          <p:cNvSpPr/>
          <p:nvPr/>
        </p:nvSpPr>
        <p:spPr>
          <a:xfrm>
            <a:off x="274389" y="3443693"/>
            <a:ext cx="2858215" cy="396784"/>
          </a:xfrm>
          <a:prstGeom prst="rect">
            <a:avLst/>
          </a:prstGeom>
          <a:solidFill>
            <a:srgbClr val="082236"/>
          </a:solidFill>
          <a:ln cap="flat" cmpd="sng" w="9525">
            <a:solidFill>
              <a:srgbClr val="1A3A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48"/>
          <p:cNvSpPr txBox="1"/>
          <p:nvPr/>
        </p:nvSpPr>
        <p:spPr>
          <a:xfrm>
            <a:off x="308687" y="3477982"/>
            <a:ext cx="2789618" cy="3419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Large Scene Scalability</a:t>
            </a:r>
            <a:endParaRPr sz="1100"/>
          </a:p>
        </p:txBody>
      </p:sp>
      <p:sp>
        <p:nvSpPr>
          <p:cNvPr id="639" name="Google Shape;639;p48"/>
          <p:cNvSpPr/>
          <p:nvPr/>
        </p:nvSpPr>
        <p:spPr>
          <a:xfrm>
            <a:off x="3132604" y="3443693"/>
            <a:ext cx="2858215" cy="396784"/>
          </a:xfrm>
          <a:prstGeom prst="rect">
            <a:avLst/>
          </a:prstGeom>
          <a:solidFill>
            <a:srgbClr val="082236"/>
          </a:solidFill>
          <a:ln cap="flat" cmpd="sng" w="9525">
            <a:solidFill>
              <a:srgbClr val="1A3A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48"/>
          <p:cNvSpPr txBox="1"/>
          <p:nvPr/>
        </p:nvSpPr>
        <p:spPr>
          <a:xfrm>
            <a:off x="3166902" y="3477982"/>
            <a:ext cx="2789618" cy="3419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Challenging (memory bottleneck)</a:t>
            </a:r>
            <a:endParaRPr sz="1100"/>
          </a:p>
        </p:txBody>
      </p:sp>
      <p:sp>
        <p:nvSpPr>
          <p:cNvPr id="641" name="Google Shape;641;p48"/>
          <p:cNvSpPr/>
          <p:nvPr/>
        </p:nvSpPr>
        <p:spPr>
          <a:xfrm>
            <a:off x="5990819" y="3443693"/>
            <a:ext cx="2858215" cy="396784"/>
          </a:xfrm>
          <a:prstGeom prst="rect">
            <a:avLst/>
          </a:prstGeom>
          <a:solidFill>
            <a:srgbClr val="082236"/>
          </a:solidFill>
          <a:ln cap="flat" cmpd="sng" w="9525">
            <a:solidFill>
              <a:srgbClr val="1A3A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48"/>
          <p:cNvSpPr txBox="1"/>
          <p:nvPr/>
        </p:nvSpPr>
        <p:spPr>
          <a:xfrm>
            <a:off x="6025117" y="3477982"/>
            <a:ext cx="2789618" cy="3419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Efficient at any scale</a:t>
            </a:r>
            <a:endParaRPr sz="1100"/>
          </a:p>
        </p:txBody>
      </p:sp>
      <p:sp>
        <p:nvSpPr>
          <p:cNvPr id="643" name="Google Shape;643;p48"/>
          <p:cNvSpPr txBox="1"/>
          <p:nvPr/>
        </p:nvSpPr>
        <p:spPr>
          <a:xfrm>
            <a:off x="342986" y="3977640"/>
            <a:ext cx="8437451" cy="2606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FFA500"/>
                </a:solidFill>
                <a:latin typeface="Calibri"/>
                <a:ea typeface="Calibri"/>
                <a:cs typeface="Calibri"/>
                <a:sym typeface="Calibri"/>
              </a:rPr>
              <a:t>Practical Implication:</a:t>
            </a:r>
            <a:endParaRPr sz="1100"/>
          </a:p>
        </p:txBody>
      </p:sp>
      <p:sp>
        <p:nvSpPr>
          <p:cNvPr id="644" name="Google Shape;644;p48"/>
          <p:cNvSpPr txBox="1"/>
          <p:nvPr/>
        </p:nvSpPr>
        <p:spPr>
          <a:xfrm>
            <a:off x="342986" y="4286250"/>
            <a:ext cx="8437451" cy="7543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b="0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 large urban scenes (e.g. Houston 2018: 1,202 × 4,768 pixels), the quadratic bottleneck makes MMFormer infeasible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b="0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R2Mamba's O(N) selective scanning enables deployment on satellite edge hardware and real-time airborne sensors</a:t>
            </a:r>
            <a:endParaRPr sz="1100"/>
          </a:p>
        </p:txBody>
      </p:sp>
      <p:sp>
        <p:nvSpPr>
          <p:cNvPr id="645" name="Google Shape;645;p48"/>
          <p:cNvSpPr/>
          <p:nvPr/>
        </p:nvSpPr>
        <p:spPr>
          <a:xfrm>
            <a:off x="0" y="5088636"/>
            <a:ext cx="9144002" cy="54864"/>
          </a:xfrm>
          <a:prstGeom prst="rect">
            <a:avLst/>
          </a:prstGeom>
          <a:solidFill>
            <a:srgbClr val="FFA50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49"/>
          <p:cNvSpPr/>
          <p:nvPr/>
        </p:nvSpPr>
        <p:spPr>
          <a:xfrm>
            <a:off x="0" y="0"/>
            <a:ext cx="9144002" cy="54864"/>
          </a:xfrm>
          <a:prstGeom prst="rect">
            <a:avLst/>
          </a:prstGeom>
          <a:solidFill>
            <a:srgbClr val="00C8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49"/>
          <p:cNvSpPr/>
          <p:nvPr/>
        </p:nvSpPr>
        <p:spPr>
          <a:xfrm>
            <a:off x="0" y="0"/>
            <a:ext cx="9144002" cy="925830"/>
          </a:xfrm>
          <a:prstGeom prst="rect">
            <a:avLst/>
          </a:prstGeom>
          <a:solidFill>
            <a:srgbClr val="05101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49"/>
          <p:cNvSpPr txBox="1"/>
          <p:nvPr/>
        </p:nvSpPr>
        <p:spPr>
          <a:xfrm>
            <a:off x="342986" y="123444"/>
            <a:ext cx="8231659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Conclusion &amp; Future Work</a:t>
            </a:r>
            <a:endParaRPr sz="1100"/>
          </a:p>
        </p:txBody>
      </p:sp>
      <p:sp>
        <p:nvSpPr>
          <p:cNvPr id="653" name="Google Shape;653;p49"/>
          <p:cNvSpPr txBox="1"/>
          <p:nvPr/>
        </p:nvSpPr>
        <p:spPr>
          <a:xfrm>
            <a:off x="342986" y="617220"/>
            <a:ext cx="82316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Key findings, contributions, and next steps</a:t>
            </a:r>
            <a:endParaRPr sz="1100"/>
          </a:p>
        </p:txBody>
      </p:sp>
      <p:sp>
        <p:nvSpPr>
          <p:cNvPr id="654" name="Google Shape;654;p49"/>
          <p:cNvSpPr/>
          <p:nvPr/>
        </p:nvSpPr>
        <p:spPr>
          <a:xfrm>
            <a:off x="0" y="925830"/>
            <a:ext cx="9144002" cy="27432"/>
          </a:xfrm>
          <a:prstGeom prst="rect">
            <a:avLst/>
          </a:prstGeom>
          <a:solidFill>
            <a:srgbClr val="00C8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49"/>
          <p:cNvSpPr/>
          <p:nvPr/>
        </p:nvSpPr>
        <p:spPr>
          <a:xfrm>
            <a:off x="274389" y="1062990"/>
            <a:ext cx="4115830" cy="3771900"/>
          </a:xfrm>
          <a:prstGeom prst="rect">
            <a:avLst/>
          </a:prstGeom>
          <a:solidFill>
            <a:srgbClr val="051526"/>
          </a:solidFill>
          <a:ln cap="flat" cmpd="sng" w="19050">
            <a:solidFill>
              <a:srgbClr val="00C8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49"/>
          <p:cNvSpPr txBox="1"/>
          <p:nvPr/>
        </p:nvSpPr>
        <p:spPr>
          <a:xfrm>
            <a:off x="377284" y="1131570"/>
            <a:ext cx="391003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Key Contributions</a:t>
            </a:r>
            <a:endParaRPr sz="1100"/>
          </a:p>
        </p:txBody>
      </p:sp>
      <p:sp>
        <p:nvSpPr>
          <p:cNvPr id="657" name="Google Shape;657;p49"/>
          <p:cNvSpPr txBox="1"/>
          <p:nvPr/>
        </p:nvSpPr>
        <p:spPr>
          <a:xfrm>
            <a:off x="377284" y="1495044"/>
            <a:ext cx="3910038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First rigorous benchmark comparing the two newest 2026 Transformer and Mamba HSI architectures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Demonstrated R2Mamba superiority: +5% – +7.5% higher OA across two standard scenes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Showed 3–3.5× training speed advantage with dramatically lower prediction variance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Fully reproducible: Open-source YAML config, seeded protocol, LaTeX tables and publication maps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Modular pipeline: Readily extensible to any of 56 models across 24 datasets</a:t>
            </a:r>
            <a:endParaRPr sz="1100"/>
          </a:p>
        </p:txBody>
      </p:sp>
      <p:sp>
        <p:nvSpPr>
          <p:cNvPr id="658" name="Google Shape;658;p49"/>
          <p:cNvSpPr/>
          <p:nvPr/>
        </p:nvSpPr>
        <p:spPr>
          <a:xfrm>
            <a:off x="4664607" y="1062990"/>
            <a:ext cx="4184427" cy="3771900"/>
          </a:xfrm>
          <a:prstGeom prst="rect">
            <a:avLst/>
          </a:prstGeom>
          <a:solidFill>
            <a:srgbClr val="041C0E"/>
          </a:solidFill>
          <a:ln cap="flat" cmpd="sng" w="19050">
            <a:solidFill>
              <a:srgbClr val="2ECC7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49"/>
          <p:cNvSpPr txBox="1"/>
          <p:nvPr/>
        </p:nvSpPr>
        <p:spPr>
          <a:xfrm>
            <a:off x="4767503" y="1131570"/>
            <a:ext cx="397863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Future Work</a:t>
            </a:r>
            <a:endParaRPr sz="1100"/>
          </a:p>
        </p:txBody>
      </p:sp>
      <p:sp>
        <p:nvSpPr>
          <p:cNvPr id="660" name="Google Shape;660;p49"/>
          <p:cNvSpPr txBox="1"/>
          <p:nvPr/>
        </p:nvSpPr>
        <p:spPr>
          <a:xfrm>
            <a:off x="4767503" y="1495044"/>
            <a:ext cx="3978635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UAV Datasets: Evaluate on WHU-Hi series (HanChuan, HongHu, LongKou) for drone-based scenes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Multimodal Fusion: Extend R2Mamba to fuse hyperspectral cubes with LiDAR elevation data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 Compression: Knowledge distillation for edge deployment on satellite hardware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Planetary Science: Apply to Mars CRISM datasets (Holden, NiliFossae, Utopia) already in the framework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More Datasets: Salinas, Houston13/18, Chikusei for broader generalizability</a:t>
            </a:r>
            <a:endParaRPr sz="1100"/>
          </a:p>
        </p:txBody>
      </p:sp>
      <p:sp>
        <p:nvSpPr>
          <p:cNvPr id="661" name="Google Shape;661;p49"/>
          <p:cNvSpPr/>
          <p:nvPr/>
        </p:nvSpPr>
        <p:spPr>
          <a:xfrm>
            <a:off x="0" y="5088636"/>
            <a:ext cx="9144002" cy="54864"/>
          </a:xfrm>
          <a:prstGeom prst="rect">
            <a:avLst/>
          </a:prstGeom>
          <a:solidFill>
            <a:srgbClr val="FFA50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50"/>
          <p:cNvSpPr/>
          <p:nvPr/>
        </p:nvSpPr>
        <p:spPr>
          <a:xfrm>
            <a:off x="0" y="0"/>
            <a:ext cx="9144002" cy="82296"/>
          </a:xfrm>
          <a:prstGeom prst="rect">
            <a:avLst/>
          </a:prstGeom>
          <a:solidFill>
            <a:srgbClr val="00C8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50"/>
          <p:cNvSpPr/>
          <p:nvPr/>
        </p:nvSpPr>
        <p:spPr>
          <a:xfrm>
            <a:off x="411583" y="548640"/>
            <a:ext cx="8300256" cy="3909060"/>
          </a:xfrm>
          <a:prstGeom prst="rect">
            <a:avLst/>
          </a:prstGeom>
          <a:solidFill>
            <a:srgbClr val="04101E"/>
          </a:solidFill>
          <a:ln cap="flat" cmpd="sng" w="25400">
            <a:solidFill>
              <a:srgbClr val="00C8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50"/>
          <p:cNvSpPr txBox="1"/>
          <p:nvPr/>
        </p:nvSpPr>
        <p:spPr>
          <a:xfrm>
            <a:off x="548777" y="685800"/>
            <a:ext cx="8025868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5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sz="1100"/>
          </a:p>
        </p:txBody>
      </p:sp>
      <p:sp>
        <p:nvSpPr>
          <p:cNvPr id="669" name="Google Shape;669;p50"/>
          <p:cNvSpPr/>
          <p:nvPr/>
        </p:nvSpPr>
        <p:spPr>
          <a:xfrm>
            <a:off x="1714929" y="1508760"/>
            <a:ext cx="5693564" cy="41148"/>
          </a:xfrm>
          <a:prstGeom prst="rect">
            <a:avLst/>
          </a:prstGeom>
          <a:solidFill>
            <a:srgbClr val="FFA50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50"/>
          <p:cNvSpPr txBox="1"/>
          <p:nvPr/>
        </p:nvSpPr>
        <p:spPr>
          <a:xfrm>
            <a:off x="548777" y="1611630"/>
            <a:ext cx="8025868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Questions &amp; Discussion</a:t>
            </a:r>
            <a:endParaRPr sz="1100"/>
          </a:p>
        </p:txBody>
      </p:sp>
      <p:sp>
        <p:nvSpPr>
          <p:cNvPr id="671" name="Google Shape;671;p50"/>
          <p:cNvSpPr txBox="1"/>
          <p:nvPr/>
        </p:nvSpPr>
        <p:spPr>
          <a:xfrm>
            <a:off x="1714929" y="2228850"/>
            <a:ext cx="56935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Project Repository:</a:t>
            </a:r>
            <a:endParaRPr sz="1100"/>
          </a:p>
        </p:txBody>
      </p:sp>
      <p:sp>
        <p:nvSpPr>
          <p:cNvPr id="672" name="Google Shape;672;p50"/>
          <p:cNvSpPr txBox="1"/>
          <p:nvPr/>
        </p:nvSpPr>
        <p:spPr>
          <a:xfrm>
            <a:off x="1371943" y="2503170"/>
            <a:ext cx="637953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FFA500"/>
                </a:solidFill>
                <a:latin typeface="Calibri"/>
                <a:ea typeface="Calibri"/>
                <a:cs typeface="Calibri"/>
                <a:sym typeface="Calibri"/>
              </a:rPr>
              <a:t>github.com/lPrincel/HSI-Classification-Minor-Project</a:t>
            </a:r>
            <a:endParaRPr sz="1100"/>
          </a:p>
        </p:txBody>
      </p:sp>
      <p:sp>
        <p:nvSpPr>
          <p:cNvPr id="673" name="Google Shape;673;p50"/>
          <p:cNvSpPr txBox="1"/>
          <p:nvPr/>
        </p:nvSpPr>
        <p:spPr>
          <a:xfrm>
            <a:off x="1371943" y="3017520"/>
            <a:ext cx="6379536" cy="8915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MMFormer  (IEEE TGRS 2026)  |  R2Mamba  (IEEE JSTARS 2026)</a:t>
            </a:r>
            <a:br>
              <a:rPr b="0" i="0" lang="en" sz="1000" u="none" cap="none" strike="noStrike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000" u="none" cap="none" strike="noStrike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Indian Pines (NASA AVIRIS)  |  Pavia University (DLR ROSIS)</a:t>
            </a:r>
            <a:br>
              <a:rPr b="0" i="0" lang="en" sz="1000" u="none" cap="none" strike="noStrike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000" u="none" cap="none" strike="noStrike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Framework: arXiv 2609.39871  |  Platform: Kaggle T4 GPU</a:t>
            </a:r>
            <a:endParaRPr sz="1100"/>
          </a:p>
        </p:txBody>
      </p:sp>
      <p:sp>
        <p:nvSpPr>
          <p:cNvPr id="674" name="Google Shape;674;p50"/>
          <p:cNvSpPr txBox="1"/>
          <p:nvPr/>
        </p:nvSpPr>
        <p:spPr>
          <a:xfrm>
            <a:off x="1371943" y="4011930"/>
            <a:ext cx="63795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Ayush Bansal</a:t>
            </a:r>
            <a:r>
              <a:rPr b="0" i="0" lang="en" sz="1100" u="none" cap="none" strike="noStrike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 ·  </a:t>
            </a:r>
            <a:r>
              <a:rPr lang="en" sz="1100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Prince Prajapati </a:t>
            </a:r>
            <a:r>
              <a:rPr b="0" i="0" lang="en" sz="1100" u="none" cap="none" strike="noStrike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·  </a:t>
            </a:r>
            <a:r>
              <a:rPr lang="en" sz="1100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Abhay Kaushal</a:t>
            </a:r>
            <a:endParaRPr sz="1100"/>
          </a:p>
        </p:txBody>
      </p:sp>
      <p:sp>
        <p:nvSpPr>
          <p:cNvPr id="675" name="Google Shape;675;p50"/>
          <p:cNvSpPr/>
          <p:nvPr/>
        </p:nvSpPr>
        <p:spPr>
          <a:xfrm>
            <a:off x="0" y="5061204"/>
            <a:ext cx="9144002" cy="82296"/>
          </a:xfrm>
          <a:prstGeom prst="rect">
            <a:avLst/>
          </a:prstGeom>
          <a:solidFill>
            <a:srgbClr val="FFA50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